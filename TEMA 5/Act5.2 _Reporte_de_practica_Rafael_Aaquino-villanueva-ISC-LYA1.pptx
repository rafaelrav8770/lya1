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63" r:id="rId3"/>
    <p:sldId id="258" r:id="rId4"/>
    <p:sldId id="284" r:id="rId5"/>
    <p:sldId id="272" r:id="rId6"/>
    <p:sldId id="287" r:id="rId7"/>
    <p:sldId id="286" r:id="rId8"/>
    <p:sldId id="294" r:id="rId9"/>
    <p:sldId id="293" r:id="rId10"/>
    <p:sldId id="295" r:id="rId11"/>
    <p:sldId id="296" r:id="rId12"/>
    <p:sldId id="297" r:id="rId13"/>
    <p:sldId id="298" r:id="rId14"/>
    <p:sldId id="299" r:id="rId15"/>
    <p:sldId id="300" r:id="rId16"/>
    <p:sldId id="283" r:id="rId17"/>
    <p:sldId id="260" r:id="rId18"/>
    <p:sldId id="264" r:id="rId1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Estilo medio 3 - Énfasis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Estilo claro 1 - Acento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93D81CF-94F2-401A-BA57-92F5A7B2D0C5}" styleName="Estilo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67" y="76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26/03/2026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youtu.be/ylJ6i6xyplM" TargetMode="External"/><Relationship Id="rId2" Type="http://schemas.openxmlformats.org/officeDocument/2006/relationships/hyperlink" Target="https://github.com/rafaelrav8770/LYA1.git" TargetMode="External"/><Relationship Id="rId1" Type="http://schemas.openxmlformats.org/officeDocument/2006/relationships/slideLayout" Target="../slideLayouts/slideLayout2.xml"/><Relationship Id="rId4" Type="http://schemas.openxmlformats.org/officeDocument/2006/relationships/hyperlink" Target="https://youtu.be/hhBQ4KgO1g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val="0"/>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7537" b="20603"/>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627561"/>
          </a:xfrm>
          <a:prstGeom prst="rect">
            <a:avLst/>
          </a:prstGeom>
          <a:noFill/>
        </p:spPr>
        <p:txBody>
          <a:bodyPr wrap="square">
            <a:spAutoFit/>
          </a:bodyPr>
          <a:lstStyle/>
          <a:p>
            <a:pPr algn="ctr">
              <a:lnSpc>
                <a:spcPct val="107000"/>
              </a:lnSpc>
              <a:spcAft>
                <a:spcPts val="800"/>
              </a:spcAft>
              <a:buNone/>
            </a:pPr>
            <a:r>
              <a:rPr lang="es-MX" sz="1800" b="1" kern="0" dirty="0">
                <a:effectLst/>
                <a:latin typeface="Arial" panose="020B0604020202020204" pitchFamily="34" charset="0"/>
                <a:ea typeface="Arial" panose="020B0604020202020204" pitchFamily="34" charset="0"/>
                <a:cs typeface="Arial" panose="020B0604020202020204" pitchFamily="34" charset="0"/>
              </a:rPr>
              <a:t>LENGUAJES Y AUTOMATAS 1</a:t>
            </a: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5.2 –REPORTE </a:t>
            </a:r>
            <a:r>
              <a:rPr lang="es-MX" sz="2000" b="1" kern="0" dirty="0">
                <a:latin typeface="Arial" panose="020B0604020202020204" pitchFamily="34" charset="0"/>
                <a:cs typeface="Arial" panose="020B0604020202020204" pitchFamily="34" charset="0"/>
              </a:rPr>
              <a:t>DE PRACTICA </a:t>
            </a:r>
            <a:r>
              <a:rPr lang="es-MX" dirty="0"/>
              <a:t>	</a:t>
            </a:r>
          </a:p>
          <a:p>
            <a:pPr algn="ctr">
              <a:lnSpc>
                <a:spcPct val="107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3094276835"/>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SEXTO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489075" y="6318878"/>
            <a:ext cx="7812505" cy="1078244"/>
          </a:xfrm>
          <a:prstGeom prst="rect">
            <a:avLst/>
          </a:prstGeom>
          <a:noFill/>
        </p:spPr>
        <p:txBody>
          <a:bodyPr wrap="square">
            <a:spAutoFit/>
          </a:bodyPr>
          <a:lstStyle/>
          <a:p>
            <a:pPr algn="r">
              <a:lnSpc>
                <a:spcPct val="107000"/>
              </a:lnSpc>
              <a:spcAft>
                <a:spcPts val="800"/>
              </a:spcAft>
              <a:buNone/>
            </a:pPr>
            <a:r>
              <a:rPr lang="es-MX" sz="2000" b="1" kern="0">
                <a:latin typeface="Arial" panose="020B0604020202020204" pitchFamily="34" charset="0"/>
                <a:ea typeface="Times New Roman" panose="02020603050405020304" pitchFamily="18" charset="0"/>
                <a:cs typeface="Arial" panose="020B0604020202020204" pitchFamily="34" charset="0"/>
              </a:rPr>
              <a:t>19 DE MARZO </a:t>
            </a:r>
            <a:r>
              <a:rPr lang="es-MX" sz="2000" b="1" kern="0">
                <a:effectLst/>
                <a:latin typeface="Arial" panose="020B0604020202020204" pitchFamily="34" charset="0"/>
                <a:ea typeface="Times New Roman" panose="02020603050405020304" pitchFamily="18" charset="0"/>
                <a:cs typeface="Arial" panose="020B0604020202020204" pitchFamily="34" charset="0"/>
              </a:rPr>
              <a:t>DE </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742950"/>
            <a:ext cx="10515600" cy="5129213"/>
          </a:xfrm>
          <a:ln>
            <a:solidFill>
              <a:schemeClr val="accent5">
                <a:lumMod val="75000"/>
              </a:schemeClr>
            </a:solidFill>
          </a:ln>
        </p:spPr>
        <p:txBody>
          <a:bodyPr>
            <a:normAutofit lnSpcReduction="10000"/>
          </a:bodyPr>
          <a:lstStyle/>
          <a:p>
            <a:pPr marL="0" indent="0">
              <a:buNone/>
            </a:pPr>
            <a:r>
              <a:rPr lang="es-MX" sz="4400" b="1" kern="0" dirty="0">
                <a:solidFill>
                  <a:schemeClr val="accent1"/>
                </a:solidFill>
                <a:latin typeface="+mj-lt"/>
                <a:cs typeface="Arial" panose="020B0604020202020204" pitchFamily="34" charset="0"/>
              </a:rPr>
              <a:t>Introducción</a:t>
            </a:r>
          </a:p>
          <a:p>
            <a:pPr marL="0" indent="0">
              <a:buNone/>
            </a:pPr>
            <a:r>
              <a:rPr lang="es-MX" dirty="0"/>
              <a:t>El análisis sintáctico es una etapa dentro del proceso de compilación de un lenguaje de programación. Su función principal es verificar que la estructura de un conjunto de tokens, previamente identificados por el análisis léxico, cumpla con las reglas definidas por una gramática formal.</a:t>
            </a:r>
          </a:p>
          <a:p>
            <a:pPr marL="0" indent="0">
              <a:buNone/>
            </a:pPr>
            <a:r>
              <a:rPr lang="es-MX" dirty="0"/>
              <a:t>A diferencia del análisis léxico, que se enfoca en reconocer elementos individuales como palabras reservadas, identificadores o números, el análisis sintáctico evalúa la organización de estos elementos para determinar si una instrucción es válida dentro del lenguaje.</a:t>
            </a:r>
          </a:p>
          <a:p>
            <a:pPr marL="0" indent="0">
              <a:buNone/>
            </a:pPr>
            <a:r>
              <a:rPr lang="es-MX" dirty="0"/>
              <a:t>En la práctica se desarrolló un analizador léxico y sintáctico utilizando el lenguaje Java con interfaz gráfica en </a:t>
            </a:r>
            <a:r>
              <a:rPr lang="es-MX" dirty="0" err="1"/>
              <a:t>JavaFX</a:t>
            </a:r>
            <a:r>
              <a:rPr lang="es-MX" dirty="0"/>
              <a:t>, permitiendo identificar tokens y validar la estructura de declaraciones simples.</a:t>
            </a:r>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a:xfrm>
            <a:off x="838200" y="773906"/>
            <a:ext cx="10515600" cy="5310188"/>
          </a:xfrm>
        </p:spPr>
        <p:txBody>
          <a:bodyPr/>
          <a:lstStyle/>
          <a:p>
            <a:pPr marL="0" indent="0">
              <a:buNone/>
            </a:pPr>
            <a:r>
              <a:rPr lang="es-MX" sz="4400" b="1" dirty="0">
                <a:solidFill>
                  <a:schemeClr val="accent1"/>
                </a:solidFill>
                <a:latin typeface="+mj-lt"/>
              </a:rPr>
              <a:t>Objetivo</a:t>
            </a:r>
          </a:p>
          <a:p>
            <a:pPr marL="0" indent="0">
              <a:buNone/>
            </a:pPr>
            <a:r>
              <a:rPr lang="es-MX" dirty="0"/>
              <a:t> </a:t>
            </a:r>
          </a:p>
          <a:p>
            <a:pPr marL="0" indent="0" algn="just">
              <a:buNone/>
            </a:pPr>
            <a:r>
              <a:rPr lang="es-MX" dirty="0"/>
              <a:t>Desarrollar un analizador sintáctico que permita validar la estructura de instrucciones de un lenguaje de programación mediante reglas definidas, utilizando Java y </a:t>
            </a:r>
            <a:r>
              <a:rPr lang="es-MX" dirty="0" err="1"/>
              <a:t>JavaFX</a:t>
            </a:r>
            <a:r>
              <a:rPr lang="es-MX" dirty="0"/>
              <a:t>.</a:t>
            </a:r>
          </a:p>
        </p:txBody>
      </p:sp>
    </p:spTree>
    <p:extLst>
      <p:ext uri="{BB962C8B-B14F-4D97-AF65-F5344CB8AC3E}">
        <p14:creationId xmlns:p14="http://schemas.microsoft.com/office/powerpoint/2010/main" val="49266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F687F3-E956-FF4E-0894-6AC9DD0B4EEF}"/>
              </a:ext>
            </a:extLst>
          </p:cNvPr>
          <p:cNvSpPr>
            <a:spLocks noGrp="1"/>
          </p:cNvSpPr>
          <p:nvPr>
            <p:ph type="title"/>
          </p:nvPr>
        </p:nvSpPr>
        <p:spPr/>
        <p:txBody>
          <a:bodyPr/>
          <a:lstStyle/>
          <a:p>
            <a:r>
              <a:rPr lang="es-MX" b="1" dirty="0" err="1">
                <a:solidFill>
                  <a:schemeClr val="accent1"/>
                </a:solidFill>
              </a:rPr>
              <a:t>Justificacion</a:t>
            </a:r>
            <a:br>
              <a:rPr lang="es-MX" b="1" dirty="0">
                <a:solidFill>
                  <a:schemeClr val="accent1"/>
                </a:solidFill>
              </a:rPr>
            </a:br>
            <a:endParaRPr lang="es-MX" dirty="0"/>
          </a:p>
        </p:txBody>
      </p:sp>
      <p:sp>
        <p:nvSpPr>
          <p:cNvPr id="3" name="Marcador de contenido 2">
            <a:extLst>
              <a:ext uri="{FF2B5EF4-FFF2-40B4-BE49-F238E27FC236}">
                <a16:creationId xmlns:a16="http://schemas.microsoft.com/office/drawing/2014/main" id="{BB267B60-E550-E60E-CEC2-2760C07C7FE2}"/>
              </a:ext>
            </a:extLst>
          </p:cNvPr>
          <p:cNvSpPr>
            <a:spLocks noGrp="1"/>
          </p:cNvSpPr>
          <p:nvPr>
            <p:ph idx="1"/>
          </p:nvPr>
        </p:nvSpPr>
        <p:spPr>
          <a:xfrm>
            <a:off x="838200" y="1171575"/>
            <a:ext cx="10515600" cy="5005388"/>
          </a:xfrm>
        </p:spPr>
        <p:txBody>
          <a:bodyPr>
            <a:normAutofit lnSpcReduction="10000"/>
          </a:bodyPr>
          <a:lstStyle/>
          <a:p>
            <a:pPr marL="0" indent="0" algn="just">
              <a:buNone/>
            </a:pPr>
            <a:r>
              <a:rPr lang="es-MX" dirty="0"/>
              <a:t>El desarrollo de un analizador sintáctico permite comprender cómo se valida la estructura de los lenguajes de </a:t>
            </a:r>
            <a:r>
              <a:rPr lang="es-MX"/>
              <a:t>programación. En </a:t>
            </a:r>
            <a:r>
              <a:rPr lang="es-MX" dirty="0"/>
              <a:t>este tipo de herramientas constituye la base para la construcción de compiladores e intérpretes, los cuales son fundamentales en el desarrollo de software.</a:t>
            </a:r>
          </a:p>
          <a:p>
            <a:pPr marL="0" indent="0" algn="just">
              <a:buNone/>
            </a:pPr>
            <a:r>
              <a:rPr lang="es-MX" dirty="0"/>
              <a:t>La presente práctica se realizo  en la necesidad de los conocimientos sobre sintáctico en unión con </a:t>
            </a:r>
            <a:r>
              <a:rPr lang="es-MX" dirty="0" err="1"/>
              <a:t>lexico</a:t>
            </a:r>
            <a:r>
              <a:rPr lang="es-MX" dirty="0"/>
              <a:t>, llevándolos a un entorno práctico mediante la implementación en el lenguaje Java con interfaz gráfica en </a:t>
            </a:r>
            <a:r>
              <a:rPr lang="es-MX" dirty="0" err="1"/>
              <a:t>JavaFX</a:t>
            </a:r>
            <a:r>
              <a:rPr lang="es-MX" dirty="0"/>
              <a:t>. Lo cual esto permite no solo reforzar la comprensión de los conceptos, sino también desarrollar habilidades de programación y resolución de problemas.</a:t>
            </a:r>
          </a:p>
          <a:p>
            <a:pPr marL="0" indent="0" algn="just">
              <a:buNone/>
            </a:pPr>
            <a:r>
              <a:rPr lang="es-MX" dirty="0"/>
              <a:t>Además, la integración de un analizador léxico con uno sintáctico permite simular de manera básica el funcionamiento de un compilador, proporcionando una visión más completa. </a:t>
            </a:r>
          </a:p>
        </p:txBody>
      </p:sp>
    </p:spTree>
    <p:extLst>
      <p:ext uri="{BB962C8B-B14F-4D97-AF65-F5344CB8AC3E}">
        <p14:creationId xmlns:p14="http://schemas.microsoft.com/office/powerpoint/2010/main" val="4096733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B557436-2CDA-C681-7FEB-DE5A04DD84E8}"/>
              </a:ext>
            </a:extLst>
          </p:cNvPr>
          <p:cNvSpPr>
            <a:spLocks noGrp="1"/>
          </p:cNvSpPr>
          <p:nvPr>
            <p:ph idx="1"/>
          </p:nvPr>
        </p:nvSpPr>
        <p:spPr>
          <a:xfrm>
            <a:off x="838200" y="685800"/>
            <a:ext cx="10515600" cy="5491163"/>
          </a:xfrm>
        </p:spPr>
        <p:txBody>
          <a:bodyPr>
            <a:normAutofit fontScale="92500" lnSpcReduction="10000"/>
          </a:bodyPr>
          <a:lstStyle/>
          <a:p>
            <a:pPr marL="0" indent="0">
              <a:buNone/>
            </a:pPr>
            <a:r>
              <a:rPr lang="es-MX" sz="4000" b="1" dirty="0">
                <a:solidFill>
                  <a:schemeClr val="accent1"/>
                </a:solidFill>
                <a:latin typeface="+mj-lt"/>
              </a:rPr>
              <a:t>Analizador</a:t>
            </a:r>
            <a:r>
              <a:rPr lang="es-MX" sz="4000" dirty="0"/>
              <a:t> </a:t>
            </a:r>
            <a:r>
              <a:rPr lang="es-MX" sz="4000" b="1" dirty="0">
                <a:solidFill>
                  <a:schemeClr val="accent1"/>
                </a:solidFill>
                <a:latin typeface="+mj-lt"/>
              </a:rPr>
              <a:t>Sintáctico</a:t>
            </a:r>
            <a:r>
              <a:rPr lang="es-MX" sz="4000" dirty="0"/>
              <a:t> </a:t>
            </a:r>
          </a:p>
          <a:p>
            <a:r>
              <a:rPr lang="es-MX" dirty="0"/>
              <a:t>El análisis sintáctico se basa en el uso de gramáticas formales, particularmente las gramáticas libres de contexto, las cuales definen las reglas de formación de cadenas válidas en un lenguaje.</a:t>
            </a:r>
          </a:p>
          <a:p>
            <a:r>
              <a:rPr lang="es-MX" dirty="0"/>
              <a:t>Una gramática está compuesta por:</a:t>
            </a:r>
          </a:p>
          <a:p>
            <a:r>
              <a:rPr lang="es-MX" dirty="0"/>
              <a:t>Símbolos terminales (tokens)</a:t>
            </a:r>
          </a:p>
          <a:p>
            <a:r>
              <a:rPr lang="es-MX" dirty="0"/>
              <a:t>Símbolos no terminales</a:t>
            </a:r>
          </a:p>
          <a:p>
            <a:r>
              <a:rPr lang="es-MX" dirty="0"/>
              <a:t>Producciones</a:t>
            </a:r>
          </a:p>
          <a:p>
            <a:r>
              <a:rPr lang="es-MX" dirty="0"/>
              <a:t>Símbolo inicial</a:t>
            </a:r>
          </a:p>
          <a:p>
            <a:r>
              <a:rPr lang="es-MX" dirty="0"/>
              <a:t>Los analizadores sintácticos pueden clasificarse en:</a:t>
            </a:r>
          </a:p>
          <a:p>
            <a:r>
              <a:rPr lang="es-MX" dirty="0"/>
              <a:t>Descendentes (LL)</a:t>
            </a:r>
          </a:p>
          <a:p>
            <a:r>
              <a:rPr lang="es-MX" dirty="0"/>
              <a:t>Ascendentes (LR)</a:t>
            </a:r>
          </a:p>
        </p:txBody>
      </p:sp>
    </p:spTree>
    <p:extLst>
      <p:ext uri="{BB962C8B-B14F-4D97-AF65-F5344CB8AC3E}">
        <p14:creationId xmlns:p14="http://schemas.microsoft.com/office/powerpoint/2010/main" val="3674245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469C2B-6E6E-7C22-A8CF-D3F4F08C7288}"/>
              </a:ext>
            </a:extLst>
          </p:cNvPr>
          <p:cNvSpPr>
            <a:spLocks noGrp="1"/>
          </p:cNvSpPr>
          <p:nvPr>
            <p:ph type="title"/>
          </p:nvPr>
        </p:nvSpPr>
        <p:spPr/>
        <p:txBody>
          <a:bodyPr/>
          <a:lstStyle/>
          <a:p>
            <a:r>
              <a:rPr lang="es-MX" b="1" dirty="0" err="1">
                <a:solidFill>
                  <a:schemeClr val="accent1"/>
                </a:solidFill>
              </a:rPr>
              <a:t>JavaFX</a:t>
            </a:r>
            <a:endParaRPr lang="es-MX" b="1" dirty="0">
              <a:solidFill>
                <a:schemeClr val="accent1"/>
              </a:solidFill>
            </a:endParaRPr>
          </a:p>
        </p:txBody>
      </p:sp>
      <p:sp>
        <p:nvSpPr>
          <p:cNvPr id="3" name="Marcador de contenido 2">
            <a:extLst>
              <a:ext uri="{FF2B5EF4-FFF2-40B4-BE49-F238E27FC236}">
                <a16:creationId xmlns:a16="http://schemas.microsoft.com/office/drawing/2014/main" id="{B956856B-83EA-C2E3-67BD-E97560D6CFDB}"/>
              </a:ext>
            </a:extLst>
          </p:cNvPr>
          <p:cNvSpPr>
            <a:spLocks noGrp="1"/>
          </p:cNvSpPr>
          <p:nvPr>
            <p:ph idx="1"/>
          </p:nvPr>
        </p:nvSpPr>
        <p:spPr/>
        <p:txBody>
          <a:bodyPr/>
          <a:lstStyle/>
          <a:p>
            <a:pPr marL="0" indent="0" algn="just">
              <a:buNone/>
            </a:pPr>
            <a:r>
              <a:rPr lang="es-MX" dirty="0" err="1"/>
              <a:t>JavaFX</a:t>
            </a:r>
            <a:r>
              <a:rPr lang="es-MX" dirty="0"/>
              <a:t> es una biblioteca de Java que permite crear interfaces gráficas de usuario. En esta práctica se utilizó para diseñar una aplicación interactiva donde el usuario puede ingresar código fuente y visualizar los resultados del análisis léxico y </a:t>
            </a:r>
            <a:r>
              <a:rPr lang="es-MX" dirty="0" err="1"/>
              <a:t>sintactico</a:t>
            </a:r>
            <a:r>
              <a:rPr lang="es-MX" dirty="0"/>
              <a:t>.</a:t>
            </a:r>
          </a:p>
          <a:p>
            <a:endParaRPr lang="es-MX" dirty="0"/>
          </a:p>
        </p:txBody>
      </p:sp>
    </p:spTree>
    <p:extLst>
      <p:ext uri="{BB962C8B-B14F-4D97-AF65-F5344CB8AC3E}">
        <p14:creationId xmlns:p14="http://schemas.microsoft.com/office/powerpoint/2010/main" val="1805315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8260CA-D9D2-D58B-3FBD-49C8A56CE3E4}"/>
              </a:ext>
            </a:extLst>
          </p:cNvPr>
          <p:cNvSpPr>
            <a:spLocks noGrp="1"/>
          </p:cNvSpPr>
          <p:nvPr>
            <p:ph type="title"/>
          </p:nvPr>
        </p:nvSpPr>
        <p:spPr/>
        <p:txBody>
          <a:bodyPr/>
          <a:lstStyle/>
          <a:p>
            <a:r>
              <a:rPr lang="es-MX" b="1" dirty="0">
                <a:solidFill>
                  <a:schemeClr val="accent1"/>
                </a:solidFill>
              </a:rPr>
              <a:t>Descripción del sistema</a:t>
            </a:r>
          </a:p>
        </p:txBody>
      </p:sp>
      <p:sp>
        <p:nvSpPr>
          <p:cNvPr id="3" name="Marcador de contenido 2">
            <a:extLst>
              <a:ext uri="{FF2B5EF4-FFF2-40B4-BE49-F238E27FC236}">
                <a16:creationId xmlns:a16="http://schemas.microsoft.com/office/drawing/2014/main" id="{02D8676D-83F7-1BAD-D4CE-9270D722C9BB}"/>
              </a:ext>
            </a:extLst>
          </p:cNvPr>
          <p:cNvSpPr>
            <a:spLocks noGrp="1"/>
          </p:cNvSpPr>
          <p:nvPr>
            <p:ph idx="1"/>
          </p:nvPr>
        </p:nvSpPr>
        <p:spPr/>
        <p:txBody>
          <a:bodyPr/>
          <a:lstStyle/>
          <a:p>
            <a:r>
              <a:rPr lang="es-MX" b="1" dirty="0"/>
              <a:t>Descripción del sistema</a:t>
            </a:r>
          </a:p>
          <a:p>
            <a:r>
              <a:rPr lang="es-MX" dirty="0"/>
              <a:t>Se desarrolló una aplicación en </a:t>
            </a:r>
            <a:r>
              <a:rPr lang="es-MX" dirty="0" err="1"/>
              <a:t>JavaFX</a:t>
            </a:r>
            <a:r>
              <a:rPr lang="es-MX" dirty="0"/>
              <a:t> que permite ingresar código fuente mediante una interfaz gráfica. Al presionar el botón "Analizar", el sistema procesa cada línea del código para validar su estructura sintáctica.</a:t>
            </a:r>
          </a:p>
          <a:p>
            <a:r>
              <a:rPr lang="es-MX" b="1" dirty="0"/>
              <a:t>Análisis sintáctico:</a:t>
            </a:r>
            <a:br>
              <a:rPr lang="es-MX" dirty="0"/>
            </a:br>
            <a:r>
              <a:rPr lang="es-MX" dirty="0"/>
              <a:t>Verifica si las instrucciones cumplen con una estructura válida.</a:t>
            </a:r>
          </a:p>
          <a:p>
            <a:endParaRPr lang="es-MX" dirty="0"/>
          </a:p>
        </p:txBody>
      </p:sp>
    </p:spTree>
    <p:extLst>
      <p:ext uri="{BB962C8B-B14F-4D97-AF65-F5344CB8AC3E}">
        <p14:creationId xmlns:p14="http://schemas.microsoft.com/office/powerpoint/2010/main" val="1112265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0D6D2C-3B39-6B7A-56D9-961AB3B9806A}"/>
              </a:ext>
            </a:extLst>
          </p:cNvPr>
          <p:cNvSpPr>
            <a:spLocks noGrp="1"/>
          </p:cNvSpPr>
          <p:nvPr>
            <p:ph type="title"/>
          </p:nvPr>
        </p:nvSpPr>
        <p:spPr/>
        <p:txBody>
          <a:bodyPr/>
          <a:lstStyle/>
          <a:p>
            <a:r>
              <a:rPr lang="es-MX" b="1" dirty="0">
                <a:solidFill>
                  <a:schemeClr val="accent1"/>
                </a:solidFill>
              </a:rPr>
              <a:t>Componentes de la interfaz</a:t>
            </a:r>
            <a:endParaRPr lang="es-MX" dirty="0">
              <a:solidFill>
                <a:schemeClr val="accent1"/>
              </a:solidFill>
            </a:endParaRPr>
          </a:p>
        </p:txBody>
      </p:sp>
      <p:sp>
        <p:nvSpPr>
          <p:cNvPr id="3" name="Marcador de contenido 2">
            <a:extLst>
              <a:ext uri="{FF2B5EF4-FFF2-40B4-BE49-F238E27FC236}">
                <a16:creationId xmlns:a16="http://schemas.microsoft.com/office/drawing/2014/main" id="{CB5DA0C6-9224-7713-B7EE-707FEC0B8D2E}"/>
              </a:ext>
            </a:extLst>
          </p:cNvPr>
          <p:cNvSpPr>
            <a:spLocks noGrp="1"/>
          </p:cNvSpPr>
          <p:nvPr>
            <p:ph idx="1"/>
          </p:nvPr>
        </p:nvSpPr>
        <p:spPr/>
        <p:txBody>
          <a:bodyPr/>
          <a:lstStyle/>
          <a:p>
            <a:pPr marL="0" indent="0">
              <a:buNone/>
            </a:pPr>
            <a:r>
              <a:rPr lang="es-MX" dirty="0"/>
              <a:t>La interfaz de la aplicación está compuesta por los siguientes elementos:</a:t>
            </a:r>
          </a:p>
          <a:p>
            <a:pPr>
              <a:buFont typeface="Wingdings" panose="05000000000000000000" pitchFamily="2" charset="2"/>
              <a:buChar char="Ø"/>
            </a:pPr>
            <a:r>
              <a:rPr lang="es-MX" b="1" dirty="0" err="1"/>
              <a:t>TextArea</a:t>
            </a:r>
            <a:r>
              <a:rPr lang="es-MX" b="1" dirty="0"/>
              <a:t>:</a:t>
            </a:r>
            <a:r>
              <a:rPr lang="es-MX" dirty="0"/>
              <a:t> permite ingresar el código fuente.</a:t>
            </a:r>
          </a:p>
          <a:p>
            <a:pPr>
              <a:buFont typeface="Wingdings" panose="05000000000000000000" pitchFamily="2" charset="2"/>
              <a:buChar char="Ø"/>
            </a:pPr>
            <a:r>
              <a:rPr lang="es-MX" b="1" dirty="0" err="1"/>
              <a:t>Button</a:t>
            </a:r>
            <a:r>
              <a:rPr lang="es-MX" b="1" dirty="0"/>
              <a:t>:</a:t>
            </a:r>
            <a:r>
              <a:rPr lang="es-MX" dirty="0"/>
              <a:t> ejecuta el análisis sintáctico, apoyándose en el análisis léxico para la identificación de tokens.</a:t>
            </a:r>
          </a:p>
          <a:p>
            <a:pPr>
              <a:buFont typeface="Wingdings" panose="05000000000000000000" pitchFamily="2" charset="2"/>
              <a:buChar char="Ø"/>
            </a:pPr>
            <a:r>
              <a:rPr lang="es-MX" b="1" dirty="0" err="1"/>
              <a:t>TextArea</a:t>
            </a:r>
            <a:r>
              <a:rPr lang="es-MX" b="1" dirty="0"/>
              <a:t> o </a:t>
            </a:r>
            <a:r>
              <a:rPr lang="es-MX" b="1" dirty="0" err="1"/>
              <a:t>TableView</a:t>
            </a:r>
            <a:r>
              <a:rPr lang="es-MX" b="1" dirty="0"/>
              <a:t>:</a:t>
            </a:r>
            <a:r>
              <a:rPr lang="es-MX" dirty="0"/>
              <a:t> muestra los tokens identificados.</a:t>
            </a:r>
          </a:p>
          <a:p>
            <a:pPr>
              <a:buFont typeface="Wingdings" panose="05000000000000000000" pitchFamily="2" charset="2"/>
              <a:buChar char="Ø"/>
            </a:pPr>
            <a:r>
              <a:rPr lang="es-MX" b="1" dirty="0" err="1"/>
              <a:t>Labels</a:t>
            </a:r>
            <a:r>
              <a:rPr lang="es-MX" b="1" dirty="0"/>
              <a:t>:</a:t>
            </a:r>
            <a:r>
              <a:rPr lang="es-MX" dirty="0"/>
              <a:t> indican la función de cada sección.</a:t>
            </a:r>
          </a:p>
          <a:p>
            <a:endParaRPr lang="es-MX" dirty="0"/>
          </a:p>
        </p:txBody>
      </p:sp>
    </p:spTree>
    <p:extLst>
      <p:ext uri="{BB962C8B-B14F-4D97-AF65-F5344CB8AC3E}">
        <p14:creationId xmlns:p14="http://schemas.microsoft.com/office/powerpoint/2010/main" val="1409047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ECD098-67E9-65F7-A1C5-455400D58A5A}"/>
              </a:ext>
            </a:extLst>
          </p:cNvPr>
          <p:cNvSpPr>
            <a:spLocks noGrp="1"/>
          </p:cNvSpPr>
          <p:nvPr>
            <p:ph type="title"/>
          </p:nvPr>
        </p:nvSpPr>
        <p:spPr/>
        <p:txBody>
          <a:bodyPr/>
          <a:lstStyle/>
          <a:p>
            <a:r>
              <a:rPr lang="es-MX" b="1" dirty="0">
                <a:solidFill>
                  <a:schemeClr val="accent1"/>
                </a:solidFill>
              </a:rPr>
              <a:t>Gramática utilizada</a:t>
            </a:r>
          </a:p>
        </p:txBody>
      </p:sp>
      <p:sp>
        <p:nvSpPr>
          <p:cNvPr id="3" name="Marcador de contenido 2">
            <a:extLst>
              <a:ext uri="{FF2B5EF4-FFF2-40B4-BE49-F238E27FC236}">
                <a16:creationId xmlns:a16="http://schemas.microsoft.com/office/drawing/2014/main" id="{EC8EC775-FCEE-4262-2A4D-884C8694C3A4}"/>
              </a:ext>
            </a:extLst>
          </p:cNvPr>
          <p:cNvSpPr>
            <a:spLocks noGrp="1"/>
          </p:cNvSpPr>
          <p:nvPr>
            <p:ph idx="1"/>
          </p:nvPr>
        </p:nvSpPr>
        <p:spPr/>
        <p:txBody>
          <a:bodyPr/>
          <a:lstStyle/>
          <a:p>
            <a:r>
              <a:rPr lang="es-MX" dirty="0"/>
              <a:t>Se definió la siguiente estructura para las instrucciones:</a:t>
            </a:r>
          </a:p>
          <a:p>
            <a:r>
              <a:rPr lang="es-MX" dirty="0"/>
              <a:t>TIPO -&gt;</a:t>
            </a:r>
            <a:r>
              <a:rPr lang="es-MX" dirty="0" err="1"/>
              <a:t>int</a:t>
            </a:r>
            <a:r>
              <a:rPr lang="es-MX" dirty="0"/>
              <a:t> | </a:t>
            </a:r>
            <a:r>
              <a:rPr lang="es-MX" dirty="0" err="1"/>
              <a:t>float</a:t>
            </a:r>
            <a:r>
              <a:rPr lang="es-MX" dirty="0"/>
              <a:t> | </a:t>
            </a:r>
            <a:r>
              <a:rPr lang="es-MX" dirty="0" err="1"/>
              <a:t>double</a:t>
            </a:r>
            <a:r>
              <a:rPr lang="es-MX" dirty="0"/>
              <a:t> | </a:t>
            </a:r>
            <a:r>
              <a:rPr lang="es-MX" dirty="0" err="1"/>
              <a:t>char</a:t>
            </a:r>
            <a:br>
              <a:rPr lang="es-MX" dirty="0"/>
            </a:br>
            <a:r>
              <a:rPr lang="es-MX" dirty="0"/>
              <a:t>DECLARACION --&gt; TIPO identificador = valor ;</a:t>
            </a:r>
          </a:p>
          <a:p>
            <a:r>
              <a:rPr lang="es-MX" dirty="0"/>
              <a:t>Ejemplo válido:</a:t>
            </a:r>
          </a:p>
          <a:p>
            <a:r>
              <a:rPr lang="es-MX" dirty="0" err="1"/>
              <a:t>int</a:t>
            </a:r>
            <a:r>
              <a:rPr lang="es-MX" dirty="0"/>
              <a:t> x = 10;</a:t>
            </a:r>
            <a:br>
              <a:rPr lang="es-MX" dirty="0"/>
            </a:br>
            <a:r>
              <a:rPr lang="es-MX" dirty="0" err="1"/>
              <a:t>float</a:t>
            </a:r>
            <a:r>
              <a:rPr lang="es-MX" dirty="0"/>
              <a:t> y = 3.14;</a:t>
            </a:r>
            <a:br>
              <a:rPr lang="es-MX" dirty="0"/>
            </a:br>
            <a:r>
              <a:rPr lang="es-MX" dirty="0" err="1"/>
              <a:t>char</a:t>
            </a:r>
            <a:r>
              <a:rPr lang="es-MX" dirty="0"/>
              <a:t> c = 'a';</a:t>
            </a:r>
          </a:p>
          <a:p>
            <a:endParaRPr lang="es-MX" dirty="0"/>
          </a:p>
        </p:txBody>
      </p:sp>
    </p:spTree>
    <p:extLst>
      <p:ext uri="{BB962C8B-B14F-4D97-AF65-F5344CB8AC3E}">
        <p14:creationId xmlns:p14="http://schemas.microsoft.com/office/powerpoint/2010/main" val="2825624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00B70C-3374-8CA0-0174-A91808D323A9}"/>
              </a:ext>
            </a:extLst>
          </p:cNvPr>
          <p:cNvSpPr>
            <a:spLocks noGrp="1"/>
          </p:cNvSpPr>
          <p:nvPr>
            <p:ph type="title"/>
          </p:nvPr>
        </p:nvSpPr>
        <p:spPr/>
        <p:txBody>
          <a:bodyPr/>
          <a:lstStyle/>
          <a:p>
            <a:r>
              <a:rPr lang="es-MX" b="1" dirty="0">
                <a:solidFill>
                  <a:schemeClr val="accent1"/>
                </a:solidFill>
              </a:rPr>
              <a:t>Funcionamiento del analizador sintáctico</a:t>
            </a:r>
          </a:p>
        </p:txBody>
      </p:sp>
      <p:sp>
        <p:nvSpPr>
          <p:cNvPr id="3" name="Marcador de contenido 2">
            <a:extLst>
              <a:ext uri="{FF2B5EF4-FFF2-40B4-BE49-F238E27FC236}">
                <a16:creationId xmlns:a16="http://schemas.microsoft.com/office/drawing/2014/main" id="{97D63124-F557-6E71-3B05-52EA99B4F157}"/>
              </a:ext>
            </a:extLst>
          </p:cNvPr>
          <p:cNvSpPr>
            <a:spLocks noGrp="1"/>
          </p:cNvSpPr>
          <p:nvPr>
            <p:ph idx="1"/>
          </p:nvPr>
        </p:nvSpPr>
        <p:spPr/>
        <p:txBody>
          <a:bodyPr/>
          <a:lstStyle/>
          <a:p>
            <a:pPr marL="0" indent="0">
              <a:buNone/>
            </a:pPr>
            <a:r>
              <a:rPr lang="es-MX" dirty="0"/>
              <a:t>El analizador sintáctico valida cada línea del código ingresado mediante una expresión regular que representa la gramática definida.</a:t>
            </a:r>
          </a:p>
          <a:p>
            <a:pPr marL="0" indent="0">
              <a:buNone/>
            </a:pPr>
            <a:r>
              <a:rPr lang="es-MX" dirty="0"/>
              <a:t>Cada instrucción es evaluada para verificar si cumple con el formato establecido. En caso de cumplir con la estructura, el sistema indica que la sintaxis es correcta; de lo contrario, se detecta un error sintáctico.</a:t>
            </a:r>
          </a:p>
          <a:p>
            <a:endParaRPr lang="es-MX" dirty="0"/>
          </a:p>
        </p:txBody>
      </p:sp>
    </p:spTree>
    <p:extLst>
      <p:ext uri="{BB962C8B-B14F-4D97-AF65-F5344CB8AC3E}">
        <p14:creationId xmlns:p14="http://schemas.microsoft.com/office/powerpoint/2010/main" val="941558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3D29A0-B3B9-9A18-F567-EDE9BED008D6}"/>
              </a:ext>
            </a:extLst>
          </p:cNvPr>
          <p:cNvSpPr>
            <a:spLocks noGrp="1"/>
          </p:cNvSpPr>
          <p:nvPr>
            <p:ph type="title"/>
          </p:nvPr>
        </p:nvSpPr>
        <p:spPr/>
        <p:txBody>
          <a:bodyPr/>
          <a:lstStyle/>
          <a:p>
            <a:r>
              <a:rPr lang="es-MX" b="1" dirty="0">
                <a:solidFill>
                  <a:schemeClr val="accent1"/>
                </a:solidFill>
              </a:rPr>
              <a:t>Implementación (Código </a:t>
            </a:r>
            <a:r>
              <a:rPr lang="es-MX" b="1" dirty="0" err="1">
                <a:solidFill>
                  <a:schemeClr val="accent1"/>
                </a:solidFill>
              </a:rPr>
              <a:t>JavaFX</a:t>
            </a:r>
            <a:r>
              <a:rPr lang="es-MX" b="1" dirty="0">
                <a:solidFill>
                  <a:schemeClr val="accent1"/>
                </a:solidFill>
              </a:rPr>
              <a:t>)</a:t>
            </a:r>
          </a:p>
        </p:txBody>
      </p:sp>
      <p:sp>
        <p:nvSpPr>
          <p:cNvPr id="4" name="Marcador de contenido 3">
            <a:extLst>
              <a:ext uri="{FF2B5EF4-FFF2-40B4-BE49-F238E27FC236}">
                <a16:creationId xmlns:a16="http://schemas.microsoft.com/office/drawing/2014/main" id="{5F2D8DB1-FA40-0979-5C36-9C6F337ECA94}"/>
              </a:ext>
            </a:extLst>
          </p:cNvPr>
          <p:cNvSpPr>
            <a:spLocks noGrp="1"/>
          </p:cNvSpPr>
          <p:nvPr>
            <p:ph idx="1"/>
          </p:nvPr>
        </p:nvSpPr>
        <p:spPr>
          <a:xfrm>
            <a:off x="838201" y="1690687"/>
            <a:ext cx="5486400" cy="4802188"/>
          </a:xfrm>
        </p:spPr>
        <p:txBody>
          <a:bodyPr>
            <a:normAutofit fontScale="77500" lnSpcReduction="20000"/>
          </a:bodyPr>
          <a:lstStyle/>
          <a:p>
            <a:pPr marL="0" indent="0">
              <a:buNone/>
            </a:pPr>
            <a:r>
              <a:rPr lang="es-MX" dirty="0"/>
              <a:t>La implementación se realizó en Java utilizando </a:t>
            </a:r>
            <a:r>
              <a:rPr lang="es-MX" dirty="0" err="1"/>
              <a:t>JavaFX</a:t>
            </a:r>
            <a:r>
              <a:rPr lang="es-MX" dirty="0"/>
              <a:t> para la interfaz gráfica. El sistema emplea expresiones regulares para validar la estructura de las instrucciones, permitiendo identificar errores en tiempo de ejecución.</a:t>
            </a:r>
          </a:p>
          <a:p>
            <a:pPr marL="0" indent="0">
              <a:buNone/>
            </a:pPr>
            <a:r>
              <a:rPr lang="es-MX" dirty="0"/>
              <a:t>Al presionar el botón “Analizar”, el sistema procesa cada línea del código ingresado y realiza el análisis sintáctico correspondiente, apoyándose en el análisis léxico para la identificación de tokens.</a:t>
            </a:r>
          </a:p>
          <a:p>
            <a:pPr marL="0" indent="0">
              <a:buNone/>
            </a:pPr>
            <a:r>
              <a:rPr lang="es-MX" dirty="0"/>
              <a:t>El sistema evalúa cada instrucción y determina si su sintaxis es correcta o si presenta errores, mostrando los resultados de forma clara en el área de salida.</a:t>
            </a:r>
          </a:p>
          <a:p>
            <a:pPr marL="0" indent="0">
              <a:buNone/>
            </a:pPr>
            <a:r>
              <a:rPr lang="es-MX" dirty="0"/>
              <a:t>Esta herramienta permite comprender de manera práctica el funcionamiento del análisis sintáctico dentro del proceso de compilación.</a:t>
            </a:r>
          </a:p>
          <a:p>
            <a:endParaRPr lang="es-MX" dirty="0"/>
          </a:p>
        </p:txBody>
      </p:sp>
      <p:pic>
        <p:nvPicPr>
          <p:cNvPr id="6" name="Imagen 5">
            <a:extLst>
              <a:ext uri="{FF2B5EF4-FFF2-40B4-BE49-F238E27FC236}">
                <a16:creationId xmlns:a16="http://schemas.microsoft.com/office/drawing/2014/main" id="{DBAC63C7-C5C2-ACBD-961F-833118B1ACC6}"/>
              </a:ext>
            </a:extLst>
          </p:cNvPr>
          <p:cNvPicPr>
            <a:picLocks noChangeAspect="1"/>
          </p:cNvPicPr>
          <p:nvPr/>
        </p:nvPicPr>
        <p:blipFill>
          <a:blip r:embed="rId2"/>
          <a:stretch>
            <a:fillRect/>
          </a:stretch>
        </p:blipFill>
        <p:spPr>
          <a:xfrm>
            <a:off x="6534679" y="1862137"/>
            <a:ext cx="5571067" cy="3133725"/>
          </a:xfrm>
          <a:prstGeom prst="rect">
            <a:avLst/>
          </a:prstGeom>
        </p:spPr>
      </p:pic>
    </p:spTree>
    <p:extLst>
      <p:ext uri="{BB962C8B-B14F-4D97-AF65-F5344CB8AC3E}">
        <p14:creationId xmlns:p14="http://schemas.microsoft.com/office/powerpoint/2010/main" val="3230841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107D78-FBE1-5590-3476-19CC2F0D4625}"/>
              </a:ext>
            </a:extLst>
          </p:cNvPr>
          <p:cNvSpPr>
            <a:spLocks noGrp="1"/>
          </p:cNvSpPr>
          <p:nvPr>
            <p:ph type="title"/>
          </p:nvPr>
        </p:nvSpPr>
        <p:spPr/>
        <p:txBody>
          <a:bodyPr/>
          <a:lstStyle/>
          <a:p>
            <a:r>
              <a:rPr lang="es-MX" b="1" dirty="0">
                <a:solidFill>
                  <a:schemeClr val="accent1"/>
                </a:solidFill>
              </a:rPr>
              <a:t>Prueba 1</a:t>
            </a:r>
          </a:p>
        </p:txBody>
      </p:sp>
      <p:pic>
        <p:nvPicPr>
          <p:cNvPr id="7" name="Marcador de contenido 6">
            <a:extLst>
              <a:ext uri="{FF2B5EF4-FFF2-40B4-BE49-F238E27FC236}">
                <a16:creationId xmlns:a16="http://schemas.microsoft.com/office/drawing/2014/main" id="{415F1204-E465-C977-0762-537B67B074F3}"/>
              </a:ext>
            </a:extLst>
          </p:cNvPr>
          <p:cNvPicPr>
            <a:picLocks noGrp="1" noChangeAspect="1"/>
          </p:cNvPicPr>
          <p:nvPr>
            <p:ph idx="1"/>
          </p:nvPr>
        </p:nvPicPr>
        <p:blipFill>
          <a:blip r:embed="rId2"/>
          <a:stretch>
            <a:fillRect/>
          </a:stretch>
        </p:blipFill>
        <p:spPr>
          <a:xfrm>
            <a:off x="1076324" y="1911350"/>
            <a:ext cx="6016977" cy="3384550"/>
          </a:xfrm>
          <a:prstGeom prst="rect">
            <a:avLst/>
          </a:prstGeom>
        </p:spPr>
      </p:pic>
      <p:sp>
        <p:nvSpPr>
          <p:cNvPr id="10" name="CuadroTexto 9">
            <a:extLst>
              <a:ext uri="{FF2B5EF4-FFF2-40B4-BE49-F238E27FC236}">
                <a16:creationId xmlns:a16="http://schemas.microsoft.com/office/drawing/2014/main" id="{DF79F149-F40A-7AA6-F9AA-1CC6037B6EDE}"/>
              </a:ext>
            </a:extLst>
          </p:cNvPr>
          <p:cNvSpPr txBox="1"/>
          <p:nvPr/>
        </p:nvSpPr>
        <p:spPr>
          <a:xfrm>
            <a:off x="7400925" y="1849299"/>
            <a:ext cx="4200525" cy="2308324"/>
          </a:xfrm>
          <a:prstGeom prst="rect">
            <a:avLst/>
          </a:prstGeom>
          <a:noFill/>
        </p:spPr>
        <p:txBody>
          <a:bodyPr wrap="square">
            <a:spAutoFit/>
          </a:bodyPr>
          <a:lstStyle/>
          <a:p>
            <a:pPr algn="just">
              <a:buNone/>
            </a:pPr>
            <a:r>
              <a:rPr lang="es-MX" dirty="0"/>
              <a:t>En esta prueba se ingresó la instrucción:</a:t>
            </a:r>
            <a:br>
              <a:rPr lang="es-MX" dirty="0"/>
            </a:br>
            <a:r>
              <a:rPr lang="es-MX" b="1" dirty="0" err="1"/>
              <a:t>int</a:t>
            </a:r>
            <a:r>
              <a:rPr lang="es-MX" b="1" dirty="0"/>
              <a:t> x = 10;</a:t>
            </a:r>
            <a:endParaRPr lang="es-MX" dirty="0"/>
          </a:p>
          <a:p>
            <a:pPr algn="just">
              <a:buNone/>
            </a:pPr>
            <a:r>
              <a:rPr lang="es-MX" dirty="0"/>
              <a:t>El sistema realizó el análisis sintáctico correspondiente, determinando que la estructura de la instrucción es correcta.</a:t>
            </a:r>
          </a:p>
          <a:p>
            <a:pPr algn="just">
              <a:buNone/>
            </a:pPr>
            <a:r>
              <a:rPr lang="es-MX" dirty="0"/>
              <a:t>Como se observa en la imagen, el sistema muestra el resultado indicando que la sintaxis cumple con la gramática definida.</a:t>
            </a:r>
          </a:p>
        </p:txBody>
      </p:sp>
    </p:spTree>
    <p:extLst>
      <p:ext uri="{BB962C8B-B14F-4D97-AF65-F5344CB8AC3E}">
        <p14:creationId xmlns:p14="http://schemas.microsoft.com/office/powerpoint/2010/main" val="656735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5AE400-FA3F-F015-CAC6-9FA172D2B1D5}"/>
              </a:ext>
            </a:extLst>
          </p:cNvPr>
          <p:cNvSpPr>
            <a:spLocks noGrp="1"/>
          </p:cNvSpPr>
          <p:nvPr>
            <p:ph type="title"/>
          </p:nvPr>
        </p:nvSpPr>
        <p:spPr/>
        <p:txBody>
          <a:bodyPr/>
          <a:lstStyle/>
          <a:p>
            <a:r>
              <a:rPr lang="es-MX" b="1" dirty="0">
                <a:solidFill>
                  <a:schemeClr val="accent1"/>
                </a:solidFill>
              </a:rPr>
              <a:t>Prueba 2</a:t>
            </a:r>
          </a:p>
        </p:txBody>
      </p:sp>
      <p:pic>
        <p:nvPicPr>
          <p:cNvPr id="8" name="Marcador de contenido 7">
            <a:extLst>
              <a:ext uri="{FF2B5EF4-FFF2-40B4-BE49-F238E27FC236}">
                <a16:creationId xmlns:a16="http://schemas.microsoft.com/office/drawing/2014/main" id="{1A90E4F7-67AE-83FB-62BD-FE5CAFCC67FD}"/>
              </a:ext>
            </a:extLst>
          </p:cNvPr>
          <p:cNvPicPr>
            <a:picLocks noGrp="1" noChangeAspect="1"/>
          </p:cNvPicPr>
          <p:nvPr>
            <p:ph idx="1"/>
          </p:nvPr>
        </p:nvPicPr>
        <p:blipFill>
          <a:blip r:embed="rId2"/>
          <a:stretch>
            <a:fillRect/>
          </a:stretch>
        </p:blipFill>
        <p:spPr>
          <a:xfrm>
            <a:off x="1085144" y="1878012"/>
            <a:ext cx="4899378" cy="2755900"/>
          </a:xfrm>
          <a:prstGeom prst="rect">
            <a:avLst/>
          </a:prstGeom>
        </p:spPr>
      </p:pic>
      <p:sp>
        <p:nvSpPr>
          <p:cNvPr id="10" name="CuadroTexto 9">
            <a:extLst>
              <a:ext uri="{FF2B5EF4-FFF2-40B4-BE49-F238E27FC236}">
                <a16:creationId xmlns:a16="http://schemas.microsoft.com/office/drawing/2014/main" id="{AF448C00-4513-47E1-5D3D-97B21A415665}"/>
              </a:ext>
            </a:extLst>
          </p:cNvPr>
          <p:cNvSpPr txBox="1"/>
          <p:nvPr/>
        </p:nvSpPr>
        <p:spPr>
          <a:xfrm>
            <a:off x="6207480" y="1775163"/>
            <a:ext cx="4403370" cy="2308324"/>
          </a:xfrm>
          <a:prstGeom prst="rect">
            <a:avLst/>
          </a:prstGeom>
          <a:noFill/>
        </p:spPr>
        <p:txBody>
          <a:bodyPr wrap="square">
            <a:spAutoFit/>
          </a:bodyPr>
          <a:lstStyle/>
          <a:p>
            <a:pPr>
              <a:buNone/>
            </a:pPr>
            <a:r>
              <a:rPr lang="es-MX" dirty="0"/>
              <a:t>En esta prueba se ingresó la instrucción:</a:t>
            </a:r>
            <a:br>
              <a:rPr lang="es-MX" dirty="0"/>
            </a:br>
            <a:r>
              <a:rPr lang="es-MX" b="1" dirty="0" err="1"/>
              <a:t>float</a:t>
            </a:r>
            <a:r>
              <a:rPr lang="es-MX" b="1" dirty="0"/>
              <a:t> y = 3.14;</a:t>
            </a:r>
            <a:endParaRPr lang="es-MX" dirty="0"/>
          </a:p>
          <a:p>
            <a:pPr>
              <a:buNone/>
            </a:pPr>
            <a:r>
              <a:rPr lang="es-MX" dirty="0"/>
              <a:t>El analizador sintáctico evaluó la estructura de la instrucción, determinando que cumple con las reglas definidas por la gramática.</a:t>
            </a:r>
          </a:p>
          <a:p>
            <a:pPr>
              <a:buNone/>
            </a:pPr>
            <a:r>
              <a:rPr lang="es-MX" dirty="0"/>
              <a:t>Como se observa en la imagen, el sistema indica que la sintaxis es correcta, validando adecuadamente la declaración.</a:t>
            </a:r>
          </a:p>
        </p:txBody>
      </p:sp>
    </p:spTree>
    <p:extLst>
      <p:ext uri="{BB962C8B-B14F-4D97-AF65-F5344CB8AC3E}">
        <p14:creationId xmlns:p14="http://schemas.microsoft.com/office/powerpoint/2010/main" val="44549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706F47-EF05-27A5-4F82-F4E1F114EE2F}"/>
              </a:ext>
            </a:extLst>
          </p:cNvPr>
          <p:cNvSpPr>
            <a:spLocks noGrp="1"/>
          </p:cNvSpPr>
          <p:nvPr>
            <p:ph type="title"/>
          </p:nvPr>
        </p:nvSpPr>
        <p:spPr/>
        <p:txBody>
          <a:bodyPr/>
          <a:lstStyle/>
          <a:p>
            <a:r>
              <a:rPr lang="es-MX" b="1" dirty="0">
                <a:solidFill>
                  <a:schemeClr val="accent1"/>
                </a:solidFill>
              </a:rPr>
              <a:t>Prueba 3</a:t>
            </a:r>
          </a:p>
        </p:txBody>
      </p:sp>
      <p:pic>
        <p:nvPicPr>
          <p:cNvPr id="8" name="Marcador de contenido 7">
            <a:extLst>
              <a:ext uri="{FF2B5EF4-FFF2-40B4-BE49-F238E27FC236}">
                <a16:creationId xmlns:a16="http://schemas.microsoft.com/office/drawing/2014/main" id="{C5F42B48-0E6D-A8EB-AFE0-DBDE70036608}"/>
              </a:ext>
            </a:extLst>
          </p:cNvPr>
          <p:cNvPicPr>
            <a:picLocks noGrp="1" noChangeAspect="1"/>
          </p:cNvPicPr>
          <p:nvPr>
            <p:ph idx="1"/>
          </p:nvPr>
        </p:nvPicPr>
        <p:blipFill>
          <a:blip r:embed="rId2"/>
          <a:stretch>
            <a:fillRect/>
          </a:stretch>
        </p:blipFill>
        <p:spPr>
          <a:xfrm>
            <a:off x="1399469" y="1911349"/>
            <a:ext cx="5017911" cy="2822575"/>
          </a:xfrm>
          <a:prstGeom prst="rect">
            <a:avLst/>
          </a:prstGeom>
        </p:spPr>
      </p:pic>
      <p:sp>
        <p:nvSpPr>
          <p:cNvPr id="11" name="CuadroTexto 10">
            <a:extLst>
              <a:ext uri="{FF2B5EF4-FFF2-40B4-BE49-F238E27FC236}">
                <a16:creationId xmlns:a16="http://schemas.microsoft.com/office/drawing/2014/main" id="{AD37651D-CD36-72B6-8694-DD1616C0D44A}"/>
              </a:ext>
            </a:extLst>
          </p:cNvPr>
          <p:cNvSpPr txBox="1"/>
          <p:nvPr/>
        </p:nvSpPr>
        <p:spPr>
          <a:xfrm>
            <a:off x="6619875" y="1794213"/>
            <a:ext cx="4410075" cy="2585323"/>
          </a:xfrm>
          <a:prstGeom prst="rect">
            <a:avLst/>
          </a:prstGeom>
          <a:noFill/>
        </p:spPr>
        <p:txBody>
          <a:bodyPr wrap="square">
            <a:spAutoFit/>
          </a:bodyPr>
          <a:lstStyle/>
          <a:p>
            <a:pPr algn="just">
              <a:buNone/>
            </a:pPr>
            <a:r>
              <a:rPr lang="es-MX" dirty="0"/>
              <a:t>Se ingresó la instrucción </a:t>
            </a:r>
            <a:r>
              <a:rPr lang="es-MX" b="1" dirty="0" err="1"/>
              <a:t>char</a:t>
            </a:r>
            <a:r>
              <a:rPr lang="es-MX" b="1" dirty="0"/>
              <a:t> c = 'a';</a:t>
            </a:r>
            <a:r>
              <a:rPr lang="es-MX" dirty="0"/>
              <a:t>, la cual fue procesada por el analizador sintáctico.</a:t>
            </a:r>
          </a:p>
          <a:p>
            <a:pPr algn="just">
              <a:buNone/>
            </a:pPr>
            <a:r>
              <a:rPr lang="es-MX" dirty="0"/>
              <a:t>El sistema verificó que la estructura de la instrucción cumple con las reglas establecidas, indicando que la sintaxis es correcta.</a:t>
            </a:r>
          </a:p>
          <a:p>
            <a:pPr algn="just">
              <a:buNone/>
            </a:pPr>
            <a:r>
              <a:rPr lang="es-MX" dirty="0"/>
              <a:t>En el área de salida se muestra el resultado del análisis, confirmando la validez de la instrucción.</a:t>
            </a:r>
          </a:p>
        </p:txBody>
      </p:sp>
    </p:spTree>
    <p:extLst>
      <p:ext uri="{BB962C8B-B14F-4D97-AF65-F5344CB8AC3E}">
        <p14:creationId xmlns:p14="http://schemas.microsoft.com/office/powerpoint/2010/main" val="28485373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9966B8-7FB4-B0B3-2959-2E078F404AE7}"/>
              </a:ext>
            </a:extLst>
          </p:cNvPr>
          <p:cNvSpPr>
            <a:spLocks noGrp="1"/>
          </p:cNvSpPr>
          <p:nvPr>
            <p:ph type="title"/>
          </p:nvPr>
        </p:nvSpPr>
        <p:spPr/>
        <p:txBody>
          <a:bodyPr/>
          <a:lstStyle/>
          <a:p>
            <a:r>
              <a:rPr lang="es-MX" b="1" dirty="0">
                <a:solidFill>
                  <a:schemeClr val="accent1"/>
                </a:solidFill>
              </a:rPr>
              <a:t>Prueba 4 con error</a:t>
            </a:r>
          </a:p>
        </p:txBody>
      </p:sp>
      <p:pic>
        <p:nvPicPr>
          <p:cNvPr id="5" name="Marcador de contenido 4">
            <a:extLst>
              <a:ext uri="{FF2B5EF4-FFF2-40B4-BE49-F238E27FC236}">
                <a16:creationId xmlns:a16="http://schemas.microsoft.com/office/drawing/2014/main" id="{C77D8606-8866-F566-4675-9052A9D265CD}"/>
              </a:ext>
            </a:extLst>
          </p:cNvPr>
          <p:cNvPicPr>
            <a:picLocks noGrp="1" noChangeAspect="1"/>
          </p:cNvPicPr>
          <p:nvPr>
            <p:ph idx="1"/>
          </p:nvPr>
        </p:nvPicPr>
        <p:blipFill>
          <a:blip r:embed="rId2"/>
          <a:stretch>
            <a:fillRect/>
          </a:stretch>
        </p:blipFill>
        <p:spPr>
          <a:xfrm>
            <a:off x="1085144" y="1892300"/>
            <a:ext cx="4933244" cy="2774950"/>
          </a:xfrm>
          <a:prstGeom prst="rect">
            <a:avLst/>
          </a:prstGeom>
        </p:spPr>
      </p:pic>
      <p:sp>
        <p:nvSpPr>
          <p:cNvPr id="7" name="CuadroTexto 6">
            <a:extLst>
              <a:ext uri="{FF2B5EF4-FFF2-40B4-BE49-F238E27FC236}">
                <a16:creationId xmlns:a16="http://schemas.microsoft.com/office/drawing/2014/main" id="{302743F5-7D8C-4666-617D-275E3D7F5B7F}"/>
              </a:ext>
            </a:extLst>
          </p:cNvPr>
          <p:cNvSpPr txBox="1"/>
          <p:nvPr/>
        </p:nvSpPr>
        <p:spPr>
          <a:xfrm>
            <a:off x="6600825" y="1825625"/>
            <a:ext cx="4181475" cy="2585323"/>
          </a:xfrm>
          <a:prstGeom prst="rect">
            <a:avLst/>
          </a:prstGeom>
          <a:noFill/>
        </p:spPr>
        <p:txBody>
          <a:bodyPr wrap="square">
            <a:spAutoFit/>
          </a:bodyPr>
          <a:lstStyle/>
          <a:p>
            <a:pPr>
              <a:buNone/>
            </a:pPr>
            <a:r>
              <a:rPr lang="es-MX" dirty="0"/>
              <a:t>Se ingresó la instrucción:</a:t>
            </a:r>
            <a:br>
              <a:rPr lang="es-MX" dirty="0"/>
            </a:br>
            <a:r>
              <a:rPr lang="es-MX" b="1" dirty="0" err="1"/>
              <a:t>int</a:t>
            </a:r>
            <a:r>
              <a:rPr lang="es-MX" b="1" dirty="0"/>
              <a:t> 5x = 10;</a:t>
            </a:r>
            <a:endParaRPr lang="es-MX" dirty="0"/>
          </a:p>
          <a:p>
            <a:pPr>
              <a:buNone/>
            </a:pPr>
            <a:r>
              <a:rPr lang="es-MX" dirty="0"/>
              <a:t>El analizador sintáctico detectó un error en la estructura de la instrucción, ya que el identificador no cumple con las reglas definidas.</a:t>
            </a:r>
          </a:p>
          <a:p>
            <a:pPr>
              <a:buNone/>
            </a:pPr>
            <a:r>
              <a:rPr lang="es-MX" dirty="0"/>
              <a:t>El sistema indica que la sintaxis es incorrecta, evidenciando la capacidad del analizador para identificar errores.</a:t>
            </a:r>
          </a:p>
        </p:txBody>
      </p:sp>
    </p:spTree>
    <p:extLst>
      <p:ext uri="{BB962C8B-B14F-4D97-AF65-F5344CB8AC3E}">
        <p14:creationId xmlns:p14="http://schemas.microsoft.com/office/powerpoint/2010/main" val="38386051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2A5667-C912-4A4B-2B2B-C6DF75F09331}"/>
              </a:ext>
            </a:extLst>
          </p:cNvPr>
          <p:cNvSpPr>
            <a:spLocks noGrp="1"/>
          </p:cNvSpPr>
          <p:nvPr>
            <p:ph type="title"/>
          </p:nvPr>
        </p:nvSpPr>
        <p:spPr/>
        <p:txBody>
          <a:bodyPr/>
          <a:lstStyle/>
          <a:p>
            <a:r>
              <a:rPr lang="es-MX" b="1" dirty="0">
                <a:solidFill>
                  <a:schemeClr val="accent1"/>
                </a:solidFill>
              </a:rPr>
              <a:t>Resultados</a:t>
            </a:r>
          </a:p>
        </p:txBody>
      </p:sp>
      <p:sp>
        <p:nvSpPr>
          <p:cNvPr id="9" name="Marcador de contenido 8">
            <a:extLst>
              <a:ext uri="{FF2B5EF4-FFF2-40B4-BE49-F238E27FC236}">
                <a16:creationId xmlns:a16="http://schemas.microsoft.com/office/drawing/2014/main" id="{D065E4C1-493A-49A6-AB51-79B1CFC420F9}"/>
              </a:ext>
            </a:extLst>
          </p:cNvPr>
          <p:cNvSpPr>
            <a:spLocks noGrp="1"/>
          </p:cNvSpPr>
          <p:nvPr>
            <p:ph idx="1"/>
          </p:nvPr>
        </p:nvSpPr>
        <p:spPr/>
        <p:txBody>
          <a:bodyPr>
            <a:normAutofit/>
          </a:bodyPr>
          <a:lstStyle/>
          <a:p>
            <a:r>
              <a:rPr lang="es-MX" dirty="0"/>
              <a:t>Los resultados obtenidos demuestran que el analizador sintáctico es capaz de validar correctamente la estructura de instrucciones simples, identificando tanto casos válidos como errores.</a:t>
            </a:r>
          </a:p>
          <a:p>
            <a:r>
              <a:rPr lang="es-MX" dirty="0"/>
              <a:t>El sistema permite verificar la correcta formación de declaraciones, facilitando la comprensión del análisis sintáctico dentro del proceso de compilación.</a:t>
            </a:r>
          </a:p>
          <a:p>
            <a:pPr marL="0" indent="0">
              <a:buNone/>
            </a:pPr>
            <a:endParaRPr lang="es-MX" dirty="0"/>
          </a:p>
        </p:txBody>
      </p:sp>
    </p:spTree>
    <p:extLst>
      <p:ext uri="{BB962C8B-B14F-4D97-AF65-F5344CB8AC3E}">
        <p14:creationId xmlns:p14="http://schemas.microsoft.com/office/powerpoint/2010/main" val="14375155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AC5D9-9FD1-99B5-CB0C-FC5B34DE4F9B}"/>
              </a:ext>
            </a:extLst>
          </p:cNvPr>
          <p:cNvSpPr>
            <a:spLocks noGrp="1"/>
          </p:cNvSpPr>
          <p:nvPr>
            <p:ph idx="1"/>
          </p:nvPr>
        </p:nvSpPr>
        <p:spPr>
          <a:xfrm>
            <a:off x="733425" y="777875"/>
            <a:ext cx="10515600" cy="4351338"/>
          </a:xfrm>
        </p:spPr>
        <p:txBody>
          <a:bodyPr>
            <a:normAutofit/>
          </a:bodyPr>
          <a:lstStyle/>
          <a:p>
            <a:pPr marL="0" indent="0">
              <a:buNone/>
            </a:pPr>
            <a:r>
              <a:rPr lang="es-MX" sz="4400" b="1" dirty="0">
                <a:solidFill>
                  <a:schemeClr val="accent1"/>
                </a:solidFill>
                <a:latin typeface="+mj-lt"/>
              </a:rPr>
              <a:t>Conclusión</a:t>
            </a:r>
          </a:p>
          <a:p>
            <a:pPr marL="0" indent="0">
              <a:buNone/>
            </a:pPr>
            <a:endParaRPr lang="es-MX" dirty="0"/>
          </a:p>
          <a:p>
            <a:pPr marL="0" indent="0">
              <a:buNone/>
            </a:pPr>
            <a:r>
              <a:rPr lang="es-MX" dirty="0"/>
              <a:t>La práctica permitió comprender el funcionamiento del análisis sintáctico en la validación de estructuras dentro de un lenguaje de programación. Se logró desarrollar un analizador capaz de identificar instrucciones correctas y detectar errores en su estructura, reforzando los conocimientos adquiridos en la unidad.</a:t>
            </a:r>
          </a:p>
          <a:p>
            <a:endParaRPr lang="es-MX" dirty="0"/>
          </a:p>
        </p:txBody>
      </p:sp>
    </p:spTree>
    <p:extLst>
      <p:ext uri="{BB962C8B-B14F-4D97-AF65-F5344CB8AC3E}">
        <p14:creationId xmlns:p14="http://schemas.microsoft.com/office/powerpoint/2010/main" val="4155922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A54FE77-291F-6D16-F325-E56C3DDE4617}"/>
              </a:ext>
            </a:extLst>
          </p:cNvPr>
          <p:cNvSpPr>
            <a:spLocks noGrp="1"/>
          </p:cNvSpPr>
          <p:nvPr>
            <p:ph idx="1"/>
          </p:nvPr>
        </p:nvSpPr>
        <p:spPr>
          <a:xfrm>
            <a:off x="838200" y="892174"/>
            <a:ext cx="10515600" cy="5108575"/>
          </a:xfrm>
        </p:spPr>
        <p:txBody>
          <a:bodyPr>
            <a:normAutofit/>
          </a:bodyPr>
          <a:lstStyle/>
          <a:p>
            <a:pPr marL="0" indent="0">
              <a:buNone/>
            </a:pPr>
            <a:r>
              <a:rPr lang="en-US" sz="4400" b="1" dirty="0">
                <a:solidFill>
                  <a:schemeClr val="accent1"/>
                </a:solidFill>
                <a:latin typeface="+mj-lt"/>
              </a:rPr>
              <a:t>Fuente De Informacion</a:t>
            </a:r>
            <a:endParaRPr lang="es-MX" sz="4400" b="1" dirty="0">
              <a:solidFill>
                <a:schemeClr val="accent1"/>
              </a:solidFill>
              <a:latin typeface="+mj-lt"/>
            </a:endParaRPr>
          </a:p>
          <a:p>
            <a:pPr algn="just">
              <a:buFont typeface="Wingdings" panose="05000000000000000000" pitchFamily="2" charset="2"/>
              <a:buChar char="Ø"/>
            </a:pPr>
            <a:r>
              <a:rPr lang="es-MX" dirty="0"/>
              <a:t>LYA1 – Lenguajes y Autómatas I. Repositorio en GitHub.</a:t>
            </a:r>
            <a:br>
              <a:rPr lang="es-MX" dirty="0"/>
            </a:br>
            <a:r>
              <a:rPr lang="es-MX" dirty="0">
                <a:hlinkClick r:id="rId2">
                  <a:extLst>
                    <a:ext uri="{A12FA001-AC4F-418D-AE19-62706E023703}">
                      <ahyp:hlinkClr xmlns:ahyp="http://schemas.microsoft.com/office/drawing/2018/hyperlinkcolor" val="tx"/>
                    </a:ext>
                  </a:extLst>
                </a:hlinkClick>
              </a:rPr>
              <a:t>https://github.com/rafaelrav8770/LYA1.git</a:t>
            </a:r>
            <a:endParaRPr lang="es-MX" dirty="0"/>
          </a:p>
          <a:p>
            <a:pPr algn="just">
              <a:buFont typeface="Wingdings" panose="05000000000000000000" pitchFamily="2" charset="2"/>
              <a:buChar char="Ø"/>
            </a:pPr>
            <a:r>
              <a:rPr lang="es-MX" i="1" dirty="0"/>
              <a:t>Análisis sintáctico</a:t>
            </a:r>
            <a:r>
              <a:rPr lang="es-MX" dirty="0"/>
              <a:t> Video. YouTube. </a:t>
            </a:r>
            <a:r>
              <a:rPr lang="es-MX" dirty="0">
                <a:hlinkClick r:id="rId3"/>
              </a:rPr>
              <a:t>https://youtu.be/ylJ6i6xyplM</a:t>
            </a:r>
            <a:endParaRPr lang="es-MX" dirty="0"/>
          </a:p>
          <a:p>
            <a:pPr algn="just">
              <a:buFont typeface="Wingdings" panose="05000000000000000000" pitchFamily="2" charset="2"/>
              <a:buChar char="Ø"/>
            </a:pPr>
            <a:r>
              <a:rPr lang="es-MX" dirty="0"/>
              <a:t>Programación. Analizador léxico en Java paso a paso Video. YouTube. </a:t>
            </a:r>
            <a:r>
              <a:rPr lang="es-MX" dirty="0">
                <a:hlinkClick r:id="rId4">
                  <a:extLst>
                    <a:ext uri="{A12FA001-AC4F-418D-AE19-62706E023703}">
                      <ahyp:hlinkClr xmlns:ahyp="http://schemas.microsoft.com/office/drawing/2018/hyperlinkcolor" val="tx"/>
                    </a:ext>
                  </a:extLst>
                </a:hlinkClick>
              </a:rPr>
              <a:t>https://youtu.be/hhBQ4KgO1gg</a:t>
            </a:r>
            <a:endParaRPr lang="es-MX" dirty="0"/>
          </a:p>
        </p:txBody>
      </p:sp>
    </p:spTree>
    <p:extLst>
      <p:ext uri="{BB962C8B-B14F-4D97-AF65-F5344CB8AC3E}">
        <p14:creationId xmlns:p14="http://schemas.microsoft.com/office/powerpoint/2010/main" val="200353600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1739</TotalTime>
  <Words>1182</Words>
  <Application>Microsoft Office PowerPoint</Application>
  <PresentationFormat>Panorámica</PresentationFormat>
  <Paragraphs>92</Paragraphs>
  <Slides>18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Arial</vt:lpstr>
      <vt:lpstr>Calibri</vt:lpstr>
      <vt:lpstr>Calibri Light</vt:lpstr>
      <vt:lpstr>Wingdings</vt:lpstr>
      <vt:lpstr>Tema de Office</vt:lpstr>
      <vt:lpstr>Presentación de PowerPoint</vt:lpstr>
      <vt:lpstr>Presentación de PowerPoint</vt:lpstr>
      <vt:lpstr>Presentación de PowerPoint</vt:lpstr>
      <vt:lpstr>Justificacion </vt:lpstr>
      <vt:lpstr>Presentación de PowerPoint</vt:lpstr>
      <vt:lpstr>JavaFX</vt:lpstr>
      <vt:lpstr>Descripción del sistema</vt:lpstr>
      <vt:lpstr>Componentes de la interfaz</vt:lpstr>
      <vt:lpstr>Gramática utilizada</vt:lpstr>
      <vt:lpstr>Funcionamiento del analizador sintáctico</vt:lpstr>
      <vt:lpstr>Implementación (Código JavaFX)</vt:lpstr>
      <vt:lpstr>Prueba 1</vt:lpstr>
      <vt:lpstr>Prueba 2</vt:lpstr>
      <vt:lpstr>Prueba 3</vt:lpstr>
      <vt:lpstr>Prueba 4 con error</vt:lpstr>
      <vt:lpstr>Resultados</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29</cp:revision>
  <dcterms:created xsi:type="dcterms:W3CDTF">2026-02-14T13:39:49Z</dcterms:created>
  <dcterms:modified xsi:type="dcterms:W3CDTF">2026-03-27T02:56:13Z</dcterms:modified>
</cp:coreProperties>
</file>