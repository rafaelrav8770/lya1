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3" r:id="rId3"/>
    <p:sldId id="258" r:id="rId4"/>
    <p:sldId id="284" r:id="rId5"/>
    <p:sldId id="291" r:id="rId6"/>
    <p:sldId id="292" r:id="rId7"/>
    <p:sldId id="293" r:id="rId8"/>
    <p:sldId id="297" r:id="rId9"/>
    <p:sldId id="298" r:id="rId10"/>
    <p:sldId id="294" r:id="rId11"/>
    <p:sldId id="295" r:id="rId12"/>
    <p:sldId id="296" r:id="rId13"/>
    <p:sldId id="299" r:id="rId14"/>
    <p:sldId id="301" r:id="rId15"/>
    <p:sldId id="300" r:id="rId16"/>
    <p:sldId id="260" r:id="rId17"/>
    <p:sldId id="264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ylJ6i6xyplM" TargetMode="External"/><Relationship Id="rId2" Type="http://schemas.openxmlformats.org/officeDocument/2006/relationships/hyperlink" Target="https://github.com/rafaelrav8770/LYA1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hhBQ4KgO1g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" b="20603"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62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LENGUAJES Y AUTOMATAS 1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5.3 –</a:t>
            </a:r>
            <a:r>
              <a:rPr lang="es-MX" sz="2000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EJERCICIOS</a:t>
            </a:r>
            <a:r>
              <a:rPr lang="es-MX" sz="2000" b="1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/>
              <a:t>	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76835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SEXTO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489075" y="6318878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MX" sz="2000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</a:t>
            </a:r>
            <a:r>
              <a:rPr lang="es-MX" sz="2000" b="1" ker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sz="2000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MARZO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2950"/>
            <a:ext cx="10515600" cy="5129213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Introducción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MX" dirty="0"/>
              <a:t>El análisis sintáctico permite verificar que una secuencia de símbolos cumple con las reglas de una gramática definida. A través de estos ejercicios se refuerzan los conceptos relacionados con la validación de estructuras, identificación de errores y aplicación de gramáticas en lenguajes de programación.</a:t>
            </a:r>
          </a:p>
        </p:txBody>
      </p:sp>
    </p:spTree>
    <p:extLst>
      <p:ext uri="{BB962C8B-B14F-4D97-AF65-F5344CB8AC3E}">
        <p14:creationId xmlns:p14="http://schemas.microsoft.com/office/powerpoint/2010/main" val="21603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F6C57-A8B1-DC96-5869-560383E7A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3906"/>
            <a:ext cx="10515600" cy="5310188"/>
          </a:xfrm>
        </p:spPr>
        <p:txBody>
          <a:bodyPr/>
          <a:lstStyle/>
          <a:p>
            <a:pPr marL="0" indent="0">
              <a:buNone/>
            </a:pPr>
            <a:r>
              <a:rPr lang="es-MX" sz="4400" b="1" dirty="0">
                <a:solidFill>
                  <a:schemeClr val="accent1"/>
                </a:solidFill>
                <a:latin typeface="+mj-lt"/>
              </a:rPr>
              <a:t>Objetivo</a:t>
            </a:r>
          </a:p>
          <a:p>
            <a:pPr marL="0" indent="0">
              <a:buNone/>
            </a:pPr>
            <a:r>
              <a:rPr lang="es-MX" dirty="0"/>
              <a:t> 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MX" dirty="0"/>
              <a:t>Aplicar los conocimientos del análisis sintáctico mediante la resolución de ejercicios que permitan identificar estructuras correctas e incorrectas, así como comprender el funcionamiento de las gramáticas en la validación de instrucciones.</a:t>
            </a:r>
          </a:p>
        </p:txBody>
      </p:sp>
    </p:spTree>
    <p:extLst>
      <p:ext uri="{BB962C8B-B14F-4D97-AF65-F5344CB8AC3E}">
        <p14:creationId xmlns:p14="http://schemas.microsoft.com/office/powerpoint/2010/main" val="49266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687F3-E956-FF4E-0894-6AC9DD0B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>
                <a:solidFill>
                  <a:schemeClr val="accent1"/>
                </a:solidFill>
              </a:rPr>
              <a:t>Justificacion</a:t>
            </a:r>
            <a:br>
              <a:rPr lang="es-MX" b="1" dirty="0">
                <a:solidFill>
                  <a:schemeClr val="accent1"/>
                </a:solidFill>
              </a:rPr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267B60-E550-E60E-CEC2-2760C07C7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5"/>
            <a:ext cx="10515600" cy="5464969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s-MX" dirty="0"/>
              <a:t>La realización de ejercicios de análisis sintáctico es fundamental para reforzar la comprensión de cómo se valida la estructura de las instrucciones dentro de un lenguaje de programación. A través de la práctica, es posible identificar cuándo una instrucción es correcta o presenta errores en su sintaxis.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s-MX" dirty="0"/>
              <a:t>Esta actividad permite usar los conocimientos teóricos adquiridos, al poner en práctica la identificación de estructuras válidas e inválidas, así como la detección de errores sintácticos comunes.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s-MX" dirty="0"/>
              <a:t>Además, los ejercicios realizados fortalecen la comprensión del análisis sintáctico como una etapa esencial dentro del proceso de compilación, permitiendo interpretar y validar correctamente la estructura de un lenguaje formal.</a:t>
            </a:r>
          </a:p>
        </p:txBody>
      </p:sp>
    </p:spTree>
    <p:extLst>
      <p:ext uri="{BB962C8B-B14F-4D97-AF65-F5344CB8AC3E}">
        <p14:creationId xmlns:p14="http://schemas.microsoft.com/office/powerpoint/2010/main" val="4096733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9F1A9-70FB-6ECA-7B31-16563A6C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1– Validación de sintaxis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605210-DC0D-A972-CE53-A240F3E40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292" y="1996440"/>
            <a:ext cx="4605867" cy="25908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D2040E7-E61E-6425-7CF0-C014AE7E665F}"/>
              </a:ext>
            </a:extLst>
          </p:cNvPr>
          <p:cNvSpPr txBox="1"/>
          <p:nvPr/>
        </p:nvSpPr>
        <p:spPr>
          <a:xfrm>
            <a:off x="838200" y="1690688"/>
            <a:ext cx="5257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 err="1"/>
              <a:t>int</a:t>
            </a:r>
            <a:r>
              <a:rPr lang="es-MX" sz="2400" dirty="0"/>
              <a:t> x = 10;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Resultado</a:t>
            </a:r>
          </a:p>
          <a:p>
            <a:pPr algn="just"/>
            <a:r>
              <a:rPr lang="es-MX" sz="2400" dirty="0"/>
              <a:t>Sintaxis correcta: </a:t>
            </a:r>
            <a:r>
              <a:rPr lang="es-MX" sz="2400" dirty="0" err="1"/>
              <a:t>int</a:t>
            </a:r>
            <a:r>
              <a:rPr lang="es-MX" sz="2400" dirty="0"/>
              <a:t> x = 10;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Explicación  </a:t>
            </a:r>
          </a:p>
          <a:p>
            <a:pPr algn="just"/>
            <a:r>
              <a:rPr lang="es-MX" sz="2400" dirty="0"/>
              <a:t>El analizador sintáctico valida que la instrucción cumple con la estructura definida por la gramática, ya que contiene un tipo de dato, un identificador, un operador de asignación y un valor válido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6564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6FC2E-9AA0-9352-5218-31AC744E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0AB0E-E6FD-AE4B-E484-299606BD9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2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8F47AC-3CA3-4DC1-B6D5-497E700AA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906" y="2087880"/>
            <a:ext cx="5676053" cy="319278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EF9C0B1-C9A0-9358-3DA1-F5978DFBF380}"/>
              </a:ext>
            </a:extLst>
          </p:cNvPr>
          <p:cNvSpPr txBox="1"/>
          <p:nvPr/>
        </p:nvSpPr>
        <p:spPr>
          <a:xfrm>
            <a:off x="1188720" y="2274838"/>
            <a:ext cx="45567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 err="1"/>
              <a:t>float</a:t>
            </a:r>
            <a:r>
              <a:rPr lang="es-MX" sz="2400" dirty="0"/>
              <a:t> y = 3.14;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Resultado</a:t>
            </a:r>
          </a:p>
          <a:p>
            <a:pPr algn="just"/>
            <a:r>
              <a:rPr lang="es-MX" sz="2400" dirty="0"/>
              <a:t>Sintaxis correcta: </a:t>
            </a:r>
            <a:r>
              <a:rPr lang="es-MX" sz="2400" dirty="0" err="1"/>
              <a:t>float</a:t>
            </a:r>
            <a:r>
              <a:rPr lang="es-MX" sz="2400" dirty="0"/>
              <a:t> y = 3.14;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Explicación  </a:t>
            </a:r>
          </a:p>
          <a:p>
            <a:pPr algn="just"/>
            <a:r>
              <a:rPr lang="es-MX" sz="2400" dirty="0"/>
              <a:t>La instrucción cumple con las reglas de la gramática, por lo que el analizador sintáctico determina que la estructura es válida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688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BD344-30E1-876D-CBFD-AFB39B518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1C8FD-13C6-8A7E-D0F2-4932CB030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3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86A766B-F268-7306-9250-91C8281E3D85}"/>
              </a:ext>
            </a:extLst>
          </p:cNvPr>
          <p:cNvSpPr txBox="1"/>
          <p:nvPr/>
        </p:nvSpPr>
        <p:spPr>
          <a:xfrm>
            <a:off x="990600" y="2011680"/>
            <a:ext cx="45872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 err="1"/>
              <a:t>char</a:t>
            </a:r>
            <a:r>
              <a:rPr lang="es-MX" sz="2400" dirty="0"/>
              <a:t> c = 'a';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Resultado</a:t>
            </a:r>
          </a:p>
          <a:p>
            <a:pPr algn="just"/>
            <a:r>
              <a:rPr lang="es-MX" sz="2400" dirty="0"/>
              <a:t>Sintaxis correcta: </a:t>
            </a:r>
            <a:r>
              <a:rPr lang="es-MX" sz="2400" dirty="0" err="1"/>
              <a:t>char</a:t>
            </a:r>
            <a:r>
              <a:rPr lang="es-MX" sz="2400" dirty="0"/>
              <a:t> c = 'a';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Explicación  </a:t>
            </a:r>
          </a:p>
          <a:p>
            <a:pPr algn="just"/>
            <a:r>
              <a:rPr lang="es-MX" sz="2400" dirty="0"/>
              <a:t>El analizador sintáctico verifica correctamente la estructura de la instrucción, identificando que cumple con la gramática establecida.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D380DE1-3ADF-2D10-F56D-F9840C308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413" y="2011680"/>
            <a:ext cx="593344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9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29698-DCB0-76EC-290F-876D1309B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A1796-384D-EF84-CD75-423D7A73F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4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2C656B-8F01-A31D-C2F7-FD153B24A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5527040" cy="310896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CA8A776-5910-2C09-C442-1950AB6ADDB3}"/>
              </a:ext>
            </a:extLst>
          </p:cNvPr>
          <p:cNvSpPr txBox="1"/>
          <p:nvPr/>
        </p:nvSpPr>
        <p:spPr>
          <a:xfrm>
            <a:off x="1036320" y="1690688"/>
            <a:ext cx="47904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 err="1"/>
              <a:t>double</a:t>
            </a:r>
            <a:r>
              <a:rPr lang="es-MX" sz="2400" dirty="0"/>
              <a:t> z = 25;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Resultado</a:t>
            </a:r>
          </a:p>
          <a:p>
            <a:pPr algn="just"/>
            <a:r>
              <a:rPr lang="es-MX" sz="2400" dirty="0"/>
              <a:t>Sintaxis correcta: </a:t>
            </a:r>
            <a:r>
              <a:rPr lang="es-MX" sz="2400" dirty="0" err="1"/>
              <a:t>double</a:t>
            </a:r>
            <a:r>
              <a:rPr lang="es-MX" sz="2400" dirty="0"/>
              <a:t> z = 25;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Explicación  </a:t>
            </a:r>
          </a:p>
          <a:p>
            <a:pPr algn="just"/>
            <a:r>
              <a:rPr lang="es-MX" sz="2400" dirty="0"/>
              <a:t>El analizador sintáctico valida correctamente la estructura de la instrucción, ya que cumple con la gramática definida (TIPO identificador = valor ;).</a:t>
            </a:r>
          </a:p>
        </p:txBody>
      </p:sp>
    </p:spTree>
    <p:extLst>
      <p:ext uri="{BB962C8B-B14F-4D97-AF65-F5344CB8AC3E}">
        <p14:creationId xmlns:p14="http://schemas.microsoft.com/office/powerpoint/2010/main" val="1059086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67B01-B234-B0B8-8883-5177F26FB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149C4-C140-6E9B-7EBA-AC33EA6D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5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C23FAA1-084B-13BE-B40B-78B43C821989}"/>
              </a:ext>
            </a:extLst>
          </p:cNvPr>
          <p:cNvSpPr txBox="1"/>
          <p:nvPr/>
        </p:nvSpPr>
        <p:spPr>
          <a:xfrm>
            <a:off x="838200" y="1985278"/>
            <a:ext cx="508460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 err="1"/>
              <a:t>int</a:t>
            </a:r>
            <a:r>
              <a:rPr lang="es-MX" sz="2400" dirty="0"/>
              <a:t> a = 0;</a:t>
            </a:r>
          </a:p>
          <a:p>
            <a:endParaRPr lang="es-MX" sz="2400" dirty="0"/>
          </a:p>
          <a:p>
            <a:r>
              <a:rPr lang="es-MX" sz="2400" dirty="0"/>
              <a:t>Resultado</a:t>
            </a:r>
          </a:p>
          <a:p>
            <a:r>
              <a:rPr lang="es-MX" sz="2400" dirty="0"/>
              <a:t>Sintaxis correcta: </a:t>
            </a:r>
            <a:r>
              <a:rPr lang="es-MX" sz="2400" dirty="0" err="1"/>
              <a:t>int</a:t>
            </a:r>
            <a:r>
              <a:rPr lang="es-MX" sz="2400" dirty="0"/>
              <a:t> a = 0;</a:t>
            </a:r>
          </a:p>
          <a:p>
            <a:endParaRPr lang="es-MX" sz="2400" dirty="0"/>
          </a:p>
          <a:p>
            <a:pPr algn="just"/>
            <a:r>
              <a:rPr lang="es-MX" sz="2400" dirty="0"/>
              <a:t>Explicación  </a:t>
            </a:r>
          </a:p>
          <a:p>
            <a:pPr algn="just"/>
            <a:r>
              <a:rPr lang="es-MX" sz="2400" dirty="0"/>
              <a:t>La instrucción cumple con las reglas de la gramática, por lo que el analizador sintáctico determina que la estructura es válida.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01A50A3-C705-51A2-7901-5E9CBFD16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196" y="1985278"/>
            <a:ext cx="5572284" cy="313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215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E5973-6A98-D115-CCAF-F3B1B5AD8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546A39-93A3-79FA-6B5F-E32A7880C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1– Identificación de errores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F9C157-ECA3-275F-8B60-CA0543E97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440" y="2251710"/>
            <a:ext cx="5318760" cy="305181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0F131D2-9192-3F8A-64C7-BE4AB0F19659}"/>
              </a:ext>
            </a:extLst>
          </p:cNvPr>
          <p:cNvSpPr txBox="1"/>
          <p:nvPr/>
        </p:nvSpPr>
        <p:spPr>
          <a:xfrm>
            <a:off x="838200" y="1686878"/>
            <a:ext cx="54864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 err="1"/>
              <a:t>int</a:t>
            </a:r>
            <a:r>
              <a:rPr lang="es-MX" sz="2400" dirty="0"/>
              <a:t> = x 10;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Resultado</a:t>
            </a:r>
          </a:p>
          <a:p>
            <a:pPr algn="just"/>
            <a:r>
              <a:rPr lang="es-MX" sz="2400" dirty="0"/>
              <a:t>Error sintáctico: </a:t>
            </a:r>
            <a:r>
              <a:rPr lang="es-MX" sz="2400" dirty="0" err="1"/>
              <a:t>int</a:t>
            </a:r>
            <a:r>
              <a:rPr lang="es-MX" sz="2400" dirty="0"/>
              <a:t> = x 10;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Explicación  </a:t>
            </a:r>
          </a:p>
          <a:p>
            <a:pPr algn="just"/>
            <a:r>
              <a:rPr lang="es-MX" sz="2400" dirty="0"/>
              <a:t>El analizador sintáctico detecta un error debido a que la instrucción no cumple con la estructura definida por la gramática.  </a:t>
            </a:r>
          </a:p>
          <a:p>
            <a:pPr algn="just"/>
            <a:r>
              <a:rPr lang="es-MX" sz="2400" dirty="0"/>
              <a:t>El identificador se encuentra en una posición incorrecta y falta el operador de asignación en el lugar adecuado, por lo que la instrucción no es válida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2654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0FD64-9A0F-7FBB-89B0-917577E37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430E5D-FA0D-C7DD-E1FE-549465571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F6DFD6C-88E1-1175-48F7-A93474BEB004}"/>
              </a:ext>
            </a:extLst>
          </p:cNvPr>
          <p:cNvSpPr txBox="1"/>
          <p:nvPr/>
        </p:nvSpPr>
        <p:spPr>
          <a:xfrm>
            <a:off x="1085219" y="2027038"/>
            <a:ext cx="48615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 err="1"/>
              <a:t>float</a:t>
            </a:r>
            <a:r>
              <a:rPr lang="es-MX" sz="2400" dirty="0"/>
              <a:t> 3y = 2.5;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Resultado</a:t>
            </a:r>
          </a:p>
          <a:p>
            <a:pPr algn="just"/>
            <a:r>
              <a:rPr lang="es-MX" sz="2400" dirty="0"/>
              <a:t>Error sintáctico: </a:t>
            </a:r>
            <a:r>
              <a:rPr lang="es-MX" sz="2400" dirty="0" err="1"/>
              <a:t>float</a:t>
            </a:r>
            <a:r>
              <a:rPr lang="es-MX" sz="2400" dirty="0"/>
              <a:t> 3y = 2.5;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Explicación  </a:t>
            </a:r>
          </a:p>
          <a:p>
            <a:pPr algn="just"/>
            <a:r>
              <a:rPr lang="es-MX" sz="2400" dirty="0"/>
              <a:t>El analizador sintáctico detecta un error debido a que el identificador no cumple con las reglas del lenguaje.  </a:t>
            </a:r>
          </a:p>
          <a:p>
            <a:pPr algn="just"/>
            <a:r>
              <a:rPr lang="es-MX" sz="2400" dirty="0"/>
              <a:t>No puede iniciar con un número, por lo que la estructura de la instrucción es inválida.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5FF77E2-9036-2680-90FE-511EE2449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222" y="2027038"/>
            <a:ext cx="5581017" cy="31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632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8143B-17BD-EC98-1F31-71DAC8B6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B1F1F-B2AF-F141-A96F-62E2716BE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3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C0D3351-5B8E-0381-C823-F2C584CDB1CF}"/>
              </a:ext>
            </a:extLst>
          </p:cNvPr>
          <p:cNvSpPr txBox="1"/>
          <p:nvPr/>
        </p:nvSpPr>
        <p:spPr>
          <a:xfrm>
            <a:off x="990600" y="1997839"/>
            <a:ext cx="47091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 err="1"/>
              <a:t>char</a:t>
            </a:r>
            <a:r>
              <a:rPr lang="es-MX" sz="2400" dirty="0"/>
              <a:t> = 'b';</a:t>
            </a:r>
          </a:p>
          <a:p>
            <a:endParaRPr lang="es-MX" sz="2400" dirty="0"/>
          </a:p>
          <a:p>
            <a:r>
              <a:rPr lang="es-MX" sz="2400" dirty="0"/>
              <a:t>Resultado</a:t>
            </a:r>
          </a:p>
          <a:p>
            <a:r>
              <a:rPr lang="es-MX" sz="2400" dirty="0"/>
              <a:t>Error sintáctico: </a:t>
            </a:r>
            <a:r>
              <a:rPr lang="es-MX" sz="2400" dirty="0" err="1"/>
              <a:t>char</a:t>
            </a:r>
            <a:r>
              <a:rPr lang="es-MX" sz="2400" dirty="0"/>
              <a:t> = 'b';</a:t>
            </a:r>
          </a:p>
          <a:p>
            <a:endParaRPr lang="es-MX" sz="2400" dirty="0"/>
          </a:p>
          <a:p>
            <a:pPr algn="just"/>
            <a:r>
              <a:rPr lang="es-MX" sz="2400" dirty="0"/>
              <a:t>Explicación  </a:t>
            </a:r>
          </a:p>
          <a:p>
            <a:pPr algn="just"/>
            <a:r>
              <a:rPr lang="es-MX" sz="2400" dirty="0"/>
              <a:t>La instrucción presenta un error sintáctico debido a la ausencia de un identificador.  </a:t>
            </a:r>
          </a:p>
          <a:p>
            <a:pPr algn="just"/>
            <a:r>
              <a:rPr lang="es-MX" sz="2400" dirty="0"/>
              <a:t>La gramática requiere la estructura TIPO identificador = valor ;, por lo que la instrucción es incompleta.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2CAFA38-975F-1763-4B20-FE5231E5D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840" y="153924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416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F41F7-62AD-0836-643F-9DB324D3B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41DF5-C7EC-02C4-FBAD-79A926ADD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47D8035-A99E-9107-5E4E-AD23250824D2}"/>
              </a:ext>
            </a:extLst>
          </p:cNvPr>
          <p:cNvSpPr txBox="1"/>
          <p:nvPr/>
        </p:nvSpPr>
        <p:spPr>
          <a:xfrm>
            <a:off x="838200" y="2046238"/>
            <a:ext cx="5257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 err="1"/>
              <a:t>double</a:t>
            </a:r>
            <a:r>
              <a:rPr lang="es-MX" sz="2400" dirty="0"/>
              <a:t> = 5.5;</a:t>
            </a:r>
          </a:p>
          <a:p>
            <a:endParaRPr lang="es-MX" sz="2400" dirty="0"/>
          </a:p>
          <a:p>
            <a:r>
              <a:rPr lang="es-MX" sz="2400" dirty="0"/>
              <a:t>Resultado</a:t>
            </a:r>
          </a:p>
          <a:p>
            <a:r>
              <a:rPr lang="es-MX" sz="2400" dirty="0"/>
              <a:t>Error sintáctico: </a:t>
            </a:r>
            <a:r>
              <a:rPr lang="es-MX" sz="2400" dirty="0" err="1"/>
              <a:t>double</a:t>
            </a:r>
            <a:r>
              <a:rPr lang="es-MX" sz="2400" dirty="0"/>
              <a:t> = 5.5;</a:t>
            </a:r>
          </a:p>
          <a:p>
            <a:endParaRPr lang="es-MX" sz="2400" dirty="0"/>
          </a:p>
          <a:p>
            <a:pPr algn="just"/>
            <a:r>
              <a:rPr lang="es-MX" sz="2400" dirty="0"/>
              <a:t>Explicación  </a:t>
            </a:r>
          </a:p>
          <a:p>
            <a:pPr algn="just"/>
            <a:r>
              <a:rPr lang="es-MX" sz="2400" dirty="0"/>
              <a:t>La instrucción presenta un error debido a la ausencia de un identificador, por lo que no cumple con la gramática definida.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205589B-4D1F-2F0B-9E5E-3DA633F77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928" y="2046238"/>
            <a:ext cx="5463911" cy="307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353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A5003-DD05-0A84-6553-F63FEBF3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5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49C282B-88EA-D143-9AC0-6CC4E3923867}"/>
              </a:ext>
            </a:extLst>
          </p:cNvPr>
          <p:cNvSpPr txBox="1"/>
          <p:nvPr/>
        </p:nvSpPr>
        <p:spPr>
          <a:xfrm>
            <a:off x="838200" y="2334459"/>
            <a:ext cx="53644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dirty="0" err="1"/>
              <a:t>char</a:t>
            </a:r>
            <a:r>
              <a:rPr lang="es-MX" sz="2400" dirty="0"/>
              <a:t> 1c = 'b';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Resultado</a:t>
            </a:r>
          </a:p>
          <a:p>
            <a:pPr algn="just"/>
            <a:r>
              <a:rPr lang="es-MX" sz="2400" dirty="0"/>
              <a:t>Error sintáctico: </a:t>
            </a:r>
            <a:r>
              <a:rPr lang="es-MX" sz="2400" dirty="0" err="1"/>
              <a:t>char</a:t>
            </a:r>
            <a:r>
              <a:rPr lang="es-MX" sz="2400" dirty="0"/>
              <a:t> 1c = 'b';</a:t>
            </a:r>
          </a:p>
          <a:p>
            <a:pPr algn="just"/>
            <a:endParaRPr lang="es-MX" sz="2400" dirty="0"/>
          </a:p>
          <a:p>
            <a:pPr algn="just"/>
            <a:r>
              <a:rPr lang="es-MX" sz="2400" dirty="0"/>
              <a:t>Explicación  </a:t>
            </a:r>
          </a:p>
          <a:p>
            <a:pPr algn="just"/>
            <a:r>
              <a:rPr lang="es-MX" sz="2400" dirty="0"/>
              <a:t>El identificador no cumple con las reglas del lenguaje, ya que no puede iniciar con un número, generando un error en la estructura.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EEA43A5-B29B-063C-6680-E09864B59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920" y="1690688"/>
            <a:ext cx="5420359" cy="304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96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5FC81-02E3-DB1D-750F-31BC11EC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4C148E-5660-C3ED-F9F8-7DAEAC0FF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s-MX" dirty="0"/>
              <a:t>Los ejercicios realizados permitieron identificar correctamente estructuras válidas e inválidas dentro de un lenguaje de programación. Se logró aplicar la gramática definida para validar instrucciones, así como reconocer errores sintácticos comunes.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62054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AC5D9-9FD1-99B5-CB0C-FC5B34DE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5" y="777875"/>
            <a:ext cx="10515600" cy="1020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400" b="1" dirty="0">
                <a:solidFill>
                  <a:schemeClr val="accent1"/>
                </a:solidFill>
                <a:latin typeface="+mj-lt"/>
              </a:rPr>
              <a:t>Conclusión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44E743-A9D0-BC8F-EF91-B3783307EC04}"/>
              </a:ext>
            </a:extLst>
          </p:cNvPr>
          <p:cNvSpPr txBox="1"/>
          <p:nvPr/>
        </p:nvSpPr>
        <p:spPr>
          <a:xfrm>
            <a:off x="942975" y="2690336"/>
            <a:ext cx="1030605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800" dirty="0"/>
              <a:t>La realización de estos ejercicios permitió reforzar los conocimientos del análisis sintáctico, comprendiendo la importancia de las gramáticas en la validación de instrucciones. Asimismo, se logró identificar errores estructurales y aplicar correctamente las reglas definidas.</a:t>
            </a:r>
          </a:p>
        </p:txBody>
      </p:sp>
    </p:spTree>
    <p:extLst>
      <p:ext uri="{BB962C8B-B14F-4D97-AF65-F5344CB8AC3E}">
        <p14:creationId xmlns:p14="http://schemas.microsoft.com/office/powerpoint/2010/main" val="4155922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54FE77-291F-6D16-F325-E56C3DDE4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2174"/>
            <a:ext cx="10515600" cy="5108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/>
              </a:rPr>
              <a:t>Fuente De Informacion</a:t>
            </a:r>
            <a:endParaRPr lang="es-MX" sz="4400" b="1" dirty="0">
              <a:solidFill>
                <a:schemeClr val="accent1"/>
              </a:solidFill>
              <a:latin typeface="+mj-lt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dirty="0"/>
              <a:t>LYA1 – Lenguajes y Autómatas I. Repositorio en GitHub.</a:t>
            </a:r>
            <a:br>
              <a:rPr lang="es-MX" dirty="0"/>
            </a:br>
            <a:r>
              <a:rPr lang="es-MX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https://github.com/rafaelrav8770/LYA1.git</a:t>
            </a:r>
            <a:endParaRPr lang="es-MX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i="1" dirty="0"/>
              <a:t>Análisis sintáctico</a:t>
            </a:r>
            <a:r>
              <a:rPr lang="es-MX" dirty="0"/>
              <a:t> Video. YouTube. </a:t>
            </a:r>
            <a:r>
              <a:rPr lang="es-MX" dirty="0">
                <a:hlinkClick r:id="rId3"/>
              </a:rPr>
              <a:t>https://youtu.be/ylJ6i6xyplM</a:t>
            </a:r>
            <a:endParaRPr lang="es-MX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dirty="0"/>
              <a:t>Programación. Analizador léxico en Java paso a paso Video. YouTube. </a:t>
            </a:r>
            <a:r>
              <a:rPr lang="es-MX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https://youtu.be/hhBQ4KgO1gg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035360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1836</TotalTime>
  <Words>852</Words>
  <Application>Microsoft Office PowerPoint</Application>
  <PresentationFormat>Panorámica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Justificacion </vt:lpstr>
      <vt:lpstr>Ejercicio 1– Validación de sintaxis</vt:lpstr>
      <vt:lpstr>Ejercicio 2</vt:lpstr>
      <vt:lpstr>Ejercicio 3</vt:lpstr>
      <vt:lpstr>Ejercicio 4</vt:lpstr>
      <vt:lpstr>Ejercicio 5</vt:lpstr>
      <vt:lpstr>Ejercicio 1– Identificación de errores</vt:lpstr>
      <vt:lpstr>Ejercicio 2</vt:lpstr>
      <vt:lpstr>Ejercicio 3</vt:lpstr>
      <vt:lpstr>Ejercicio 4</vt:lpstr>
      <vt:lpstr>Ejercicio 5</vt:lpstr>
      <vt:lpstr>Resultados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34</cp:revision>
  <dcterms:created xsi:type="dcterms:W3CDTF">2026-02-14T13:39:49Z</dcterms:created>
  <dcterms:modified xsi:type="dcterms:W3CDTF">2026-03-27T02:55:48Z</dcterms:modified>
</cp:coreProperties>
</file>