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63" r:id="rId3"/>
    <p:sldId id="258" r:id="rId4"/>
    <p:sldId id="265" r:id="rId5"/>
    <p:sldId id="267" r:id="rId6"/>
    <p:sldId id="340" r:id="rId7"/>
    <p:sldId id="270" r:id="rId8"/>
    <p:sldId id="271" r:id="rId9"/>
    <p:sldId id="272" r:id="rId10"/>
    <p:sldId id="274" r:id="rId11"/>
    <p:sldId id="281" r:id="rId12"/>
    <p:sldId id="283" r:id="rId13"/>
    <p:sldId id="275" r:id="rId14"/>
    <p:sldId id="286" r:id="rId15"/>
    <p:sldId id="288" r:id="rId16"/>
    <p:sldId id="297" r:id="rId17"/>
    <p:sldId id="341" r:id="rId18"/>
    <p:sldId id="290" r:id="rId19"/>
    <p:sldId id="291" r:id="rId20"/>
    <p:sldId id="292" r:id="rId21"/>
    <p:sldId id="293" r:id="rId22"/>
    <p:sldId id="294" r:id="rId23"/>
    <p:sldId id="295" r:id="rId24"/>
    <p:sldId id="296" r:id="rId25"/>
    <p:sldId id="306" r:id="rId26"/>
    <p:sldId id="298" r:id="rId27"/>
    <p:sldId id="299" r:id="rId28"/>
    <p:sldId id="300" r:id="rId29"/>
    <p:sldId id="301" r:id="rId30"/>
    <p:sldId id="302" r:id="rId31"/>
    <p:sldId id="303" r:id="rId32"/>
    <p:sldId id="304" r:id="rId33"/>
    <p:sldId id="305" r:id="rId34"/>
    <p:sldId id="309" r:id="rId35"/>
    <p:sldId id="308" r:id="rId36"/>
    <p:sldId id="310" r:id="rId37"/>
    <p:sldId id="311" r:id="rId38"/>
    <p:sldId id="342" r:id="rId39"/>
    <p:sldId id="313" r:id="rId40"/>
    <p:sldId id="314" r:id="rId41"/>
    <p:sldId id="315" r:id="rId42"/>
    <p:sldId id="316" r:id="rId43"/>
    <p:sldId id="317" r:id="rId44"/>
    <p:sldId id="318" r:id="rId45"/>
    <p:sldId id="319" r:id="rId46"/>
    <p:sldId id="320" r:id="rId47"/>
    <p:sldId id="321" r:id="rId48"/>
    <p:sldId id="326" r:id="rId49"/>
    <p:sldId id="322" r:id="rId50"/>
    <p:sldId id="325" r:id="rId51"/>
    <p:sldId id="323" r:id="rId52"/>
    <p:sldId id="324" r:id="rId53"/>
    <p:sldId id="327" r:id="rId54"/>
    <p:sldId id="328" r:id="rId55"/>
    <p:sldId id="343" r:id="rId56"/>
    <p:sldId id="330" r:id="rId57"/>
    <p:sldId id="332" r:id="rId58"/>
    <p:sldId id="333" r:id="rId59"/>
    <p:sldId id="334" r:id="rId60"/>
    <p:sldId id="335" r:id="rId61"/>
    <p:sldId id="336" r:id="rId62"/>
    <p:sldId id="337" r:id="rId63"/>
    <p:sldId id="338" r:id="rId64"/>
    <p:sldId id="339" r:id="rId65"/>
    <p:sldId id="260" r:id="rId66"/>
    <p:sldId id="264" r:id="rId6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14/03/2026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18.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4.png"/><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3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3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4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4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4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4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4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5" Type="http://schemas.openxmlformats.org/officeDocument/2006/relationships/image" Target="../media/image122.png"/><Relationship Id="rId4" Type="http://schemas.openxmlformats.org/officeDocument/2006/relationships/image" Target="../media/image121.png"/></Relationships>
</file>

<file path=ppt/slides/_rels/slide4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4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5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5.png"/></Relationships>
</file>

<file path=ppt/slides/_rels/slide5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5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 Id="rId5" Type="http://schemas.openxmlformats.org/officeDocument/2006/relationships/image" Target="../media/image143.png"/><Relationship Id="rId4" Type="http://schemas.openxmlformats.org/officeDocument/2006/relationships/image" Target="../media/image1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56.xml.rels><?xml version="1.0" encoding="UTF-8" standalone="yes"?>
<Relationships xmlns="http://schemas.openxmlformats.org/package/2006/relationships"><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57.xml.rels><?xml version="1.0" encoding="UTF-8" standalone="yes"?>
<Relationships xmlns="http://schemas.openxmlformats.org/package/2006/relationships"><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58.xml.rels><?xml version="1.0" encoding="UTF-8" standalone="yes"?>
<Relationships xmlns="http://schemas.openxmlformats.org/package/2006/relationships"><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59.xml.rels><?xml version="1.0" encoding="UTF-8" standalone="yes"?>
<Relationships xmlns="http://schemas.openxmlformats.org/package/2006/relationships"><Relationship Id="rId3" Type="http://schemas.openxmlformats.org/officeDocument/2006/relationships/image" Target="../media/image169.png"/><Relationship Id="rId7" Type="http://schemas.openxmlformats.org/officeDocument/2006/relationships/image" Target="../media/image173.png"/><Relationship Id="rId2" Type="http://schemas.openxmlformats.org/officeDocument/2006/relationships/image" Target="../media/image168.png"/><Relationship Id="rId1" Type="http://schemas.openxmlformats.org/officeDocument/2006/relationships/slideLayout" Target="../slideLayouts/slideLayout2.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60.xml.rels><?xml version="1.0" encoding="UTF-8" standalone="yes"?>
<Relationships xmlns="http://schemas.openxmlformats.org/package/2006/relationships"><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_rels/slide61.xml.rels><?xml version="1.0" encoding="UTF-8" standalone="yes"?>
<Relationships xmlns="http://schemas.openxmlformats.org/package/2006/relationships"><Relationship Id="rId3" Type="http://schemas.openxmlformats.org/officeDocument/2006/relationships/image" Target="../media/image181.png"/><Relationship Id="rId7" Type="http://schemas.openxmlformats.org/officeDocument/2006/relationships/image" Target="../media/image185.png"/><Relationship Id="rId2"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s>
</file>

<file path=ppt/slides/_rels/slide62.xml.rels><?xml version="1.0" encoding="UTF-8" standalone="yes"?>
<Relationships xmlns="http://schemas.openxmlformats.org/package/2006/relationships"><Relationship Id="rId3" Type="http://schemas.openxmlformats.org/officeDocument/2006/relationships/image" Target="../media/image187.png"/><Relationship Id="rId7" Type="http://schemas.openxmlformats.org/officeDocument/2006/relationships/image" Target="../media/image191.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63.xml.rels><?xml version="1.0" encoding="UTF-8" standalone="yes"?>
<Relationships xmlns="http://schemas.openxmlformats.org/package/2006/relationships"><Relationship Id="rId3" Type="http://schemas.openxmlformats.org/officeDocument/2006/relationships/image" Target="../media/image193.png"/><Relationship Id="rId7" Type="http://schemas.openxmlformats.org/officeDocument/2006/relationships/image" Target="../media/image197.png"/><Relationship Id="rId2"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64.xml.rels><?xml version="1.0" encoding="UTF-8" standalone="yes"?>
<Relationships xmlns="http://schemas.openxmlformats.org/package/2006/relationships"><Relationship Id="rId3" Type="http://schemas.openxmlformats.org/officeDocument/2006/relationships/image" Target="../media/image199.png"/><Relationship Id="rId7" Type="http://schemas.openxmlformats.org/officeDocument/2006/relationships/image" Target="../media/image203.png"/><Relationship Id="rId2" Type="http://schemas.openxmlformats.org/officeDocument/2006/relationships/image" Target="../media/image198.png"/><Relationship Id="rId1" Type="http://schemas.openxmlformats.org/officeDocument/2006/relationships/slideLayout" Target="../slideLayouts/slideLayout2.xml"/><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youtu.be/4pF3KsPtDjo?si=dhEf5rFMHV8ps07r" TargetMode="External"/><Relationship Id="rId2" Type="http://schemas.openxmlformats.org/officeDocument/2006/relationships/hyperlink" Target="https://youtu.be/4pF3KsPtDjo?si=ZlsEUkkq1kFglAkJ" TargetMode="External"/><Relationship Id="rId1" Type="http://schemas.openxmlformats.org/officeDocument/2006/relationships/slideLayout" Target="../slideLayouts/slideLayout2.xml"/><Relationship Id="rId4" Type="http://schemas.openxmlformats.org/officeDocument/2006/relationships/hyperlink" Target="https://github.com/rafaelrav8770/LYA1.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627561"/>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3.3 –</a:t>
            </a:r>
            <a:r>
              <a:rPr lang="es-MX" sz="2000" b="1" kern="0" dirty="0">
                <a:latin typeface="Arial" panose="020B0604020202020204" pitchFamily="34" charset="0"/>
                <a:ea typeface="Arial" panose="020B0604020202020204" pitchFamily="34" charset="0"/>
                <a:cs typeface="Arial" panose="020B0604020202020204" pitchFamily="34" charset="0"/>
              </a:rPr>
              <a:t>EJERCICIOS</a:t>
            </a:r>
            <a:r>
              <a:rPr lang="es-MX" dirty="0"/>
              <a:t>	</a:t>
            </a: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31</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ENERO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lgn="just">
              <a:buNone/>
            </a:pPr>
            <a:r>
              <a:rPr lang="es-MX" dirty="0"/>
              <a:t>La teoría de autómatas es una de las bases de la computación teórica, ya que permite estudiar cómo las máquinas pueden reconocer y procesar lenguajes formales mediante estructuras matemáticas. se trabajan diferentes ejercicios relacionados con autómatas finitos deterministas (AFD), autómatas finitos no deterministas (AFND) y expresiones regulares y el proceso de minimización de autómatas</a:t>
            </a:r>
          </a:p>
          <a:p>
            <a:pPr marL="0" indent="0" algn="just">
              <a:buNone/>
            </a:pPr>
            <a:r>
              <a:rPr lang="es-MX" dirty="0"/>
              <a:t>A través de la construcción de distintos autómatas y la simulación de cadenas, se busca comprender cómo funcionan estos modelos y cómo pueden utilizarse para reconocer patrones dentro de un lenguaje formal. </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866775"/>
            <a:ext cx="10515600" cy="5310188"/>
          </a:xfrm>
        </p:spPr>
        <p:txBody>
          <a:bodyPr>
            <a:normAutofit/>
          </a:bodyPr>
          <a:lstStyle/>
          <a:p>
            <a:pPr marL="0" indent="0">
              <a:buNone/>
            </a:pPr>
            <a:r>
              <a:rPr lang="es-MX" sz="4400" b="1" dirty="0">
                <a:solidFill>
                  <a:schemeClr val="accent1"/>
                </a:solidFill>
                <a:latin typeface="+mj-lt"/>
              </a:rPr>
              <a:t>Objetivo</a:t>
            </a:r>
          </a:p>
          <a:p>
            <a:pPr marL="0" indent="0">
              <a:buNone/>
            </a:pPr>
            <a:endParaRPr lang="es-MX" sz="4400" b="1" dirty="0">
              <a:solidFill>
                <a:schemeClr val="accent1"/>
              </a:solidFill>
              <a:latin typeface="+mj-lt"/>
            </a:endParaRPr>
          </a:p>
          <a:p>
            <a:pPr marL="0" indent="0" algn="just">
              <a:buNone/>
            </a:pPr>
            <a:r>
              <a:rPr lang="es-MX" dirty="0"/>
              <a:t>Aplicando estos conceptos de la teoría de autómatas mediante la construcción y simulación de autómatas finitos deterministas, autómatas finitos no </a:t>
            </a:r>
            <a:r>
              <a:rPr lang="es-MX" dirty="0" err="1"/>
              <a:t>deterministas,expresiones</a:t>
            </a:r>
            <a:r>
              <a:rPr lang="es-MX" dirty="0"/>
              <a:t> regulares y el proceso de minimización de autómatas, con el fin de comprender cómo se reconocen y procesan cadenas dentro de un lenguaje formal.</a:t>
            </a:r>
          </a:p>
          <a:p>
            <a:pPr marL="0" indent="0">
              <a:buNone/>
            </a:pPr>
            <a:r>
              <a:rPr lang="es-MX" dirty="0"/>
              <a:t> </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75308F-4EB6-5B0A-51AF-F3C8D19A4C1E}"/>
              </a:ext>
            </a:extLst>
          </p:cNvPr>
          <p:cNvSpPr>
            <a:spLocks noGrp="1"/>
          </p:cNvSpPr>
          <p:nvPr>
            <p:ph type="title"/>
          </p:nvPr>
        </p:nvSpPr>
        <p:spPr/>
        <p:txBody>
          <a:bodyPr/>
          <a:lstStyle/>
          <a:p>
            <a:r>
              <a:rPr lang="es-MX" b="1" dirty="0" err="1">
                <a:solidFill>
                  <a:schemeClr val="accent1"/>
                </a:solidFill>
              </a:rPr>
              <a:t>justificacion</a:t>
            </a:r>
            <a:endParaRPr lang="es-MX" b="1" dirty="0">
              <a:solidFill>
                <a:schemeClr val="accent1"/>
              </a:solidFill>
            </a:endParaRPr>
          </a:p>
        </p:txBody>
      </p:sp>
      <p:sp>
        <p:nvSpPr>
          <p:cNvPr id="3" name="Marcador de contenido 2">
            <a:extLst>
              <a:ext uri="{FF2B5EF4-FFF2-40B4-BE49-F238E27FC236}">
                <a16:creationId xmlns:a16="http://schemas.microsoft.com/office/drawing/2014/main" id="{863D2D70-269E-F2DD-7B04-940061E8E054}"/>
              </a:ext>
            </a:extLst>
          </p:cNvPr>
          <p:cNvSpPr>
            <a:spLocks noGrp="1"/>
          </p:cNvSpPr>
          <p:nvPr>
            <p:ph idx="1"/>
          </p:nvPr>
        </p:nvSpPr>
        <p:spPr/>
        <p:txBody>
          <a:bodyPr>
            <a:normAutofit/>
          </a:bodyPr>
          <a:lstStyle/>
          <a:p>
            <a:pPr marL="0" indent="0" algn="just">
              <a:buNone/>
            </a:pPr>
            <a:r>
              <a:rPr lang="es-MX" dirty="0"/>
              <a:t>La realización de esta actividad permite reforzar los conocimientos adquiridos Mediante el desarrollo de ejercicios prácticos en </a:t>
            </a:r>
            <a:r>
              <a:rPr lang="es-MX" dirty="0" err="1"/>
              <a:t>jflap</a:t>
            </a:r>
            <a:r>
              <a:rPr lang="es-MX" dirty="0"/>
              <a:t> y es posible comprender de manera más clara cómo se construyen los estados, las transiciones y los procesos de simulación de un autómata. el reconocimiento de patrones en distintos sistemas computacionales. Por ello, la práctica resulta importante para fortalecer las habilidades de análisis lógico.</a:t>
            </a:r>
          </a:p>
        </p:txBody>
      </p:sp>
    </p:spTree>
    <p:extLst>
      <p:ext uri="{BB962C8B-B14F-4D97-AF65-F5344CB8AC3E}">
        <p14:creationId xmlns:p14="http://schemas.microsoft.com/office/powerpoint/2010/main" val="2985560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E98D4E-31D0-DFD3-CFDB-BF941ABA9537}"/>
              </a:ext>
            </a:extLst>
          </p:cNvPr>
          <p:cNvSpPr>
            <a:spLocks noGrp="1"/>
          </p:cNvSpPr>
          <p:nvPr>
            <p:ph type="title"/>
          </p:nvPr>
        </p:nvSpPr>
        <p:spPr>
          <a:xfrm>
            <a:off x="838200" y="365125"/>
            <a:ext cx="7333527" cy="375655"/>
          </a:xfrm>
        </p:spPr>
        <p:txBody>
          <a:bodyPr>
            <a:normAutofit fontScale="90000"/>
          </a:bodyPr>
          <a:lstStyle/>
          <a:p>
            <a:r>
              <a:rPr lang="es-MX" b="1" dirty="0">
                <a:solidFill>
                  <a:schemeClr val="accent1"/>
                </a:solidFill>
              </a:rPr>
              <a:t>Construcción de AFD </a:t>
            </a:r>
          </a:p>
        </p:txBody>
      </p:sp>
      <p:sp>
        <p:nvSpPr>
          <p:cNvPr id="4" name="CuadroTexto 3">
            <a:extLst>
              <a:ext uri="{FF2B5EF4-FFF2-40B4-BE49-F238E27FC236}">
                <a16:creationId xmlns:a16="http://schemas.microsoft.com/office/drawing/2014/main" id="{C67CFABC-1852-5260-98D7-F13E4810E06B}"/>
              </a:ext>
            </a:extLst>
          </p:cNvPr>
          <p:cNvSpPr txBox="1"/>
          <p:nvPr/>
        </p:nvSpPr>
        <p:spPr>
          <a:xfrm>
            <a:off x="1219199" y="1644345"/>
            <a:ext cx="10048875" cy="3878754"/>
          </a:xfrm>
          <a:prstGeom prst="rect">
            <a:avLst/>
          </a:prstGeom>
          <a:noFill/>
        </p:spPr>
        <p:txBody>
          <a:bodyPr wrap="square">
            <a:spAutoFit/>
          </a:bodyPr>
          <a:lstStyle/>
          <a:p>
            <a:pPr algn="just">
              <a:lnSpc>
                <a:spcPct val="115000"/>
              </a:lnSpc>
              <a:spcAft>
                <a:spcPts val="800"/>
              </a:spcAft>
              <a:buNone/>
            </a:pPr>
            <a:r>
              <a:rPr lang="es-MX" sz="2400" kern="100" dirty="0">
                <a:effectLst/>
                <a:latin typeface="Arial" panose="020B0604020202020204" pitchFamily="34" charset="0"/>
                <a:ea typeface="Calibri" panose="020F0502020204030204" pitchFamily="34" charset="0"/>
                <a:cs typeface="Times New Roman" panose="02020603050405020304" pitchFamily="18" charset="0"/>
              </a:rPr>
              <a:t>La construcción del autómata se realizó siguiendo una secuencia de pasos. En primer lugar, se utilizó la herramienta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Create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State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para agregar los estados requeridos, señalando el estado inicial y los estados de aceptación. Posteriormente, mediante la opción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Create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Transition</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se definieron las transiciones correspondientes entre los estados con base en los símbolos del alfabeto. Por último, con la opción Input / Step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by</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State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se simuló el comportamiento del autómata para comprobar su funcionamiento y verificar que el AFD reconoce correctamente el lenguaje establecido.</a:t>
            </a:r>
          </a:p>
        </p:txBody>
      </p:sp>
    </p:spTree>
    <p:extLst>
      <p:ext uri="{BB962C8B-B14F-4D97-AF65-F5344CB8AC3E}">
        <p14:creationId xmlns:p14="http://schemas.microsoft.com/office/powerpoint/2010/main" val="3930373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EF09E-E33B-9B5C-FB96-3EC276A89543}"/>
            </a:ext>
          </a:extLst>
        </p:cNvPr>
        <p:cNvGrpSpPr/>
        <p:nvPr/>
      </p:nvGrpSpPr>
      <p:grpSpPr>
        <a:xfrm>
          <a:off x="0" y="0"/>
          <a:ext cx="0" cy="0"/>
          <a:chOff x="0" y="0"/>
          <a:chExt cx="0" cy="0"/>
        </a:xfrm>
      </p:grpSpPr>
      <p:sp>
        <p:nvSpPr>
          <p:cNvPr id="12" name="Título 1">
            <a:extLst>
              <a:ext uri="{FF2B5EF4-FFF2-40B4-BE49-F238E27FC236}">
                <a16:creationId xmlns:a16="http://schemas.microsoft.com/office/drawing/2014/main" id="{19471050-FC8E-0E21-9A08-4DECDD14CC34}"/>
              </a:ext>
            </a:extLst>
          </p:cNvPr>
          <p:cNvSpPr txBox="1">
            <a:spLocks/>
          </p:cNvSpPr>
          <p:nvPr/>
        </p:nvSpPr>
        <p:spPr>
          <a:xfrm>
            <a:off x="605599" y="433757"/>
            <a:ext cx="7333527" cy="375655"/>
          </a:xfrm>
          <a:prstGeom prst="rect">
            <a:avLst/>
          </a:prstGeom>
        </p:spPr>
        <p:txBody>
          <a:bodyPr vert="horz" lIns="91440" tIns="45720" rIns="91440" bIns="45720" rtlCol="0" anchor="ct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t>Ejercicio 1</a:t>
            </a:r>
          </a:p>
        </p:txBody>
      </p:sp>
      <p:pic>
        <p:nvPicPr>
          <p:cNvPr id="17" name="Imagen 16">
            <a:extLst>
              <a:ext uri="{FF2B5EF4-FFF2-40B4-BE49-F238E27FC236}">
                <a16:creationId xmlns:a16="http://schemas.microsoft.com/office/drawing/2014/main" id="{4EBA8570-A64E-44DB-C8DB-AF8DE95F86B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1039" y="941492"/>
            <a:ext cx="3366400" cy="1893600"/>
          </a:xfrm>
          <a:prstGeom prst="rect">
            <a:avLst/>
          </a:prstGeom>
        </p:spPr>
      </p:pic>
      <p:sp>
        <p:nvSpPr>
          <p:cNvPr id="19" name="CuadroTexto 18">
            <a:extLst>
              <a:ext uri="{FF2B5EF4-FFF2-40B4-BE49-F238E27FC236}">
                <a16:creationId xmlns:a16="http://schemas.microsoft.com/office/drawing/2014/main" id="{46EF479B-23E7-5AD7-9EE9-6A0B3109A73C}"/>
              </a:ext>
            </a:extLst>
          </p:cNvPr>
          <p:cNvSpPr txBox="1"/>
          <p:nvPr/>
        </p:nvSpPr>
        <p:spPr>
          <a:xfrm>
            <a:off x="901101" y="3085648"/>
            <a:ext cx="2975016" cy="369332"/>
          </a:xfrm>
          <a:prstGeom prst="rect">
            <a:avLst/>
          </a:prstGeom>
          <a:noFill/>
        </p:spPr>
        <p:txBody>
          <a:bodyPr wrap="square">
            <a:spAutoFit/>
          </a:bodyPr>
          <a:lstStyle/>
          <a:p>
            <a:r>
              <a:rPr lang="es-MX" b="1" dirty="0"/>
              <a:t>Paso 1:</a:t>
            </a:r>
            <a:r>
              <a:rPr lang="es-MX" dirty="0"/>
              <a:t> creación de estados</a:t>
            </a:r>
          </a:p>
        </p:txBody>
      </p:sp>
      <p:sp>
        <p:nvSpPr>
          <p:cNvPr id="30" name="CuadroTexto 29">
            <a:extLst>
              <a:ext uri="{FF2B5EF4-FFF2-40B4-BE49-F238E27FC236}">
                <a16:creationId xmlns:a16="http://schemas.microsoft.com/office/drawing/2014/main" id="{F60F737D-0965-CD67-B4FB-5A72531974EB}"/>
              </a:ext>
            </a:extLst>
          </p:cNvPr>
          <p:cNvSpPr txBox="1"/>
          <p:nvPr/>
        </p:nvSpPr>
        <p:spPr>
          <a:xfrm>
            <a:off x="5702055" y="3136468"/>
            <a:ext cx="2826537" cy="369332"/>
          </a:xfrm>
          <a:prstGeom prst="rect">
            <a:avLst/>
          </a:prstGeom>
          <a:noFill/>
        </p:spPr>
        <p:txBody>
          <a:bodyPr wrap="square">
            <a:spAutoFit/>
          </a:bodyPr>
          <a:lstStyle/>
          <a:p>
            <a:r>
              <a:rPr lang="es-MX" b="1" dirty="0"/>
              <a:t>Paso 2:</a:t>
            </a:r>
            <a:r>
              <a:rPr lang="es-MX" dirty="0"/>
              <a:t> autómata final</a:t>
            </a:r>
          </a:p>
        </p:txBody>
      </p:sp>
      <p:pic>
        <p:nvPicPr>
          <p:cNvPr id="32" name="Imagen 31">
            <a:extLst>
              <a:ext uri="{FF2B5EF4-FFF2-40B4-BE49-F238E27FC236}">
                <a16:creationId xmlns:a16="http://schemas.microsoft.com/office/drawing/2014/main" id="{56A87DCE-20D6-08DF-8292-3640E49A61A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702055" y="1051550"/>
            <a:ext cx="3366400" cy="1893600"/>
          </a:xfrm>
          <a:prstGeom prst="rect">
            <a:avLst/>
          </a:prstGeom>
        </p:spPr>
      </p:pic>
      <p:sp>
        <p:nvSpPr>
          <p:cNvPr id="8" name="CuadroTexto 7">
            <a:extLst>
              <a:ext uri="{FF2B5EF4-FFF2-40B4-BE49-F238E27FC236}">
                <a16:creationId xmlns:a16="http://schemas.microsoft.com/office/drawing/2014/main" id="{5606DFD7-2615-B320-DAC4-7F1F04C38883}"/>
              </a:ext>
            </a:extLst>
          </p:cNvPr>
          <p:cNvSpPr txBox="1"/>
          <p:nvPr/>
        </p:nvSpPr>
        <p:spPr>
          <a:xfrm>
            <a:off x="5702055" y="5832857"/>
            <a:ext cx="3870960" cy="369332"/>
          </a:xfrm>
          <a:prstGeom prst="rect">
            <a:avLst/>
          </a:prstGeom>
          <a:noFill/>
        </p:spPr>
        <p:txBody>
          <a:bodyPr wrap="square">
            <a:spAutoFit/>
          </a:bodyPr>
          <a:lstStyle/>
          <a:p>
            <a:r>
              <a:rPr lang="es-MX" b="1" dirty="0"/>
              <a:t>Paso 4</a:t>
            </a:r>
            <a:r>
              <a:rPr lang="es-MX" dirty="0"/>
              <a:t>: Resultado de la simulación</a:t>
            </a:r>
          </a:p>
        </p:txBody>
      </p:sp>
      <p:pic>
        <p:nvPicPr>
          <p:cNvPr id="5" name="Imagen 4">
            <a:extLst>
              <a:ext uri="{FF2B5EF4-FFF2-40B4-BE49-F238E27FC236}">
                <a16:creationId xmlns:a16="http://schemas.microsoft.com/office/drawing/2014/main" id="{0FECC6CC-21E6-6301-EB48-F37F071635F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02055" y="3627869"/>
            <a:ext cx="3366400" cy="1893600"/>
          </a:xfrm>
          <a:prstGeom prst="rect">
            <a:avLst/>
          </a:prstGeom>
        </p:spPr>
      </p:pic>
      <p:sp>
        <p:nvSpPr>
          <p:cNvPr id="21" name="CuadroTexto 20">
            <a:extLst>
              <a:ext uri="{FF2B5EF4-FFF2-40B4-BE49-F238E27FC236}">
                <a16:creationId xmlns:a16="http://schemas.microsoft.com/office/drawing/2014/main" id="{E6D7C4CF-8A61-32B8-D66C-763AADCA9AB1}"/>
              </a:ext>
            </a:extLst>
          </p:cNvPr>
          <p:cNvSpPr txBox="1"/>
          <p:nvPr/>
        </p:nvSpPr>
        <p:spPr>
          <a:xfrm>
            <a:off x="872695" y="5783033"/>
            <a:ext cx="3423212"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t>
            </a:r>
            <a:r>
              <a:rPr lang="es-MX" dirty="0" err="1"/>
              <a:t>bbab</a:t>
            </a:r>
            <a:endParaRPr lang="es-MX" dirty="0"/>
          </a:p>
        </p:txBody>
      </p:sp>
      <p:pic>
        <p:nvPicPr>
          <p:cNvPr id="28" name="Imagen 27">
            <a:extLst>
              <a:ext uri="{FF2B5EF4-FFF2-40B4-BE49-F238E27FC236}">
                <a16:creationId xmlns:a16="http://schemas.microsoft.com/office/drawing/2014/main" id="{17523FBC-CBE5-BE60-0493-C5DF724793E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01101" y="3627869"/>
            <a:ext cx="3366400" cy="1893600"/>
          </a:xfrm>
          <a:prstGeom prst="rect">
            <a:avLst/>
          </a:prstGeom>
        </p:spPr>
      </p:pic>
    </p:spTree>
    <p:extLst>
      <p:ext uri="{BB962C8B-B14F-4D97-AF65-F5344CB8AC3E}">
        <p14:creationId xmlns:p14="http://schemas.microsoft.com/office/powerpoint/2010/main" val="1660963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FF29E27-458C-34A0-ABE4-F1E00D0063C0}"/>
              </a:ext>
            </a:extLst>
          </p:cNvPr>
          <p:cNvSpPr txBox="1"/>
          <p:nvPr/>
        </p:nvSpPr>
        <p:spPr>
          <a:xfrm>
            <a:off x="838200" y="496371"/>
            <a:ext cx="6096000" cy="369332"/>
          </a:xfrm>
          <a:prstGeom prst="rect">
            <a:avLst/>
          </a:prstGeom>
          <a:noFill/>
        </p:spPr>
        <p:txBody>
          <a:bodyPr wrap="square">
            <a:spAutoFit/>
          </a:bodyPr>
          <a:lstStyle/>
          <a:p>
            <a:r>
              <a:rPr lang="es-MX" b="1" dirty="0"/>
              <a:t>Ejercicio 2</a:t>
            </a:r>
          </a:p>
        </p:txBody>
      </p:sp>
      <p:pic>
        <p:nvPicPr>
          <p:cNvPr id="7" name="Imagen 6">
            <a:extLst>
              <a:ext uri="{FF2B5EF4-FFF2-40B4-BE49-F238E27FC236}">
                <a16:creationId xmlns:a16="http://schemas.microsoft.com/office/drawing/2014/main" id="{2EC46BA8-64BB-BF51-84ED-3D6654EF457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14399" y="1111885"/>
            <a:ext cx="3366400" cy="1893600"/>
          </a:xfrm>
          <a:prstGeom prst="rect">
            <a:avLst/>
          </a:prstGeom>
        </p:spPr>
      </p:pic>
      <p:sp>
        <p:nvSpPr>
          <p:cNvPr id="12" name="CuadroTexto 11">
            <a:extLst>
              <a:ext uri="{FF2B5EF4-FFF2-40B4-BE49-F238E27FC236}">
                <a16:creationId xmlns:a16="http://schemas.microsoft.com/office/drawing/2014/main" id="{F48DC620-34AA-7657-962C-1D1A50E6C181}"/>
              </a:ext>
            </a:extLst>
          </p:cNvPr>
          <p:cNvSpPr txBox="1"/>
          <p:nvPr/>
        </p:nvSpPr>
        <p:spPr>
          <a:xfrm>
            <a:off x="838200" y="3067001"/>
            <a:ext cx="2975016" cy="369332"/>
          </a:xfrm>
          <a:prstGeom prst="rect">
            <a:avLst/>
          </a:prstGeom>
          <a:noFill/>
        </p:spPr>
        <p:txBody>
          <a:bodyPr wrap="square">
            <a:spAutoFit/>
          </a:bodyPr>
          <a:lstStyle/>
          <a:p>
            <a:r>
              <a:rPr lang="es-MX" b="1" dirty="0"/>
              <a:t>Paso 1:</a:t>
            </a:r>
            <a:r>
              <a:rPr lang="es-MX" dirty="0"/>
              <a:t> creación de estados</a:t>
            </a:r>
          </a:p>
        </p:txBody>
      </p:sp>
      <p:pic>
        <p:nvPicPr>
          <p:cNvPr id="15" name="Imagen 14">
            <a:extLst>
              <a:ext uri="{FF2B5EF4-FFF2-40B4-BE49-F238E27FC236}">
                <a16:creationId xmlns:a16="http://schemas.microsoft.com/office/drawing/2014/main" id="{6867252C-C634-4F4C-4CC0-7B8EC75496F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78421" y="1173401"/>
            <a:ext cx="3366400" cy="1893600"/>
          </a:xfrm>
          <a:prstGeom prst="rect">
            <a:avLst/>
          </a:prstGeom>
        </p:spPr>
      </p:pic>
      <p:sp>
        <p:nvSpPr>
          <p:cNvPr id="17" name="CuadroTexto 16">
            <a:extLst>
              <a:ext uri="{FF2B5EF4-FFF2-40B4-BE49-F238E27FC236}">
                <a16:creationId xmlns:a16="http://schemas.microsoft.com/office/drawing/2014/main" id="{C9A811C9-108C-E054-9938-0C24BF863E63}"/>
              </a:ext>
            </a:extLst>
          </p:cNvPr>
          <p:cNvSpPr txBox="1"/>
          <p:nvPr/>
        </p:nvSpPr>
        <p:spPr>
          <a:xfrm>
            <a:off x="6397413" y="3055522"/>
            <a:ext cx="2905760" cy="369332"/>
          </a:xfrm>
          <a:prstGeom prst="rect">
            <a:avLst/>
          </a:prstGeom>
          <a:noFill/>
        </p:spPr>
        <p:txBody>
          <a:bodyPr wrap="square">
            <a:spAutoFit/>
          </a:bodyPr>
          <a:lstStyle/>
          <a:p>
            <a:r>
              <a:rPr lang="es-MX" b="1" dirty="0"/>
              <a:t>Paso 2:</a:t>
            </a:r>
            <a:r>
              <a:rPr lang="es-MX" dirty="0"/>
              <a:t> autómata final</a:t>
            </a:r>
          </a:p>
        </p:txBody>
      </p:sp>
      <p:pic>
        <p:nvPicPr>
          <p:cNvPr id="11" name="Imagen 10">
            <a:extLst>
              <a:ext uri="{FF2B5EF4-FFF2-40B4-BE49-F238E27FC236}">
                <a16:creationId xmlns:a16="http://schemas.microsoft.com/office/drawing/2014/main" id="{AC72FB46-B483-994A-0FD1-06A7F58F7C2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71211" y="3497849"/>
            <a:ext cx="3366400" cy="1893600"/>
          </a:xfrm>
          <a:prstGeom prst="rect">
            <a:avLst/>
          </a:prstGeom>
        </p:spPr>
      </p:pic>
      <p:sp>
        <p:nvSpPr>
          <p:cNvPr id="13" name="CuadroTexto 12">
            <a:extLst>
              <a:ext uri="{FF2B5EF4-FFF2-40B4-BE49-F238E27FC236}">
                <a16:creationId xmlns:a16="http://schemas.microsoft.com/office/drawing/2014/main" id="{1DB4125D-D29E-A5EC-174D-E20218ECFF9E}"/>
              </a:ext>
            </a:extLst>
          </p:cNvPr>
          <p:cNvSpPr txBox="1"/>
          <p:nvPr/>
        </p:nvSpPr>
        <p:spPr>
          <a:xfrm>
            <a:off x="914399" y="5536199"/>
            <a:ext cx="3423212"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11211</a:t>
            </a:r>
          </a:p>
        </p:txBody>
      </p:sp>
      <p:pic>
        <p:nvPicPr>
          <p:cNvPr id="2" name="Imagen 1">
            <a:extLst>
              <a:ext uri="{FF2B5EF4-FFF2-40B4-BE49-F238E27FC236}">
                <a16:creationId xmlns:a16="http://schemas.microsoft.com/office/drawing/2014/main" id="{FCAAC19B-3BE5-5A20-7007-5B0946E178E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113981" y="3497849"/>
            <a:ext cx="3366400" cy="1893600"/>
          </a:xfrm>
          <a:prstGeom prst="rect">
            <a:avLst/>
          </a:prstGeom>
        </p:spPr>
      </p:pic>
      <p:sp>
        <p:nvSpPr>
          <p:cNvPr id="6" name="CuadroTexto 5">
            <a:extLst>
              <a:ext uri="{FF2B5EF4-FFF2-40B4-BE49-F238E27FC236}">
                <a16:creationId xmlns:a16="http://schemas.microsoft.com/office/drawing/2014/main" id="{099EBCD5-6541-FD72-E509-F86990526E11}"/>
              </a:ext>
            </a:extLst>
          </p:cNvPr>
          <p:cNvSpPr txBox="1"/>
          <p:nvPr/>
        </p:nvSpPr>
        <p:spPr>
          <a:xfrm>
            <a:off x="5954149" y="5490032"/>
            <a:ext cx="3870960" cy="369332"/>
          </a:xfrm>
          <a:prstGeom prst="rect">
            <a:avLst/>
          </a:prstGeom>
          <a:noFill/>
        </p:spPr>
        <p:txBody>
          <a:bodyPr wrap="square">
            <a:spAutoFit/>
          </a:bodyPr>
          <a:lstStyle/>
          <a:p>
            <a:r>
              <a:rPr lang="es-MX" b="1" dirty="0"/>
              <a:t>Paso 4</a:t>
            </a:r>
            <a:r>
              <a:rPr lang="es-MX" dirty="0"/>
              <a:t>: Resultado de la simulación</a:t>
            </a:r>
          </a:p>
        </p:txBody>
      </p:sp>
    </p:spTree>
    <p:extLst>
      <p:ext uri="{BB962C8B-B14F-4D97-AF65-F5344CB8AC3E}">
        <p14:creationId xmlns:p14="http://schemas.microsoft.com/office/powerpoint/2010/main" val="1044530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DBEB103-95A5-AE6F-2A84-237A72CDC82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49020" y="1256665"/>
            <a:ext cx="3366400" cy="1893600"/>
          </a:xfrm>
          <a:prstGeom prst="rect">
            <a:avLst/>
          </a:prstGeom>
        </p:spPr>
      </p:pic>
      <p:sp>
        <p:nvSpPr>
          <p:cNvPr id="6" name="CuadroTexto 5">
            <a:extLst>
              <a:ext uri="{FF2B5EF4-FFF2-40B4-BE49-F238E27FC236}">
                <a16:creationId xmlns:a16="http://schemas.microsoft.com/office/drawing/2014/main" id="{74AF2655-8429-671A-E880-C33BB20779ED}"/>
              </a:ext>
            </a:extLst>
          </p:cNvPr>
          <p:cNvSpPr txBox="1"/>
          <p:nvPr/>
        </p:nvSpPr>
        <p:spPr>
          <a:xfrm>
            <a:off x="838200" y="496371"/>
            <a:ext cx="6096000" cy="369332"/>
          </a:xfrm>
          <a:prstGeom prst="rect">
            <a:avLst/>
          </a:prstGeom>
          <a:noFill/>
        </p:spPr>
        <p:txBody>
          <a:bodyPr wrap="square">
            <a:spAutoFit/>
          </a:bodyPr>
          <a:lstStyle/>
          <a:p>
            <a:r>
              <a:rPr lang="es-MX" b="1" dirty="0"/>
              <a:t>Ejercicio 3</a:t>
            </a:r>
          </a:p>
        </p:txBody>
      </p:sp>
      <p:pic>
        <p:nvPicPr>
          <p:cNvPr id="11" name="Imagen 10">
            <a:extLst>
              <a:ext uri="{FF2B5EF4-FFF2-40B4-BE49-F238E27FC236}">
                <a16:creationId xmlns:a16="http://schemas.microsoft.com/office/drawing/2014/main" id="{E966E4D1-5DD3-CC30-F9FA-E2DBCB9EA46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3382" y="1256665"/>
            <a:ext cx="3366400" cy="1893600"/>
          </a:xfrm>
          <a:prstGeom prst="rect">
            <a:avLst/>
          </a:prstGeom>
        </p:spPr>
      </p:pic>
      <p:sp>
        <p:nvSpPr>
          <p:cNvPr id="13" name="CuadroTexto 12">
            <a:extLst>
              <a:ext uri="{FF2B5EF4-FFF2-40B4-BE49-F238E27FC236}">
                <a16:creationId xmlns:a16="http://schemas.microsoft.com/office/drawing/2014/main" id="{B89B4D67-E6DA-763F-BAAB-34EFDF48DB6D}"/>
              </a:ext>
            </a:extLst>
          </p:cNvPr>
          <p:cNvSpPr txBox="1"/>
          <p:nvPr/>
        </p:nvSpPr>
        <p:spPr>
          <a:xfrm>
            <a:off x="1049020" y="3338404"/>
            <a:ext cx="3078480" cy="369332"/>
          </a:xfrm>
          <a:prstGeom prst="rect">
            <a:avLst/>
          </a:prstGeom>
          <a:noFill/>
        </p:spPr>
        <p:txBody>
          <a:bodyPr wrap="square">
            <a:spAutoFit/>
          </a:bodyPr>
          <a:lstStyle/>
          <a:p>
            <a:r>
              <a:rPr lang="es-MX" b="1" dirty="0"/>
              <a:t>Paso 1:</a:t>
            </a:r>
            <a:r>
              <a:rPr lang="es-MX" dirty="0"/>
              <a:t> creación de estados</a:t>
            </a:r>
          </a:p>
        </p:txBody>
      </p:sp>
      <p:sp>
        <p:nvSpPr>
          <p:cNvPr id="15" name="CuadroTexto 14">
            <a:extLst>
              <a:ext uri="{FF2B5EF4-FFF2-40B4-BE49-F238E27FC236}">
                <a16:creationId xmlns:a16="http://schemas.microsoft.com/office/drawing/2014/main" id="{1B959AAB-81AF-8EF6-9CF2-553703538AD8}"/>
              </a:ext>
            </a:extLst>
          </p:cNvPr>
          <p:cNvSpPr txBox="1"/>
          <p:nvPr/>
        </p:nvSpPr>
        <p:spPr>
          <a:xfrm>
            <a:off x="6093382" y="3429000"/>
            <a:ext cx="3078480" cy="369332"/>
          </a:xfrm>
          <a:prstGeom prst="rect">
            <a:avLst/>
          </a:prstGeom>
          <a:noFill/>
        </p:spPr>
        <p:txBody>
          <a:bodyPr wrap="square">
            <a:spAutoFit/>
          </a:bodyPr>
          <a:lstStyle/>
          <a:p>
            <a:r>
              <a:rPr lang="es-MX" b="1" dirty="0"/>
              <a:t>Paso 2:</a:t>
            </a:r>
            <a:r>
              <a:rPr lang="es-MX" dirty="0"/>
              <a:t> autómata final</a:t>
            </a:r>
          </a:p>
        </p:txBody>
      </p:sp>
      <p:pic>
        <p:nvPicPr>
          <p:cNvPr id="2" name="Imagen 1">
            <a:extLst>
              <a:ext uri="{FF2B5EF4-FFF2-40B4-BE49-F238E27FC236}">
                <a16:creationId xmlns:a16="http://schemas.microsoft.com/office/drawing/2014/main" id="{B214D9C7-E1F5-BF09-2541-D95C2D47A71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93382" y="3825127"/>
            <a:ext cx="3366400" cy="1893600"/>
          </a:xfrm>
          <a:prstGeom prst="rect">
            <a:avLst/>
          </a:prstGeom>
        </p:spPr>
      </p:pic>
      <p:pic>
        <p:nvPicPr>
          <p:cNvPr id="8" name="Imagen 7">
            <a:extLst>
              <a:ext uri="{FF2B5EF4-FFF2-40B4-BE49-F238E27FC236}">
                <a16:creationId xmlns:a16="http://schemas.microsoft.com/office/drawing/2014/main" id="{72701678-1F40-94BA-22A3-0FF12E797FB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049020" y="3798332"/>
            <a:ext cx="3366400" cy="1893600"/>
          </a:xfrm>
          <a:prstGeom prst="rect">
            <a:avLst/>
          </a:prstGeom>
        </p:spPr>
      </p:pic>
      <p:sp>
        <p:nvSpPr>
          <p:cNvPr id="10" name="CuadroTexto 9">
            <a:extLst>
              <a:ext uri="{FF2B5EF4-FFF2-40B4-BE49-F238E27FC236}">
                <a16:creationId xmlns:a16="http://schemas.microsoft.com/office/drawing/2014/main" id="{1F2EC629-5623-35EE-C399-AEEF1622EA01}"/>
              </a:ext>
            </a:extLst>
          </p:cNvPr>
          <p:cNvSpPr txBox="1"/>
          <p:nvPr/>
        </p:nvSpPr>
        <p:spPr>
          <a:xfrm>
            <a:off x="1049020" y="5718727"/>
            <a:ext cx="4293164"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t>
            </a:r>
            <a:r>
              <a:rPr lang="es-MX" dirty="0" err="1"/>
              <a:t>aaa</a:t>
            </a:r>
            <a:endParaRPr lang="es-MX" dirty="0"/>
          </a:p>
        </p:txBody>
      </p:sp>
      <p:sp>
        <p:nvSpPr>
          <p:cNvPr id="9" name="CuadroTexto 8">
            <a:extLst>
              <a:ext uri="{FF2B5EF4-FFF2-40B4-BE49-F238E27FC236}">
                <a16:creationId xmlns:a16="http://schemas.microsoft.com/office/drawing/2014/main" id="{2D07978F-1F99-F022-5FD2-B4595CC10564}"/>
              </a:ext>
            </a:extLst>
          </p:cNvPr>
          <p:cNvSpPr txBox="1"/>
          <p:nvPr/>
        </p:nvSpPr>
        <p:spPr>
          <a:xfrm>
            <a:off x="6093382" y="5820540"/>
            <a:ext cx="3870960" cy="369332"/>
          </a:xfrm>
          <a:prstGeom prst="rect">
            <a:avLst/>
          </a:prstGeom>
          <a:noFill/>
        </p:spPr>
        <p:txBody>
          <a:bodyPr wrap="square">
            <a:spAutoFit/>
          </a:bodyPr>
          <a:lstStyle/>
          <a:p>
            <a:r>
              <a:rPr lang="es-MX" b="1" dirty="0"/>
              <a:t>Paso 4</a:t>
            </a:r>
            <a:r>
              <a:rPr lang="es-MX" dirty="0"/>
              <a:t>: Resultado de la simulación</a:t>
            </a:r>
          </a:p>
        </p:txBody>
      </p:sp>
    </p:spTree>
    <p:extLst>
      <p:ext uri="{BB962C8B-B14F-4D97-AF65-F5344CB8AC3E}">
        <p14:creationId xmlns:p14="http://schemas.microsoft.com/office/powerpoint/2010/main" val="4226146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4FAAFAD-F554-F0D9-FFAB-B98CF123B02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522095" y="1348630"/>
            <a:ext cx="3366399" cy="1893600"/>
          </a:xfrm>
          <a:prstGeom prst="rect">
            <a:avLst/>
          </a:prstGeom>
        </p:spPr>
      </p:pic>
      <p:sp>
        <p:nvSpPr>
          <p:cNvPr id="6" name="CuadroTexto 5">
            <a:extLst>
              <a:ext uri="{FF2B5EF4-FFF2-40B4-BE49-F238E27FC236}">
                <a16:creationId xmlns:a16="http://schemas.microsoft.com/office/drawing/2014/main" id="{CA05C42E-08CD-1C3A-94D3-7D71BAFC7641}"/>
              </a:ext>
            </a:extLst>
          </p:cNvPr>
          <p:cNvSpPr txBox="1"/>
          <p:nvPr/>
        </p:nvSpPr>
        <p:spPr>
          <a:xfrm>
            <a:off x="838200" y="496371"/>
            <a:ext cx="6096000" cy="369332"/>
          </a:xfrm>
          <a:prstGeom prst="rect">
            <a:avLst/>
          </a:prstGeom>
          <a:noFill/>
        </p:spPr>
        <p:txBody>
          <a:bodyPr wrap="square">
            <a:spAutoFit/>
          </a:bodyPr>
          <a:lstStyle/>
          <a:p>
            <a:r>
              <a:rPr lang="es-MX" b="1" dirty="0"/>
              <a:t>Ejercicio 4</a:t>
            </a:r>
          </a:p>
        </p:txBody>
      </p:sp>
      <p:pic>
        <p:nvPicPr>
          <p:cNvPr id="8" name="Imagen 7">
            <a:extLst>
              <a:ext uri="{FF2B5EF4-FFF2-40B4-BE49-F238E27FC236}">
                <a16:creationId xmlns:a16="http://schemas.microsoft.com/office/drawing/2014/main" id="{02EF37DE-C957-37BB-A805-FD6BC540A89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027545" y="1348630"/>
            <a:ext cx="3366400" cy="1893600"/>
          </a:xfrm>
          <a:prstGeom prst="rect">
            <a:avLst/>
          </a:prstGeom>
        </p:spPr>
      </p:pic>
      <p:pic>
        <p:nvPicPr>
          <p:cNvPr id="3" name="Imagen 2">
            <a:extLst>
              <a:ext uri="{FF2B5EF4-FFF2-40B4-BE49-F238E27FC236}">
                <a16:creationId xmlns:a16="http://schemas.microsoft.com/office/drawing/2014/main" id="{85327AE1-13A9-72A8-F660-AC1415AA8B68}"/>
              </a:ext>
            </a:extLst>
          </p:cNvPr>
          <p:cNvPicPr>
            <a:picLocks noChangeAspect="1"/>
          </p:cNvPicPr>
          <p:nvPr/>
        </p:nvPicPr>
        <p:blipFill>
          <a:blip r:embed="rId4"/>
          <a:stretch>
            <a:fillRect/>
          </a:stretch>
        </p:blipFill>
        <p:spPr>
          <a:xfrm>
            <a:off x="1390651" y="3495770"/>
            <a:ext cx="3133725" cy="495300"/>
          </a:xfrm>
          <a:prstGeom prst="rect">
            <a:avLst/>
          </a:prstGeom>
        </p:spPr>
      </p:pic>
      <p:pic>
        <p:nvPicPr>
          <p:cNvPr id="7" name="Imagen 6">
            <a:extLst>
              <a:ext uri="{FF2B5EF4-FFF2-40B4-BE49-F238E27FC236}">
                <a16:creationId xmlns:a16="http://schemas.microsoft.com/office/drawing/2014/main" id="{D73D9A96-3C89-5926-1598-CCA786D45454}"/>
              </a:ext>
            </a:extLst>
          </p:cNvPr>
          <p:cNvPicPr>
            <a:picLocks noChangeAspect="1"/>
          </p:cNvPicPr>
          <p:nvPr/>
        </p:nvPicPr>
        <p:blipFill>
          <a:blip r:embed="rId5"/>
          <a:stretch>
            <a:fillRect/>
          </a:stretch>
        </p:blipFill>
        <p:spPr>
          <a:xfrm>
            <a:off x="7124700" y="3495770"/>
            <a:ext cx="3124200" cy="495300"/>
          </a:xfrm>
          <a:prstGeom prst="rect">
            <a:avLst/>
          </a:prstGeom>
        </p:spPr>
      </p:pic>
      <p:pic>
        <p:nvPicPr>
          <p:cNvPr id="11" name="Imagen 10">
            <a:extLst>
              <a:ext uri="{FF2B5EF4-FFF2-40B4-BE49-F238E27FC236}">
                <a16:creationId xmlns:a16="http://schemas.microsoft.com/office/drawing/2014/main" id="{CAE610EE-843C-01AB-1E08-048998B65653}"/>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522095" y="3946390"/>
            <a:ext cx="3366400" cy="1893600"/>
          </a:xfrm>
          <a:prstGeom prst="rect">
            <a:avLst/>
          </a:prstGeom>
        </p:spPr>
      </p:pic>
      <p:pic>
        <p:nvPicPr>
          <p:cNvPr id="12" name="Imagen 11">
            <a:extLst>
              <a:ext uri="{FF2B5EF4-FFF2-40B4-BE49-F238E27FC236}">
                <a16:creationId xmlns:a16="http://schemas.microsoft.com/office/drawing/2014/main" id="{925C2DD2-C9F2-B391-3754-C88CD4D382A7}"/>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027545" y="3946390"/>
            <a:ext cx="3366400" cy="1893600"/>
          </a:xfrm>
          <a:prstGeom prst="rect">
            <a:avLst/>
          </a:prstGeom>
        </p:spPr>
      </p:pic>
      <p:sp>
        <p:nvSpPr>
          <p:cNvPr id="13" name="CuadroTexto 12">
            <a:extLst>
              <a:ext uri="{FF2B5EF4-FFF2-40B4-BE49-F238E27FC236}">
                <a16:creationId xmlns:a16="http://schemas.microsoft.com/office/drawing/2014/main" id="{6EE0F8B8-F27F-A30D-C443-36E2C5700C85}"/>
              </a:ext>
            </a:extLst>
          </p:cNvPr>
          <p:cNvSpPr txBox="1"/>
          <p:nvPr/>
        </p:nvSpPr>
        <p:spPr>
          <a:xfrm>
            <a:off x="1522095" y="5974806"/>
            <a:ext cx="4293164"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112212121122</a:t>
            </a:r>
          </a:p>
        </p:txBody>
      </p:sp>
      <p:sp>
        <p:nvSpPr>
          <p:cNvPr id="14" name="CuadroTexto 13">
            <a:extLst>
              <a:ext uri="{FF2B5EF4-FFF2-40B4-BE49-F238E27FC236}">
                <a16:creationId xmlns:a16="http://schemas.microsoft.com/office/drawing/2014/main" id="{C3BB3E96-E3F1-A935-9665-5FE22098E1F5}"/>
              </a:ext>
            </a:extLst>
          </p:cNvPr>
          <p:cNvSpPr txBox="1"/>
          <p:nvPr/>
        </p:nvSpPr>
        <p:spPr>
          <a:xfrm>
            <a:off x="7027545" y="5981087"/>
            <a:ext cx="3870960" cy="369332"/>
          </a:xfrm>
          <a:prstGeom prst="rect">
            <a:avLst/>
          </a:prstGeom>
          <a:noFill/>
        </p:spPr>
        <p:txBody>
          <a:bodyPr wrap="square">
            <a:spAutoFit/>
          </a:bodyPr>
          <a:lstStyle/>
          <a:p>
            <a:r>
              <a:rPr lang="es-MX" b="1" dirty="0"/>
              <a:t>Paso 4</a:t>
            </a:r>
            <a:r>
              <a:rPr lang="es-MX" dirty="0"/>
              <a:t>: Resultado de la simulación</a:t>
            </a:r>
          </a:p>
        </p:txBody>
      </p:sp>
    </p:spTree>
    <p:extLst>
      <p:ext uri="{BB962C8B-B14F-4D97-AF65-F5344CB8AC3E}">
        <p14:creationId xmlns:p14="http://schemas.microsoft.com/office/powerpoint/2010/main" val="3221307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ECB5FA8-0487-C900-5915-CE86D4FC2CC3}"/>
              </a:ext>
            </a:extLst>
          </p:cNvPr>
          <p:cNvSpPr txBox="1"/>
          <p:nvPr/>
        </p:nvSpPr>
        <p:spPr>
          <a:xfrm>
            <a:off x="838200" y="496371"/>
            <a:ext cx="6096000" cy="369332"/>
          </a:xfrm>
          <a:prstGeom prst="rect">
            <a:avLst/>
          </a:prstGeom>
          <a:noFill/>
        </p:spPr>
        <p:txBody>
          <a:bodyPr wrap="square">
            <a:spAutoFit/>
          </a:bodyPr>
          <a:lstStyle/>
          <a:p>
            <a:r>
              <a:rPr lang="es-MX" b="1" dirty="0"/>
              <a:t>Ejercicio 5</a:t>
            </a:r>
          </a:p>
        </p:txBody>
      </p:sp>
      <p:pic>
        <p:nvPicPr>
          <p:cNvPr id="6" name="Imagen 5">
            <a:extLst>
              <a:ext uri="{FF2B5EF4-FFF2-40B4-BE49-F238E27FC236}">
                <a16:creationId xmlns:a16="http://schemas.microsoft.com/office/drawing/2014/main" id="{6877A723-CD8B-30A5-086D-5DDDA4D597B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427851" y="1461135"/>
            <a:ext cx="3366401" cy="1893600"/>
          </a:xfrm>
          <a:prstGeom prst="rect">
            <a:avLst/>
          </a:prstGeom>
        </p:spPr>
      </p:pic>
      <p:pic>
        <p:nvPicPr>
          <p:cNvPr id="8" name="Imagen 7">
            <a:extLst>
              <a:ext uri="{FF2B5EF4-FFF2-40B4-BE49-F238E27FC236}">
                <a16:creationId xmlns:a16="http://schemas.microsoft.com/office/drawing/2014/main" id="{3BC241B4-4E0D-BE5A-6407-01D4944D8B4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920600" y="1461135"/>
            <a:ext cx="3366400" cy="1893600"/>
          </a:xfrm>
          <a:prstGeom prst="rect">
            <a:avLst/>
          </a:prstGeom>
        </p:spPr>
      </p:pic>
      <p:pic>
        <p:nvPicPr>
          <p:cNvPr id="3" name="Imagen 2">
            <a:extLst>
              <a:ext uri="{FF2B5EF4-FFF2-40B4-BE49-F238E27FC236}">
                <a16:creationId xmlns:a16="http://schemas.microsoft.com/office/drawing/2014/main" id="{7C7FC281-B180-6CF0-C2F3-8F5866D4A0EA}"/>
              </a:ext>
            </a:extLst>
          </p:cNvPr>
          <p:cNvPicPr>
            <a:picLocks noChangeAspect="1"/>
          </p:cNvPicPr>
          <p:nvPr/>
        </p:nvPicPr>
        <p:blipFill>
          <a:blip r:embed="rId4"/>
          <a:stretch>
            <a:fillRect/>
          </a:stretch>
        </p:blipFill>
        <p:spPr>
          <a:xfrm>
            <a:off x="6791325" y="3503266"/>
            <a:ext cx="3124200" cy="495300"/>
          </a:xfrm>
          <a:prstGeom prst="rect">
            <a:avLst/>
          </a:prstGeom>
        </p:spPr>
      </p:pic>
      <p:pic>
        <p:nvPicPr>
          <p:cNvPr id="7" name="Imagen 6">
            <a:extLst>
              <a:ext uri="{FF2B5EF4-FFF2-40B4-BE49-F238E27FC236}">
                <a16:creationId xmlns:a16="http://schemas.microsoft.com/office/drawing/2014/main" id="{4CF414D1-FB22-B4D9-A305-805D8A4397E5}"/>
              </a:ext>
            </a:extLst>
          </p:cNvPr>
          <p:cNvPicPr>
            <a:picLocks noChangeAspect="1"/>
          </p:cNvPicPr>
          <p:nvPr/>
        </p:nvPicPr>
        <p:blipFill>
          <a:blip r:embed="rId5"/>
          <a:stretch>
            <a:fillRect/>
          </a:stretch>
        </p:blipFill>
        <p:spPr>
          <a:xfrm>
            <a:off x="1427851" y="3503266"/>
            <a:ext cx="3133725" cy="495300"/>
          </a:xfrm>
          <a:prstGeom prst="rect">
            <a:avLst/>
          </a:prstGeom>
        </p:spPr>
      </p:pic>
      <p:pic>
        <p:nvPicPr>
          <p:cNvPr id="2" name="Imagen 1">
            <a:extLst>
              <a:ext uri="{FF2B5EF4-FFF2-40B4-BE49-F238E27FC236}">
                <a16:creationId xmlns:a16="http://schemas.microsoft.com/office/drawing/2014/main" id="{EAB59508-C016-BFCA-7092-0B8B379D22F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427852" y="3950167"/>
            <a:ext cx="3366400" cy="1893600"/>
          </a:xfrm>
          <a:prstGeom prst="rect">
            <a:avLst/>
          </a:prstGeom>
        </p:spPr>
      </p:pic>
      <p:sp>
        <p:nvSpPr>
          <p:cNvPr id="5" name="CuadroTexto 4">
            <a:extLst>
              <a:ext uri="{FF2B5EF4-FFF2-40B4-BE49-F238E27FC236}">
                <a16:creationId xmlns:a16="http://schemas.microsoft.com/office/drawing/2014/main" id="{A8F2D145-77DF-CCFE-12A4-C0CD895398F2}"/>
              </a:ext>
            </a:extLst>
          </p:cNvPr>
          <p:cNvSpPr txBox="1"/>
          <p:nvPr/>
        </p:nvSpPr>
        <p:spPr>
          <a:xfrm>
            <a:off x="1427852" y="5845597"/>
            <a:ext cx="6096000"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000111001</a:t>
            </a:r>
          </a:p>
        </p:txBody>
      </p:sp>
      <p:pic>
        <p:nvPicPr>
          <p:cNvPr id="9" name="Imagen 8">
            <a:extLst>
              <a:ext uri="{FF2B5EF4-FFF2-40B4-BE49-F238E27FC236}">
                <a16:creationId xmlns:a16="http://schemas.microsoft.com/office/drawing/2014/main" id="{F938ECC7-B064-BF6C-FE60-8B83597304A7}"/>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934200" y="3998566"/>
            <a:ext cx="3366400" cy="1893600"/>
          </a:xfrm>
          <a:prstGeom prst="rect">
            <a:avLst/>
          </a:prstGeom>
        </p:spPr>
      </p:pic>
      <p:pic>
        <p:nvPicPr>
          <p:cNvPr id="10" name="Imagen 9">
            <a:extLst>
              <a:ext uri="{FF2B5EF4-FFF2-40B4-BE49-F238E27FC236}">
                <a16:creationId xmlns:a16="http://schemas.microsoft.com/office/drawing/2014/main" id="{27E14C98-EE9B-B38D-A1E3-A90E545C58DD}"/>
              </a:ext>
            </a:extLst>
          </p:cNvPr>
          <p:cNvPicPr>
            <a:picLocks noChangeAspect="1"/>
          </p:cNvPicPr>
          <p:nvPr/>
        </p:nvPicPr>
        <p:blipFill>
          <a:blip r:embed="rId8"/>
          <a:stretch>
            <a:fillRect/>
          </a:stretch>
        </p:blipFill>
        <p:spPr>
          <a:xfrm>
            <a:off x="6934200" y="5974273"/>
            <a:ext cx="3914775" cy="485775"/>
          </a:xfrm>
          <a:prstGeom prst="rect">
            <a:avLst/>
          </a:prstGeom>
        </p:spPr>
      </p:pic>
    </p:spTree>
    <p:extLst>
      <p:ext uri="{BB962C8B-B14F-4D97-AF65-F5344CB8AC3E}">
        <p14:creationId xmlns:p14="http://schemas.microsoft.com/office/powerpoint/2010/main" val="2932922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A4AEF-EB6B-A195-F0C0-5470791F6575}"/>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5CA1640-91C9-EBE1-B1CE-F6201C6E83FE}"/>
              </a:ext>
            </a:extLst>
          </p:cNvPr>
          <p:cNvSpPr txBox="1"/>
          <p:nvPr/>
        </p:nvSpPr>
        <p:spPr>
          <a:xfrm>
            <a:off x="838200" y="496371"/>
            <a:ext cx="6096000" cy="369332"/>
          </a:xfrm>
          <a:prstGeom prst="rect">
            <a:avLst/>
          </a:prstGeom>
          <a:noFill/>
        </p:spPr>
        <p:txBody>
          <a:bodyPr wrap="square">
            <a:spAutoFit/>
          </a:bodyPr>
          <a:lstStyle/>
          <a:p>
            <a:r>
              <a:rPr lang="es-MX" b="1" dirty="0"/>
              <a:t>Ejercicio 6</a:t>
            </a:r>
          </a:p>
        </p:txBody>
      </p:sp>
      <p:pic>
        <p:nvPicPr>
          <p:cNvPr id="6" name="Imagen 5">
            <a:extLst>
              <a:ext uri="{FF2B5EF4-FFF2-40B4-BE49-F238E27FC236}">
                <a16:creationId xmlns:a16="http://schemas.microsoft.com/office/drawing/2014/main" id="{5A800CB3-99E0-5ED3-4069-3452FFD44DD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39165" y="1119076"/>
            <a:ext cx="3366400" cy="1893600"/>
          </a:xfrm>
          <a:prstGeom prst="rect">
            <a:avLst/>
          </a:prstGeom>
        </p:spPr>
      </p:pic>
      <p:pic>
        <p:nvPicPr>
          <p:cNvPr id="8" name="Imagen 7">
            <a:extLst>
              <a:ext uri="{FF2B5EF4-FFF2-40B4-BE49-F238E27FC236}">
                <a16:creationId xmlns:a16="http://schemas.microsoft.com/office/drawing/2014/main" id="{AAAF5E4A-9DEB-F6DB-CBDD-9166F895677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126604" y="1119076"/>
            <a:ext cx="3366400" cy="1893600"/>
          </a:xfrm>
          <a:prstGeom prst="rect">
            <a:avLst/>
          </a:prstGeom>
        </p:spPr>
      </p:pic>
      <p:pic>
        <p:nvPicPr>
          <p:cNvPr id="3" name="Imagen 2">
            <a:extLst>
              <a:ext uri="{FF2B5EF4-FFF2-40B4-BE49-F238E27FC236}">
                <a16:creationId xmlns:a16="http://schemas.microsoft.com/office/drawing/2014/main" id="{FE8EFA21-A707-8342-BB3F-BACD3D694CD9}"/>
              </a:ext>
            </a:extLst>
          </p:cNvPr>
          <p:cNvPicPr>
            <a:picLocks noChangeAspect="1"/>
          </p:cNvPicPr>
          <p:nvPr/>
        </p:nvPicPr>
        <p:blipFill>
          <a:blip r:embed="rId4"/>
          <a:stretch>
            <a:fillRect/>
          </a:stretch>
        </p:blipFill>
        <p:spPr>
          <a:xfrm>
            <a:off x="939165" y="3266049"/>
            <a:ext cx="3133725" cy="495300"/>
          </a:xfrm>
          <a:prstGeom prst="rect">
            <a:avLst/>
          </a:prstGeom>
        </p:spPr>
      </p:pic>
      <p:pic>
        <p:nvPicPr>
          <p:cNvPr id="7" name="Imagen 6">
            <a:extLst>
              <a:ext uri="{FF2B5EF4-FFF2-40B4-BE49-F238E27FC236}">
                <a16:creationId xmlns:a16="http://schemas.microsoft.com/office/drawing/2014/main" id="{7D5EE168-827A-3D54-C3AA-D2D1A8F5C98C}"/>
              </a:ext>
            </a:extLst>
          </p:cNvPr>
          <p:cNvPicPr>
            <a:picLocks noChangeAspect="1"/>
          </p:cNvPicPr>
          <p:nvPr/>
        </p:nvPicPr>
        <p:blipFill>
          <a:blip r:embed="rId5"/>
          <a:stretch>
            <a:fillRect/>
          </a:stretch>
        </p:blipFill>
        <p:spPr>
          <a:xfrm>
            <a:off x="7126604" y="3266049"/>
            <a:ext cx="3124200" cy="495300"/>
          </a:xfrm>
          <a:prstGeom prst="rect">
            <a:avLst/>
          </a:prstGeom>
        </p:spPr>
      </p:pic>
      <p:pic>
        <p:nvPicPr>
          <p:cNvPr id="5" name="Imagen 4">
            <a:extLst>
              <a:ext uri="{FF2B5EF4-FFF2-40B4-BE49-F238E27FC236}">
                <a16:creationId xmlns:a16="http://schemas.microsoft.com/office/drawing/2014/main" id="{CAECF99D-66B6-8A65-2ADC-20B640CD52B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39166" y="3796674"/>
            <a:ext cx="3366399" cy="1893600"/>
          </a:xfrm>
          <a:prstGeom prst="rect">
            <a:avLst/>
          </a:prstGeom>
        </p:spPr>
      </p:pic>
      <p:pic>
        <p:nvPicPr>
          <p:cNvPr id="2" name="Imagen 1">
            <a:extLst>
              <a:ext uri="{FF2B5EF4-FFF2-40B4-BE49-F238E27FC236}">
                <a16:creationId xmlns:a16="http://schemas.microsoft.com/office/drawing/2014/main" id="{A70135DB-25BF-4944-202D-5C54511BCA69}"/>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126604" y="3889066"/>
            <a:ext cx="3366399" cy="1893600"/>
          </a:xfrm>
          <a:prstGeom prst="rect">
            <a:avLst/>
          </a:prstGeom>
        </p:spPr>
      </p:pic>
      <p:sp>
        <p:nvSpPr>
          <p:cNvPr id="9" name="CuadroTexto 8">
            <a:extLst>
              <a:ext uri="{FF2B5EF4-FFF2-40B4-BE49-F238E27FC236}">
                <a16:creationId xmlns:a16="http://schemas.microsoft.com/office/drawing/2014/main" id="{91B8E89E-A8DB-91AC-9E1A-B2463903916E}"/>
              </a:ext>
            </a:extLst>
          </p:cNvPr>
          <p:cNvSpPr txBox="1"/>
          <p:nvPr/>
        </p:nvSpPr>
        <p:spPr>
          <a:xfrm>
            <a:off x="939166" y="5806478"/>
            <a:ext cx="6096000"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2222212222121212122211</a:t>
            </a:r>
          </a:p>
        </p:txBody>
      </p:sp>
      <p:pic>
        <p:nvPicPr>
          <p:cNvPr id="10" name="Imagen 9">
            <a:extLst>
              <a:ext uri="{FF2B5EF4-FFF2-40B4-BE49-F238E27FC236}">
                <a16:creationId xmlns:a16="http://schemas.microsoft.com/office/drawing/2014/main" id="{5DF6EED8-0AC2-85B1-6FD4-0F267EE657A0}"/>
              </a:ext>
            </a:extLst>
          </p:cNvPr>
          <p:cNvPicPr>
            <a:picLocks noChangeAspect="1"/>
          </p:cNvPicPr>
          <p:nvPr/>
        </p:nvPicPr>
        <p:blipFill>
          <a:blip r:embed="rId8"/>
          <a:stretch>
            <a:fillRect/>
          </a:stretch>
        </p:blipFill>
        <p:spPr>
          <a:xfrm>
            <a:off x="7126604" y="5967034"/>
            <a:ext cx="3914775" cy="485775"/>
          </a:xfrm>
          <a:prstGeom prst="rect">
            <a:avLst/>
          </a:prstGeom>
        </p:spPr>
      </p:pic>
    </p:spTree>
    <p:extLst>
      <p:ext uri="{BB962C8B-B14F-4D97-AF65-F5344CB8AC3E}">
        <p14:creationId xmlns:p14="http://schemas.microsoft.com/office/powerpoint/2010/main" val="855211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42510D5-8BE4-B170-47B5-49D560981CEB}"/>
              </a:ext>
            </a:extLst>
          </p:cNvPr>
          <p:cNvSpPr txBox="1"/>
          <p:nvPr/>
        </p:nvSpPr>
        <p:spPr>
          <a:xfrm>
            <a:off x="838200" y="496371"/>
            <a:ext cx="6096000" cy="369332"/>
          </a:xfrm>
          <a:prstGeom prst="rect">
            <a:avLst/>
          </a:prstGeom>
          <a:noFill/>
        </p:spPr>
        <p:txBody>
          <a:bodyPr wrap="square">
            <a:spAutoFit/>
          </a:bodyPr>
          <a:lstStyle/>
          <a:p>
            <a:r>
              <a:rPr lang="es-MX" b="1" dirty="0"/>
              <a:t>Ejercicio 7</a:t>
            </a:r>
          </a:p>
        </p:txBody>
      </p:sp>
      <p:pic>
        <p:nvPicPr>
          <p:cNvPr id="6" name="Imagen 5">
            <a:extLst>
              <a:ext uri="{FF2B5EF4-FFF2-40B4-BE49-F238E27FC236}">
                <a16:creationId xmlns:a16="http://schemas.microsoft.com/office/drawing/2014/main" id="{5A087EC3-5CB6-461C-1118-0716A40E5E3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349084" y="1452652"/>
            <a:ext cx="3366400" cy="1893600"/>
          </a:xfrm>
          <a:prstGeom prst="rect">
            <a:avLst/>
          </a:prstGeom>
        </p:spPr>
      </p:pic>
      <p:pic>
        <p:nvPicPr>
          <p:cNvPr id="8" name="Imagen 7">
            <a:extLst>
              <a:ext uri="{FF2B5EF4-FFF2-40B4-BE49-F238E27FC236}">
                <a16:creationId xmlns:a16="http://schemas.microsoft.com/office/drawing/2014/main" id="{D69D87BD-020F-D317-409B-8539D2A1FC3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941079" y="1452652"/>
            <a:ext cx="3366400" cy="1893600"/>
          </a:xfrm>
          <a:prstGeom prst="rect">
            <a:avLst/>
          </a:prstGeom>
        </p:spPr>
      </p:pic>
      <p:pic>
        <p:nvPicPr>
          <p:cNvPr id="3" name="Imagen 2">
            <a:extLst>
              <a:ext uri="{FF2B5EF4-FFF2-40B4-BE49-F238E27FC236}">
                <a16:creationId xmlns:a16="http://schemas.microsoft.com/office/drawing/2014/main" id="{D2304F33-9CA0-91B2-D5D1-30B319724FD0}"/>
              </a:ext>
            </a:extLst>
          </p:cNvPr>
          <p:cNvPicPr>
            <a:picLocks noChangeAspect="1"/>
          </p:cNvPicPr>
          <p:nvPr/>
        </p:nvPicPr>
        <p:blipFill>
          <a:blip r:embed="rId4"/>
          <a:stretch>
            <a:fillRect/>
          </a:stretch>
        </p:blipFill>
        <p:spPr>
          <a:xfrm>
            <a:off x="7062179" y="3346252"/>
            <a:ext cx="3124200" cy="495300"/>
          </a:xfrm>
          <a:prstGeom prst="rect">
            <a:avLst/>
          </a:prstGeom>
        </p:spPr>
      </p:pic>
      <p:pic>
        <p:nvPicPr>
          <p:cNvPr id="7" name="Imagen 6">
            <a:extLst>
              <a:ext uri="{FF2B5EF4-FFF2-40B4-BE49-F238E27FC236}">
                <a16:creationId xmlns:a16="http://schemas.microsoft.com/office/drawing/2014/main" id="{2C349956-39B8-BEC3-0E0C-2B2FE24F56CB}"/>
              </a:ext>
            </a:extLst>
          </p:cNvPr>
          <p:cNvPicPr>
            <a:picLocks noChangeAspect="1"/>
          </p:cNvPicPr>
          <p:nvPr/>
        </p:nvPicPr>
        <p:blipFill>
          <a:blip r:embed="rId5"/>
          <a:stretch>
            <a:fillRect/>
          </a:stretch>
        </p:blipFill>
        <p:spPr>
          <a:xfrm>
            <a:off x="1349084" y="3346252"/>
            <a:ext cx="3133725" cy="495300"/>
          </a:xfrm>
          <a:prstGeom prst="rect">
            <a:avLst/>
          </a:prstGeom>
        </p:spPr>
      </p:pic>
      <p:pic>
        <p:nvPicPr>
          <p:cNvPr id="5" name="Imagen 4">
            <a:extLst>
              <a:ext uri="{FF2B5EF4-FFF2-40B4-BE49-F238E27FC236}">
                <a16:creationId xmlns:a16="http://schemas.microsoft.com/office/drawing/2014/main" id="{1A2642FA-0AC7-4619-D649-16299E18C6A9}"/>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5539" y="3841552"/>
            <a:ext cx="3366399" cy="1893600"/>
          </a:xfrm>
          <a:prstGeom prst="rect">
            <a:avLst/>
          </a:prstGeom>
        </p:spPr>
      </p:pic>
      <p:sp>
        <p:nvSpPr>
          <p:cNvPr id="2" name="CuadroTexto 1">
            <a:extLst>
              <a:ext uri="{FF2B5EF4-FFF2-40B4-BE49-F238E27FC236}">
                <a16:creationId xmlns:a16="http://schemas.microsoft.com/office/drawing/2014/main" id="{03AFD9A2-CA97-1AEE-B182-02B2F8C0593C}"/>
              </a:ext>
            </a:extLst>
          </p:cNvPr>
          <p:cNvSpPr txBox="1"/>
          <p:nvPr/>
        </p:nvSpPr>
        <p:spPr>
          <a:xfrm>
            <a:off x="1365539" y="5735152"/>
            <a:ext cx="4738706"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121212</a:t>
            </a:r>
          </a:p>
        </p:txBody>
      </p:sp>
      <p:pic>
        <p:nvPicPr>
          <p:cNvPr id="9" name="Imagen 8">
            <a:extLst>
              <a:ext uri="{FF2B5EF4-FFF2-40B4-BE49-F238E27FC236}">
                <a16:creationId xmlns:a16="http://schemas.microsoft.com/office/drawing/2014/main" id="{3FE782E6-F4F0-54B5-42CB-ACDC790F3160}"/>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928141" y="3823186"/>
            <a:ext cx="3366400" cy="1893600"/>
          </a:xfrm>
          <a:prstGeom prst="rect">
            <a:avLst/>
          </a:prstGeom>
        </p:spPr>
      </p:pic>
      <p:pic>
        <p:nvPicPr>
          <p:cNvPr id="10" name="Imagen 9">
            <a:extLst>
              <a:ext uri="{FF2B5EF4-FFF2-40B4-BE49-F238E27FC236}">
                <a16:creationId xmlns:a16="http://schemas.microsoft.com/office/drawing/2014/main" id="{BB53D76A-D145-57D6-5772-2B177248ACD9}"/>
              </a:ext>
            </a:extLst>
          </p:cNvPr>
          <p:cNvPicPr>
            <a:picLocks noChangeAspect="1"/>
          </p:cNvPicPr>
          <p:nvPr/>
        </p:nvPicPr>
        <p:blipFill>
          <a:blip r:embed="rId8"/>
          <a:stretch>
            <a:fillRect/>
          </a:stretch>
        </p:blipFill>
        <p:spPr>
          <a:xfrm>
            <a:off x="6928141" y="5735152"/>
            <a:ext cx="3914775" cy="485775"/>
          </a:xfrm>
          <a:prstGeom prst="rect">
            <a:avLst/>
          </a:prstGeom>
        </p:spPr>
      </p:pic>
    </p:spTree>
    <p:extLst>
      <p:ext uri="{BB962C8B-B14F-4D97-AF65-F5344CB8AC3E}">
        <p14:creationId xmlns:p14="http://schemas.microsoft.com/office/powerpoint/2010/main" val="1850226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A519023-79FB-55D9-05D9-8143442ACC95}"/>
              </a:ext>
            </a:extLst>
          </p:cNvPr>
          <p:cNvSpPr txBox="1"/>
          <p:nvPr/>
        </p:nvSpPr>
        <p:spPr>
          <a:xfrm>
            <a:off x="714375" y="824984"/>
            <a:ext cx="6096000" cy="369332"/>
          </a:xfrm>
          <a:prstGeom prst="rect">
            <a:avLst/>
          </a:prstGeom>
          <a:noFill/>
        </p:spPr>
        <p:txBody>
          <a:bodyPr wrap="square">
            <a:spAutoFit/>
          </a:bodyPr>
          <a:lstStyle/>
          <a:p>
            <a:r>
              <a:rPr lang="es-MX" b="1" dirty="0"/>
              <a:t>Ejercicio 8</a:t>
            </a:r>
          </a:p>
        </p:txBody>
      </p:sp>
      <p:pic>
        <p:nvPicPr>
          <p:cNvPr id="7" name="Imagen 6">
            <a:extLst>
              <a:ext uri="{FF2B5EF4-FFF2-40B4-BE49-F238E27FC236}">
                <a16:creationId xmlns:a16="http://schemas.microsoft.com/office/drawing/2014/main" id="{B14DBB3B-E170-4ED1-A7AC-D21A6F1869C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20775" y="1492746"/>
            <a:ext cx="3366400" cy="1893600"/>
          </a:xfrm>
          <a:prstGeom prst="rect">
            <a:avLst/>
          </a:prstGeom>
        </p:spPr>
      </p:pic>
      <p:pic>
        <p:nvPicPr>
          <p:cNvPr id="11" name="Imagen 10">
            <a:extLst>
              <a:ext uri="{FF2B5EF4-FFF2-40B4-BE49-F238E27FC236}">
                <a16:creationId xmlns:a16="http://schemas.microsoft.com/office/drawing/2014/main" id="{D2FC1FF9-A886-0CD8-0076-A0471460805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429375" y="1504146"/>
            <a:ext cx="3366400" cy="1893600"/>
          </a:xfrm>
          <a:prstGeom prst="rect">
            <a:avLst/>
          </a:prstGeom>
        </p:spPr>
      </p:pic>
      <p:pic>
        <p:nvPicPr>
          <p:cNvPr id="3" name="Imagen 2">
            <a:extLst>
              <a:ext uri="{FF2B5EF4-FFF2-40B4-BE49-F238E27FC236}">
                <a16:creationId xmlns:a16="http://schemas.microsoft.com/office/drawing/2014/main" id="{648FC907-B256-F3FA-D2B2-6CCAF25FE313}"/>
              </a:ext>
            </a:extLst>
          </p:cNvPr>
          <p:cNvPicPr>
            <a:picLocks noChangeAspect="1"/>
          </p:cNvPicPr>
          <p:nvPr/>
        </p:nvPicPr>
        <p:blipFill>
          <a:blip r:embed="rId4"/>
          <a:stretch>
            <a:fillRect/>
          </a:stretch>
        </p:blipFill>
        <p:spPr>
          <a:xfrm>
            <a:off x="1120775" y="3471655"/>
            <a:ext cx="3133725" cy="495300"/>
          </a:xfrm>
          <a:prstGeom prst="rect">
            <a:avLst/>
          </a:prstGeom>
        </p:spPr>
      </p:pic>
      <p:pic>
        <p:nvPicPr>
          <p:cNvPr id="6" name="Imagen 5">
            <a:extLst>
              <a:ext uri="{FF2B5EF4-FFF2-40B4-BE49-F238E27FC236}">
                <a16:creationId xmlns:a16="http://schemas.microsoft.com/office/drawing/2014/main" id="{609E2E63-DD31-71ED-A42A-B3FBFBEA3D52}"/>
              </a:ext>
            </a:extLst>
          </p:cNvPr>
          <p:cNvPicPr>
            <a:picLocks noChangeAspect="1"/>
          </p:cNvPicPr>
          <p:nvPr/>
        </p:nvPicPr>
        <p:blipFill>
          <a:blip r:embed="rId5"/>
          <a:stretch>
            <a:fillRect/>
          </a:stretch>
        </p:blipFill>
        <p:spPr>
          <a:xfrm>
            <a:off x="6429375" y="3459926"/>
            <a:ext cx="3124200" cy="495300"/>
          </a:xfrm>
          <a:prstGeom prst="rect">
            <a:avLst/>
          </a:prstGeom>
        </p:spPr>
      </p:pic>
      <p:sp>
        <p:nvSpPr>
          <p:cNvPr id="2" name="CuadroTexto 1">
            <a:extLst>
              <a:ext uri="{FF2B5EF4-FFF2-40B4-BE49-F238E27FC236}">
                <a16:creationId xmlns:a16="http://schemas.microsoft.com/office/drawing/2014/main" id="{295BED74-053B-6D97-68EB-B39AE18C2545}"/>
              </a:ext>
            </a:extLst>
          </p:cNvPr>
          <p:cNvSpPr txBox="1"/>
          <p:nvPr/>
        </p:nvSpPr>
        <p:spPr>
          <a:xfrm>
            <a:off x="1120775" y="5911006"/>
            <a:ext cx="6096000"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222222121221</a:t>
            </a:r>
          </a:p>
        </p:txBody>
      </p:sp>
      <p:pic>
        <p:nvPicPr>
          <p:cNvPr id="4" name="Imagen 3">
            <a:extLst>
              <a:ext uri="{FF2B5EF4-FFF2-40B4-BE49-F238E27FC236}">
                <a16:creationId xmlns:a16="http://schemas.microsoft.com/office/drawing/2014/main" id="{88A4B335-57F0-5837-CB86-8C1066C6FB2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120775" y="4017406"/>
            <a:ext cx="3366400" cy="1893600"/>
          </a:xfrm>
          <a:prstGeom prst="rect">
            <a:avLst/>
          </a:prstGeom>
        </p:spPr>
      </p:pic>
      <p:pic>
        <p:nvPicPr>
          <p:cNvPr id="8" name="Imagen 7">
            <a:extLst>
              <a:ext uri="{FF2B5EF4-FFF2-40B4-BE49-F238E27FC236}">
                <a16:creationId xmlns:a16="http://schemas.microsoft.com/office/drawing/2014/main" id="{7DC7EC01-02C6-D5CF-7A43-A5E51B695B99}"/>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flipH="1">
            <a:off x="6429375" y="3998832"/>
            <a:ext cx="3366400" cy="1893600"/>
          </a:xfrm>
          <a:prstGeom prst="rect">
            <a:avLst/>
          </a:prstGeom>
        </p:spPr>
      </p:pic>
      <p:pic>
        <p:nvPicPr>
          <p:cNvPr id="9" name="Imagen 8">
            <a:extLst>
              <a:ext uri="{FF2B5EF4-FFF2-40B4-BE49-F238E27FC236}">
                <a16:creationId xmlns:a16="http://schemas.microsoft.com/office/drawing/2014/main" id="{EF505C0E-D71B-74D3-FAD8-52B23A23113F}"/>
              </a:ext>
            </a:extLst>
          </p:cNvPr>
          <p:cNvPicPr>
            <a:picLocks noChangeAspect="1"/>
          </p:cNvPicPr>
          <p:nvPr/>
        </p:nvPicPr>
        <p:blipFill>
          <a:blip r:embed="rId8"/>
          <a:stretch>
            <a:fillRect/>
          </a:stretch>
        </p:blipFill>
        <p:spPr>
          <a:xfrm>
            <a:off x="6429375" y="5954880"/>
            <a:ext cx="3914775" cy="500062"/>
          </a:xfrm>
          <a:prstGeom prst="rect">
            <a:avLst/>
          </a:prstGeom>
        </p:spPr>
      </p:pic>
    </p:spTree>
    <p:extLst>
      <p:ext uri="{BB962C8B-B14F-4D97-AF65-F5344CB8AC3E}">
        <p14:creationId xmlns:p14="http://schemas.microsoft.com/office/powerpoint/2010/main" val="2037030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63A3-4836-4A98-F500-78854F5EACA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E3610D6-6525-6B2A-8CD5-B8DA8CD1104C}"/>
              </a:ext>
            </a:extLst>
          </p:cNvPr>
          <p:cNvSpPr txBox="1"/>
          <p:nvPr/>
        </p:nvSpPr>
        <p:spPr>
          <a:xfrm>
            <a:off x="971550" y="577334"/>
            <a:ext cx="6096000" cy="369332"/>
          </a:xfrm>
          <a:prstGeom prst="rect">
            <a:avLst/>
          </a:prstGeom>
          <a:noFill/>
        </p:spPr>
        <p:txBody>
          <a:bodyPr wrap="square">
            <a:spAutoFit/>
          </a:bodyPr>
          <a:lstStyle/>
          <a:p>
            <a:r>
              <a:rPr lang="es-MX" b="1" dirty="0"/>
              <a:t>Ejercicio 9</a:t>
            </a:r>
          </a:p>
        </p:txBody>
      </p:sp>
      <p:pic>
        <p:nvPicPr>
          <p:cNvPr id="5" name="Imagen 4">
            <a:extLst>
              <a:ext uri="{FF2B5EF4-FFF2-40B4-BE49-F238E27FC236}">
                <a16:creationId xmlns:a16="http://schemas.microsoft.com/office/drawing/2014/main" id="{EA8D1029-3943-BD48-4CA4-0F8D5438DD5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71550" y="1262062"/>
            <a:ext cx="3366399" cy="1893600"/>
          </a:xfrm>
          <a:prstGeom prst="rect">
            <a:avLst/>
          </a:prstGeom>
        </p:spPr>
      </p:pic>
      <p:pic>
        <p:nvPicPr>
          <p:cNvPr id="7" name="Imagen 6">
            <a:extLst>
              <a:ext uri="{FF2B5EF4-FFF2-40B4-BE49-F238E27FC236}">
                <a16:creationId xmlns:a16="http://schemas.microsoft.com/office/drawing/2014/main" id="{19B5DA3E-A31A-CFEF-2093-A9CECF48FD7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437164" y="1262062"/>
            <a:ext cx="3366400" cy="1893600"/>
          </a:xfrm>
          <a:prstGeom prst="rect">
            <a:avLst/>
          </a:prstGeom>
        </p:spPr>
      </p:pic>
      <p:pic>
        <p:nvPicPr>
          <p:cNvPr id="4" name="Imagen 3">
            <a:extLst>
              <a:ext uri="{FF2B5EF4-FFF2-40B4-BE49-F238E27FC236}">
                <a16:creationId xmlns:a16="http://schemas.microsoft.com/office/drawing/2014/main" id="{7AC5A7AB-492E-7BF4-2F09-66823B613935}"/>
              </a:ext>
            </a:extLst>
          </p:cNvPr>
          <p:cNvPicPr>
            <a:picLocks noChangeAspect="1"/>
          </p:cNvPicPr>
          <p:nvPr/>
        </p:nvPicPr>
        <p:blipFill>
          <a:blip r:embed="rId4"/>
          <a:stretch>
            <a:fillRect/>
          </a:stretch>
        </p:blipFill>
        <p:spPr>
          <a:xfrm>
            <a:off x="6437164" y="3223408"/>
            <a:ext cx="3124200" cy="495300"/>
          </a:xfrm>
          <a:prstGeom prst="rect">
            <a:avLst/>
          </a:prstGeom>
        </p:spPr>
      </p:pic>
      <p:pic>
        <p:nvPicPr>
          <p:cNvPr id="8" name="Imagen 7">
            <a:extLst>
              <a:ext uri="{FF2B5EF4-FFF2-40B4-BE49-F238E27FC236}">
                <a16:creationId xmlns:a16="http://schemas.microsoft.com/office/drawing/2014/main" id="{DB91C6CD-3A3E-2F8B-3F11-19E942CBA2AC}"/>
              </a:ext>
            </a:extLst>
          </p:cNvPr>
          <p:cNvPicPr>
            <a:picLocks noChangeAspect="1"/>
          </p:cNvPicPr>
          <p:nvPr/>
        </p:nvPicPr>
        <p:blipFill>
          <a:blip r:embed="rId5"/>
          <a:stretch>
            <a:fillRect/>
          </a:stretch>
        </p:blipFill>
        <p:spPr>
          <a:xfrm>
            <a:off x="971550" y="3231177"/>
            <a:ext cx="3133725" cy="495300"/>
          </a:xfrm>
          <a:prstGeom prst="rect">
            <a:avLst/>
          </a:prstGeom>
        </p:spPr>
      </p:pic>
      <p:sp>
        <p:nvSpPr>
          <p:cNvPr id="2" name="CuadroTexto 1">
            <a:extLst>
              <a:ext uri="{FF2B5EF4-FFF2-40B4-BE49-F238E27FC236}">
                <a16:creationId xmlns:a16="http://schemas.microsoft.com/office/drawing/2014/main" id="{E06E0716-57B9-6844-D54F-16513C335F08}"/>
              </a:ext>
            </a:extLst>
          </p:cNvPr>
          <p:cNvSpPr txBox="1"/>
          <p:nvPr/>
        </p:nvSpPr>
        <p:spPr>
          <a:xfrm>
            <a:off x="971550" y="5741700"/>
            <a:ext cx="3914775"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t>
            </a:r>
            <a:r>
              <a:rPr lang="es-MX" dirty="0" err="1"/>
              <a:t>abbaabababb</a:t>
            </a:r>
            <a:endParaRPr lang="es-MX" dirty="0"/>
          </a:p>
        </p:txBody>
      </p:sp>
      <p:pic>
        <p:nvPicPr>
          <p:cNvPr id="6" name="Imagen 5">
            <a:extLst>
              <a:ext uri="{FF2B5EF4-FFF2-40B4-BE49-F238E27FC236}">
                <a16:creationId xmlns:a16="http://schemas.microsoft.com/office/drawing/2014/main" id="{EFD46813-AE58-3B63-9E0B-5741ABD8DB9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71550" y="3848100"/>
            <a:ext cx="3366400" cy="1893600"/>
          </a:xfrm>
          <a:prstGeom prst="rect">
            <a:avLst/>
          </a:prstGeom>
        </p:spPr>
      </p:pic>
      <p:pic>
        <p:nvPicPr>
          <p:cNvPr id="9" name="Imagen 8">
            <a:extLst>
              <a:ext uri="{FF2B5EF4-FFF2-40B4-BE49-F238E27FC236}">
                <a16:creationId xmlns:a16="http://schemas.microsoft.com/office/drawing/2014/main" id="{F071442F-22EC-5ED9-315F-B5F9312D0AB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437164" y="3848100"/>
            <a:ext cx="3366400" cy="1893600"/>
          </a:xfrm>
          <a:prstGeom prst="rect">
            <a:avLst/>
          </a:prstGeom>
        </p:spPr>
      </p:pic>
      <p:pic>
        <p:nvPicPr>
          <p:cNvPr id="10" name="Imagen 9">
            <a:extLst>
              <a:ext uri="{FF2B5EF4-FFF2-40B4-BE49-F238E27FC236}">
                <a16:creationId xmlns:a16="http://schemas.microsoft.com/office/drawing/2014/main" id="{FC3DC56A-E340-AF3F-DBAB-7F08628153F5}"/>
              </a:ext>
            </a:extLst>
          </p:cNvPr>
          <p:cNvPicPr>
            <a:picLocks noChangeAspect="1"/>
          </p:cNvPicPr>
          <p:nvPr/>
        </p:nvPicPr>
        <p:blipFill>
          <a:blip r:embed="rId8"/>
          <a:stretch>
            <a:fillRect/>
          </a:stretch>
        </p:blipFill>
        <p:spPr>
          <a:xfrm>
            <a:off x="6437164" y="5831504"/>
            <a:ext cx="3914775" cy="485775"/>
          </a:xfrm>
          <a:prstGeom prst="rect">
            <a:avLst/>
          </a:prstGeom>
        </p:spPr>
      </p:pic>
    </p:spTree>
    <p:extLst>
      <p:ext uri="{BB962C8B-B14F-4D97-AF65-F5344CB8AC3E}">
        <p14:creationId xmlns:p14="http://schemas.microsoft.com/office/powerpoint/2010/main" val="2264871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4340F-28BA-0EC0-FC34-ADED51540CE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B24F60E-6DF3-E0CA-98EE-67046DFD9FA7}"/>
              </a:ext>
            </a:extLst>
          </p:cNvPr>
          <p:cNvSpPr txBox="1"/>
          <p:nvPr/>
        </p:nvSpPr>
        <p:spPr>
          <a:xfrm>
            <a:off x="428625" y="653534"/>
            <a:ext cx="6096000" cy="369332"/>
          </a:xfrm>
          <a:prstGeom prst="rect">
            <a:avLst/>
          </a:prstGeom>
          <a:noFill/>
        </p:spPr>
        <p:txBody>
          <a:bodyPr wrap="square">
            <a:spAutoFit/>
          </a:bodyPr>
          <a:lstStyle/>
          <a:p>
            <a:r>
              <a:rPr lang="es-MX" b="1" dirty="0"/>
              <a:t>Ejercicio 10</a:t>
            </a:r>
          </a:p>
        </p:txBody>
      </p:sp>
      <p:pic>
        <p:nvPicPr>
          <p:cNvPr id="7" name="Imagen 6">
            <a:extLst>
              <a:ext uri="{FF2B5EF4-FFF2-40B4-BE49-F238E27FC236}">
                <a16:creationId xmlns:a16="http://schemas.microsoft.com/office/drawing/2014/main" id="{817DEAFE-5CF7-EF54-71EF-A4DB19B034F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441560" y="1253475"/>
            <a:ext cx="3366401" cy="1893600"/>
          </a:xfrm>
          <a:prstGeom prst="rect">
            <a:avLst/>
          </a:prstGeom>
        </p:spPr>
      </p:pic>
      <p:pic>
        <p:nvPicPr>
          <p:cNvPr id="9" name="Imagen 8">
            <a:extLst>
              <a:ext uri="{FF2B5EF4-FFF2-40B4-BE49-F238E27FC236}">
                <a16:creationId xmlns:a16="http://schemas.microsoft.com/office/drawing/2014/main" id="{542AECF9-65D8-6418-C6ED-E3B22345DDA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914091" y="1253475"/>
            <a:ext cx="3366400" cy="1893600"/>
          </a:xfrm>
          <a:prstGeom prst="rect">
            <a:avLst/>
          </a:prstGeom>
        </p:spPr>
      </p:pic>
      <p:pic>
        <p:nvPicPr>
          <p:cNvPr id="4" name="Imagen 3">
            <a:extLst>
              <a:ext uri="{FF2B5EF4-FFF2-40B4-BE49-F238E27FC236}">
                <a16:creationId xmlns:a16="http://schemas.microsoft.com/office/drawing/2014/main" id="{1590DC63-9979-C9A1-4848-E71D98343643}"/>
              </a:ext>
            </a:extLst>
          </p:cNvPr>
          <p:cNvPicPr>
            <a:picLocks noChangeAspect="1"/>
          </p:cNvPicPr>
          <p:nvPr/>
        </p:nvPicPr>
        <p:blipFill>
          <a:blip r:embed="rId4"/>
          <a:stretch>
            <a:fillRect/>
          </a:stretch>
        </p:blipFill>
        <p:spPr>
          <a:xfrm>
            <a:off x="1441560" y="3215626"/>
            <a:ext cx="3133725" cy="495300"/>
          </a:xfrm>
          <a:prstGeom prst="rect">
            <a:avLst/>
          </a:prstGeom>
        </p:spPr>
      </p:pic>
      <p:pic>
        <p:nvPicPr>
          <p:cNvPr id="6" name="Imagen 5">
            <a:extLst>
              <a:ext uri="{FF2B5EF4-FFF2-40B4-BE49-F238E27FC236}">
                <a16:creationId xmlns:a16="http://schemas.microsoft.com/office/drawing/2014/main" id="{CEFD96BD-EF9E-6EBA-6541-2311CBE7428D}"/>
              </a:ext>
            </a:extLst>
          </p:cNvPr>
          <p:cNvPicPr>
            <a:picLocks noChangeAspect="1"/>
          </p:cNvPicPr>
          <p:nvPr/>
        </p:nvPicPr>
        <p:blipFill>
          <a:blip r:embed="rId5"/>
          <a:stretch>
            <a:fillRect/>
          </a:stretch>
        </p:blipFill>
        <p:spPr>
          <a:xfrm>
            <a:off x="6914091" y="3215626"/>
            <a:ext cx="3124200" cy="495300"/>
          </a:xfrm>
          <a:prstGeom prst="rect">
            <a:avLst/>
          </a:prstGeom>
        </p:spPr>
      </p:pic>
      <p:sp>
        <p:nvSpPr>
          <p:cNvPr id="2" name="CuadroTexto 1">
            <a:extLst>
              <a:ext uri="{FF2B5EF4-FFF2-40B4-BE49-F238E27FC236}">
                <a16:creationId xmlns:a16="http://schemas.microsoft.com/office/drawing/2014/main" id="{B49FC787-197D-1F4E-1A22-EE11203F8E5A}"/>
              </a:ext>
            </a:extLst>
          </p:cNvPr>
          <p:cNvSpPr txBox="1"/>
          <p:nvPr/>
        </p:nvSpPr>
        <p:spPr>
          <a:xfrm>
            <a:off x="1441560" y="5753356"/>
            <a:ext cx="6096000"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ababa</a:t>
            </a:r>
          </a:p>
        </p:txBody>
      </p:sp>
      <p:pic>
        <p:nvPicPr>
          <p:cNvPr id="5" name="Imagen 4">
            <a:extLst>
              <a:ext uri="{FF2B5EF4-FFF2-40B4-BE49-F238E27FC236}">
                <a16:creationId xmlns:a16="http://schemas.microsoft.com/office/drawing/2014/main" id="{ACF1D5DB-FFC4-4892-0CAA-9309B648559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443808" y="3779477"/>
            <a:ext cx="3366400" cy="1893600"/>
          </a:xfrm>
          <a:prstGeom prst="rect">
            <a:avLst/>
          </a:prstGeom>
        </p:spPr>
      </p:pic>
      <p:pic>
        <p:nvPicPr>
          <p:cNvPr id="8" name="Imagen 7">
            <a:extLst>
              <a:ext uri="{FF2B5EF4-FFF2-40B4-BE49-F238E27FC236}">
                <a16:creationId xmlns:a16="http://schemas.microsoft.com/office/drawing/2014/main" id="{32B681A7-8375-5E00-DAE2-7DCD818378C4}"/>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914091" y="3739338"/>
            <a:ext cx="3366400" cy="1893600"/>
          </a:xfrm>
          <a:prstGeom prst="rect">
            <a:avLst/>
          </a:prstGeom>
        </p:spPr>
      </p:pic>
      <p:pic>
        <p:nvPicPr>
          <p:cNvPr id="10" name="Imagen 9">
            <a:extLst>
              <a:ext uri="{FF2B5EF4-FFF2-40B4-BE49-F238E27FC236}">
                <a16:creationId xmlns:a16="http://schemas.microsoft.com/office/drawing/2014/main" id="{37499735-1624-644E-BB63-BF99F738BC3B}"/>
              </a:ext>
            </a:extLst>
          </p:cNvPr>
          <p:cNvPicPr>
            <a:picLocks noChangeAspect="1"/>
          </p:cNvPicPr>
          <p:nvPr/>
        </p:nvPicPr>
        <p:blipFill>
          <a:blip r:embed="rId8"/>
          <a:stretch>
            <a:fillRect/>
          </a:stretch>
        </p:blipFill>
        <p:spPr>
          <a:xfrm>
            <a:off x="6914091" y="5673077"/>
            <a:ext cx="3914775" cy="485775"/>
          </a:xfrm>
          <a:prstGeom prst="rect">
            <a:avLst/>
          </a:prstGeom>
        </p:spPr>
      </p:pic>
    </p:spTree>
    <p:extLst>
      <p:ext uri="{BB962C8B-B14F-4D97-AF65-F5344CB8AC3E}">
        <p14:creationId xmlns:p14="http://schemas.microsoft.com/office/powerpoint/2010/main" val="2894609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21A01C-11AC-4DE8-7FD4-36087B1F108C}"/>
              </a:ext>
            </a:extLst>
          </p:cNvPr>
          <p:cNvSpPr>
            <a:spLocks noGrp="1"/>
          </p:cNvSpPr>
          <p:nvPr>
            <p:ph type="title"/>
          </p:nvPr>
        </p:nvSpPr>
        <p:spPr>
          <a:xfrm>
            <a:off x="838200" y="365125"/>
            <a:ext cx="10515600" cy="758825"/>
          </a:xfrm>
        </p:spPr>
        <p:txBody>
          <a:bodyPr/>
          <a:lstStyle/>
          <a:p>
            <a:r>
              <a:rPr lang="es-MX" b="1" dirty="0">
                <a:solidFill>
                  <a:schemeClr val="accent1"/>
                </a:solidFill>
              </a:rPr>
              <a:t>Construcción de AFND</a:t>
            </a:r>
          </a:p>
        </p:txBody>
      </p:sp>
      <p:sp>
        <p:nvSpPr>
          <p:cNvPr id="5" name="CuadroTexto 4">
            <a:extLst>
              <a:ext uri="{FF2B5EF4-FFF2-40B4-BE49-F238E27FC236}">
                <a16:creationId xmlns:a16="http://schemas.microsoft.com/office/drawing/2014/main" id="{73BED815-2222-65F4-E95E-075E5526F2F8}"/>
              </a:ext>
            </a:extLst>
          </p:cNvPr>
          <p:cNvSpPr txBox="1"/>
          <p:nvPr/>
        </p:nvSpPr>
        <p:spPr>
          <a:xfrm>
            <a:off x="1209675" y="1803619"/>
            <a:ext cx="9629775" cy="3454022"/>
          </a:xfrm>
          <a:prstGeom prst="rect">
            <a:avLst/>
          </a:prstGeom>
          <a:noFill/>
        </p:spPr>
        <p:txBody>
          <a:bodyPr wrap="square">
            <a:spAutoFit/>
          </a:bodyPr>
          <a:lstStyle/>
          <a:p>
            <a:pPr algn="just">
              <a:lnSpc>
                <a:spcPct val="115000"/>
              </a:lnSpc>
              <a:spcAft>
                <a:spcPts val="800"/>
              </a:spcAft>
              <a:buNone/>
            </a:pPr>
            <a:r>
              <a:rPr lang="es-MX" sz="2400" kern="100" dirty="0">
                <a:effectLst/>
                <a:latin typeface="Arial" panose="020B0604020202020204" pitchFamily="34" charset="0"/>
                <a:ea typeface="Calibri" panose="020F0502020204030204" pitchFamily="34" charset="0"/>
                <a:cs typeface="Times New Roman" panose="02020603050405020304" pitchFamily="18" charset="0"/>
              </a:rPr>
              <a:t>La construcción del autómata se realizó siguiendo una secuencia de pasos Primero se crearon los estados mediante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Create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State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definiendo el estado inicial y los estados de aceptación. Después se establecieron las transiciones con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Create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Transition</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según los símbolos del alfabeto. Al tratarse de un AFND, pueden existir múltiples transiciones para un mismo símbolo. Finalmente, se verificó el funcionamiento del autómata utilizando Input /Step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by</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State</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y posteriormente Input / </a:t>
            </a:r>
            <a:r>
              <a:rPr lang="es-MX" sz="2400" kern="100" dirty="0" err="1">
                <a:effectLst/>
                <a:latin typeface="Arial" panose="020B0604020202020204" pitchFamily="34" charset="0"/>
                <a:ea typeface="Calibri" panose="020F0502020204030204" pitchFamily="34" charset="0"/>
                <a:cs typeface="Times New Roman" panose="02020603050405020304" pitchFamily="18" charset="0"/>
              </a:rPr>
              <a:t>Fast</a:t>
            </a:r>
            <a:r>
              <a:rPr lang="es-MX" sz="2400" kern="100" dirty="0">
                <a:effectLst/>
                <a:latin typeface="Arial" panose="020B0604020202020204" pitchFamily="34" charset="0"/>
                <a:ea typeface="Calibri" panose="020F0502020204030204" pitchFamily="34" charset="0"/>
                <a:cs typeface="Times New Roman" panose="02020603050405020304" pitchFamily="18" charset="0"/>
              </a:rPr>
              <a:t> Run para probar diferentes cadenas.</a:t>
            </a:r>
          </a:p>
        </p:txBody>
      </p:sp>
    </p:spTree>
    <p:extLst>
      <p:ext uri="{BB962C8B-B14F-4D97-AF65-F5344CB8AC3E}">
        <p14:creationId xmlns:p14="http://schemas.microsoft.com/office/powerpoint/2010/main" val="210361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9C211-2756-3C39-18ED-1B12E3439B3F}"/>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194159E3-E5E1-DFDC-419E-3695F6A7EDF2}"/>
              </a:ext>
            </a:extLst>
          </p:cNvPr>
          <p:cNvSpPr txBox="1"/>
          <p:nvPr/>
        </p:nvSpPr>
        <p:spPr>
          <a:xfrm>
            <a:off x="704850" y="1205984"/>
            <a:ext cx="6096000" cy="369332"/>
          </a:xfrm>
          <a:prstGeom prst="rect">
            <a:avLst/>
          </a:prstGeom>
          <a:noFill/>
        </p:spPr>
        <p:txBody>
          <a:bodyPr wrap="square">
            <a:spAutoFit/>
          </a:bodyPr>
          <a:lstStyle/>
          <a:p>
            <a:r>
              <a:rPr lang="es-MX" b="1" dirty="0"/>
              <a:t>Ejercicio 1</a:t>
            </a:r>
          </a:p>
        </p:txBody>
      </p:sp>
      <p:pic>
        <p:nvPicPr>
          <p:cNvPr id="6" name="Imagen 5">
            <a:extLst>
              <a:ext uri="{FF2B5EF4-FFF2-40B4-BE49-F238E27FC236}">
                <a16:creationId xmlns:a16="http://schemas.microsoft.com/office/drawing/2014/main" id="{FBEA301A-6B34-6984-434D-6414F4FE2C5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290351" y="1575316"/>
            <a:ext cx="5196799" cy="2923200"/>
          </a:xfrm>
          <a:prstGeom prst="rect">
            <a:avLst/>
          </a:prstGeom>
        </p:spPr>
      </p:pic>
      <p:sp>
        <p:nvSpPr>
          <p:cNvPr id="8" name="CuadroTexto 7">
            <a:extLst>
              <a:ext uri="{FF2B5EF4-FFF2-40B4-BE49-F238E27FC236}">
                <a16:creationId xmlns:a16="http://schemas.microsoft.com/office/drawing/2014/main" id="{CC852FB6-0917-87A0-BCE9-440296794731}"/>
              </a:ext>
            </a:extLst>
          </p:cNvPr>
          <p:cNvSpPr txBox="1"/>
          <p:nvPr/>
        </p:nvSpPr>
        <p:spPr>
          <a:xfrm>
            <a:off x="838200" y="4779407"/>
            <a:ext cx="6096000" cy="369332"/>
          </a:xfrm>
          <a:prstGeom prst="rect">
            <a:avLst/>
          </a:prstGeom>
          <a:noFill/>
        </p:spPr>
        <p:txBody>
          <a:bodyPr wrap="square">
            <a:spAutoFit/>
          </a:bodyPr>
          <a:lstStyle/>
          <a:p>
            <a:r>
              <a:rPr lang="es-MX" b="1" dirty="0"/>
              <a:t>Paso 1:</a:t>
            </a:r>
            <a:r>
              <a:rPr lang="es-MX" dirty="0"/>
              <a:t> creación de estados</a:t>
            </a:r>
          </a:p>
        </p:txBody>
      </p:sp>
      <p:pic>
        <p:nvPicPr>
          <p:cNvPr id="10" name="Imagen 9">
            <a:extLst>
              <a:ext uri="{FF2B5EF4-FFF2-40B4-BE49-F238E27FC236}">
                <a16:creationId xmlns:a16="http://schemas.microsoft.com/office/drawing/2014/main" id="{518A27E7-259E-CA3C-638C-828C142CED5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71681" y="1575316"/>
            <a:ext cx="5196799" cy="2923200"/>
          </a:xfrm>
          <a:prstGeom prst="rect">
            <a:avLst/>
          </a:prstGeom>
        </p:spPr>
      </p:pic>
      <p:sp>
        <p:nvSpPr>
          <p:cNvPr id="12" name="CuadroTexto 11">
            <a:extLst>
              <a:ext uri="{FF2B5EF4-FFF2-40B4-BE49-F238E27FC236}">
                <a16:creationId xmlns:a16="http://schemas.microsoft.com/office/drawing/2014/main" id="{AA9ECF64-A778-CCF8-F0B7-65D70E548CE9}"/>
              </a:ext>
            </a:extLst>
          </p:cNvPr>
          <p:cNvSpPr txBox="1"/>
          <p:nvPr/>
        </p:nvSpPr>
        <p:spPr>
          <a:xfrm>
            <a:off x="5990170" y="4670941"/>
            <a:ext cx="3296705" cy="369332"/>
          </a:xfrm>
          <a:prstGeom prst="rect">
            <a:avLst/>
          </a:prstGeom>
          <a:noFill/>
        </p:spPr>
        <p:txBody>
          <a:bodyPr wrap="square">
            <a:spAutoFit/>
          </a:bodyPr>
          <a:lstStyle/>
          <a:p>
            <a:r>
              <a:rPr lang="es-MX" b="1" dirty="0"/>
              <a:t>Paso 2:</a:t>
            </a:r>
            <a:r>
              <a:rPr lang="es-MX" dirty="0"/>
              <a:t> autómata final</a:t>
            </a:r>
          </a:p>
        </p:txBody>
      </p:sp>
    </p:spTree>
    <p:extLst>
      <p:ext uri="{BB962C8B-B14F-4D97-AF65-F5344CB8AC3E}">
        <p14:creationId xmlns:p14="http://schemas.microsoft.com/office/powerpoint/2010/main" val="2603128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04A65-0BCE-17F0-ECA9-C2BDC816A95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5F49639-B5C5-713F-EB16-676C71D000A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2999691"/>
            <a:ext cx="5012267" cy="2819400"/>
          </a:xfrm>
          <a:prstGeom prst="rect">
            <a:avLst/>
          </a:prstGeom>
        </p:spPr>
      </p:pic>
      <p:sp>
        <p:nvSpPr>
          <p:cNvPr id="7" name="CuadroTexto 6">
            <a:extLst>
              <a:ext uri="{FF2B5EF4-FFF2-40B4-BE49-F238E27FC236}">
                <a16:creationId xmlns:a16="http://schemas.microsoft.com/office/drawing/2014/main" id="{50DF42A0-877A-3E29-974E-F5B3D3A3AB9D}"/>
              </a:ext>
            </a:extLst>
          </p:cNvPr>
          <p:cNvSpPr txBox="1"/>
          <p:nvPr/>
        </p:nvSpPr>
        <p:spPr>
          <a:xfrm>
            <a:off x="714375" y="3763060"/>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t>
            </a:r>
            <a:r>
              <a:rPr lang="es-MX" dirty="0" err="1"/>
              <a:t>abbb</a:t>
            </a:r>
            <a:endParaRPr lang="es-MX" dirty="0"/>
          </a:p>
        </p:txBody>
      </p:sp>
      <p:pic>
        <p:nvPicPr>
          <p:cNvPr id="10" name="Imagen 9">
            <a:extLst>
              <a:ext uri="{FF2B5EF4-FFF2-40B4-BE49-F238E27FC236}">
                <a16:creationId xmlns:a16="http://schemas.microsoft.com/office/drawing/2014/main" id="{9F6FFFA2-2D24-E72F-E0F3-036DFAF956C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8176" y="1038226"/>
            <a:ext cx="4470400" cy="2514600"/>
          </a:xfrm>
          <a:prstGeom prst="rect">
            <a:avLst/>
          </a:prstGeom>
        </p:spPr>
      </p:pic>
      <p:sp>
        <p:nvSpPr>
          <p:cNvPr id="12" name="CuadroTexto 11">
            <a:extLst>
              <a:ext uri="{FF2B5EF4-FFF2-40B4-BE49-F238E27FC236}">
                <a16:creationId xmlns:a16="http://schemas.microsoft.com/office/drawing/2014/main" id="{F4965CA6-A036-61DB-A3C2-3430719D6A6D}"/>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pic>
        <p:nvPicPr>
          <p:cNvPr id="14" name="Imagen 13">
            <a:extLst>
              <a:ext uri="{FF2B5EF4-FFF2-40B4-BE49-F238E27FC236}">
                <a16:creationId xmlns:a16="http://schemas.microsoft.com/office/drawing/2014/main" id="{4F5B889D-32EF-54CC-34F1-B2609456A08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64249" y="133350"/>
            <a:ext cx="5012267" cy="2819400"/>
          </a:xfrm>
          <a:prstGeom prst="rect">
            <a:avLst/>
          </a:prstGeom>
        </p:spPr>
      </p:pic>
    </p:spTree>
    <p:extLst>
      <p:ext uri="{BB962C8B-B14F-4D97-AF65-F5344CB8AC3E}">
        <p14:creationId xmlns:p14="http://schemas.microsoft.com/office/powerpoint/2010/main" val="4118601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A0F16-665E-B964-540A-B6D47EB0B86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40B32E7-E9E7-61FA-3941-3605A36F483B}"/>
              </a:ext>
            </a:extLst>
          </p:cNvPr>
          <p:cNvSpPr txBox="1"/>
          <p:nvPr/>
        </p:nvSpPr>
        <p:spPr>
          <a:xfrm>
            <a:off x="752475" y="624959"/>
            <a:ext cx="6096000" cy="369332"/>
          </a:xfrm>
          <a:prstGeom prst="rect">
            <a:avLst/>
          </a:prstGeom>
          <a:noFill/>
        </p:spPr>
        <p:txBody>
          <a:bodyPr wrap="square">
            <a:spAutoFit/>
          </a:bodyPr>
          <a:lstStyle/>
          <a:p>
            <a:r>
              <a:rPr lang="es-MX" b="1" dirty="0"/>
              <a:t>Ejercicio 2</a:t>
            </a:r>
          </a:p>
        </p:txBody>
      </p:sp>
      <p:pic>
        <p:nvPicPr>
          <p:cNvPr id="4" name="Imagen 3">
            <a:extLst>
              <a:ext uri="{FF2B5EF4-FFF2-40B4-BE49-F238E27FC236}">
                <a16:creationId xmlns:a16="http://schemas.microsoft.com/office/drawing/2014/main" id="{6DC1D86E-7914-9F7F-1BE3-D728D15ACA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688475" y="1290636"/>
            <a:ext cx="5196799" cy="2923200"/>
          </a:xfrm>
          <a:prstGeom prst="rect">
            <a:avLst/>
          </a:prstGeom>
        </p:spPr>
      </p:pic>
      <p:pic>
        <p:nvPicPr>
          <p:cNvPr id="6" name="Imagen 5">
            <a:extLst>
              <a:ext uri="{FF2B5EF4-FFF2-40B4-BE49-F238E27FC236}">
                <a16:creationId xmlns:a16="http://schemas.microsoft.com/office/drawing/2014/main" id="{9AE4FBA4-E280-79F1-F808-C11430839C4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2475" y="1290636"/>
            <a:ext cx="5196800" cy="2923200"/>
          </a:xfrm>
          <a:prstGeom prst="rect">
            <a:avLst/>
          </a:prstGeom>
        </p:spPr>
      </p:pic>
      <p:sp>
        <p:nvSpPr>
          <p:cNvPr id="7" name="CuadroTexto 6">
            <a:extLst>
              <a:ext uri="{FF2B5EF4-FFF2-40B4-BE49-F238E27FC236}">
                <a16:creationId xmlns:a16="http://schemas.microsoft.com/office/drawing/2014/main" id="{B4F712D9-8AC2-E9B4-7D02-9C7B5372AD3C}"/>
              </a:ext>
            </a:extLst>
          </p:cNvPr>
          <p:cNvSpPr txBox="1"/>
          <p:nvPr/>
        </p:nvSpPr>
        <p:spPr>
          <a:xfrm>
            <a:off x="876300" y="4670941"/>
            <a:ext cx="6096000" cy="369332"/>
          </a:xfrm>
          <a:prstGeom prst="rect">
            <a:avLst/>
          </a:prstGeom>
          <a:noFill/>
        </p:spPr>
        <p:txBody>
          <a:bodyPr wrap="square">
            <a:spAutoFit/>
          </a:bodyPr>
          <a:lstStyle/>
          <a:p>
            <a:r>
              <a:rPr lang="es-MX" b="1" dirty="0"/>
              <a:t>Paso 1:</a:t>
            </a:r>
            <a:r>
              <a:rPr lang="es-MX" dirty="0"/>
              <a:t> creación de estados</a:t>
            </a:r>
          </a:p>
        </p:txBody>
      </p:sp>
      <p:sp>
        <p:nvSpPr>
          <p:cNvPr id="8" name="CuadroTexto 7">
            <a:extLst>
              <a:ext uri="{FF2B5EF4-FFF2-40B4-BE49-F238E27FC236}">
                <a16:creationId xmlns:a16="http://schemas.microsoft.com/office/drawing/2014/main" id="{D8B52066-59C9-40CA-D523-EAD14A6E81BE}"/>
              </a:ext>
            </a:extLst>
          </p:cNvPr>
          <p:cNvSpPr txBox="1"/>
          <p:nvPr/>
        </p:nvSpPr>
        <p:spPr>
          <a:xfrm>
            <a:off x="8018995" y="4486275"/>
            <a:ext cx="3296705" cy="369332"/>
          </a:xfrm>
          <a:prstGeom prst="rect">
            <a:avLst/>
          </a:prstGeom>
          <a:noFill/>
        </p:spPr>
        <p:txBody>
          <a:bodyPr wrap="square">
            <a:spAutoFit/>
          </a:bodyPr>
          <a:lstStyle/>
          <a:p>
            <a:r>
              <a:rPr lang="es-MX" b="1" dirty="0"/>
              <a:t>Paso 2:</a:t>
            </a:r>
            <a:r>
              <a:rPr lang="es-MX" dirty="0"/>
              <a:t> autómata final</a:t>
            </a:r>
          </a:p>
        </p:txBody>
      </p:sp>
    </p:spTree>
    <p:extLst>
      <p:ext uri="{BB962C8B-B14F-4D97-AF65-F5344CB8AC3E}">
        <p14:creationId xmlns:p14="http://schemas.microsoft.com/office/powerpoint/2010/main" val="2909739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C5639-5161-7032-3711-CFE0AFD6312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2788CB0-D543-E664-76E5-D2B3E9BB879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06039" y="2847974"/>
            <a:ext cx="4557186" cy="2563417"/>
          </a:xfrm>
          <a:prstGeom prst="rect">
            <a:avLst/>
          </a:prstGeom>
        </p:spPr>
      </p:pic>
      <p:pic>
        <p:nvPicPr>
          <p:cNvPr id="7" name="Imagen 6">
            <a:extLst>
              <a:ext uri="{FF2B5EF4-FFF2-40B4-BE49-F238E27FC236}">
                <a16:creationId xmlns:a16="http://schemas.microsoft.com/office/drawing/2014/main" id="{577505A6-77FC-DE11-0F23-25999AA04A4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06039" y="164900"/>
            <a:ext cx="4557186" cy="2563417"/>
          </a:xfrm>
          <a:prstGeom prst="rect">
            <a:avLst/>
          </a:prstGeom>
        </p:spPr>
      </p:pic>
      <p:pic>
        <p:nvPicPr>
          <p:cNvPr id="9" name="Imagen 8">
            <a:extLst>
              <a:ext uri="{FF2B5EF4-FFF2-40B4-BE49-F238E27FC236}">
                <a16:creationId xmlns:a16="http://schemas.microsoft.com/office/drawing/2014/main" id="{2D366B96-1016-A620-B9FB-8085E0C923E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81100" y="1400175"/>
            <a:ext cx="4385734" cy="2466975"/>
          </a:xfrm>
          <a:prstGeom prst="rect">
            <a:avLst/>
          </a:prstGeom>
        </p:spPr>
      </p:pic>
      <p:sp>
        <p:nvSpPr>
          <p:cNvPr id="12" name="CuadroTexto 11">
            <a:extLst>
              <a:ext uri="{FF2B5EF4-FFF2-40B4-BE49-F238E27FC236}">
                <a16:creationId xmlns:a16="http://schemas.microsoft.com/office/drawing/2014/main" id="{19B2E89E-62FE-FDCF-6DFB-86F5BE54CD6E}"/>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ab</a:t>
            </a:r>
          </a:p>
        </p:txBody>
      </p:sp>
      <p:sp>
        <p:nvSpPr>
          <p:cNvPr id="13" name="CuadroTexto 12">
            <a:extLst>
              <a:ext uri="{FF2B5EF4-FFF2-40B4-BE49-F238E27FC236}">
                <a16:creationId xmlns:a16="http://schemas.microsoft.com/office/drawing/2014/main" id="{63A48269-A2F7-3E8B-D6A0-35192F01DEBF}"/>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spTree>
    <p:extLst>
      <p:ext uri="{BB962C8B-B14F-4D97-AF65-F5344CB8AC3E}">
        <p14:creationId xmlns:p14="http://schemas.microsoft.com/office/powerpoint/2010/main" val="457301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2B1-127B-7D95-E11D-5748666B873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BA41FDE-5E16-362A-A21A-993BF06EC218}"/>
              </a:ext>
            </a:extLst>
          </p:cNvPr>
          <p:cNvSpPr txBox="1"/>
          <p:nvPr/>
        </p:nvSpPr>
        <p:spPr>
          <a:xfrm>
            <a:off x="723900" y="815459"/>
            <a:ext cx="6096000" cy="369332"/>
          </a:xfrm>
          <a:prstGeom prst="rect">
            <a:avLst/>
          </a:prstGeom>
          <a:noFill/>
        </p:spPr>
        <p:txBody>
          <a:bodyPr wrap="square">
            <a:spAutoFit/>
          </a:bodyPr>
          <a:lstStyle/>
          <a:p>
            <a:r>
              <a:rPr lang="es-MX" b="1" dirty="0"/>
              <a:t>Ejercicio 3</a:t>
            </a:r>
          </a:p>
        </p:txBody>
      </p:sp>
      <p:sp>
        <p:nvSpPr>
          <p:cNvPr id="4" name="CuadroTexto 3">
            <a:extLst>
              <a:ext uri="{FF2B5EF4-FFF2-40B4-BE49-F238E27FC236}">
                <a16:creationId xmlns:a16="http://schemas.microsoft.com/office/drawing/2014/main" id="{C14D4508-77C5-50BB-A9F8-93F10139C72A}"/>
              </a:ext>
            </a:extLst>
          </p:cNvPr>
          <p:cNvSpPr txBox="1"/>
          <p:nvPr/>
        </p:nvSpPr>
        <p:spPr>
          <a:xfrm>
            <a:off x="760075" y="4486275"/>
            <a:ext cx="3516650" cy="369332"/>
          </a:xfrm>
          <a:prstGeom prst="rect">
            <a:avLst/>
          </a:prstGeom>
          <a:noFill/>
        </p:spPr>
        <p:txBody>
          <a:bodyPr wrap="square">
            <a:spAutoFit/>
          </a:bodyPr>
          <a:lstStyle/>
          <a:p>
            <a:r>
              <a:rPr lang="es-MX" b="1" dirty="0"/>
              <a:t>Paso 1:</a:t>
            </a:r>
            <a:r>
              <a:rPr lang="es-MX" dirty="0"/>
              <a:t> creación de estados</a:t>
            </a:r>
          </a:p>
        </p:txBody>
      </p:sp>
      <p:sp>
        <p:nvSpPr>
          <p:cNvPr id="5" name="CuadroTexto 4">
            <a:extLst>
              <a:ext uri="{FF2B5EF4-FFF2-40B4-BE49-F238E27FC236}">
                <a16:creationId xmlns:a16="http://schemas.microsoft.com/office/drawing/2014/main" id="{0A3FD9E5-8345-41C6-0026-1C30CDBB4BCB}"/>
              </a:ext>
            </a:extLst>
          </p:cNvPr>
          <p:cNvSpPr txBox="1"/>
          <p:nvPr/>
        </p:nvSpPr>
        <p:spPr>
          <a:xfrm>
            <a:off x="6266924" y="4486275"/>
            <a:ext cx="3296705" cy="369332"/>
          </a:xfrm>
          <a:prstGeom prst="rect">
            <a:avLst/>
          </a:prstGeom>
          <a:noFill/>
        </p:spPr>
        <p:txBody>
          <a:bodyPr wrap="square">
            <a:spAutoFit/>
          </a:bodyPr>
          <a:lstStyle/>
          <a:p>
            <a:r>
              <a:rPr lang="es-MX" b="1" dirty="0"/>
              <a:t>Paso 2:</a:t>
            </a:r>
            <a:r>
              <a:rPr lang="es-MX" dirty="0"/>
              <a:t> autómata final</a:t>
            </a:r>
          </a:p>
        </p:txBody>
      </p:sp>
      <p:pic>
        <p:nvPicPr>
          <p:cNvPr id="7" name="Imagen 6">
            <a:extLst>
              <a:ext uri="{FF2B5EF4-FFF2-40B4-BE49-F238E27FC236}">
                <a16:creationId xmlns:a16="http://schemas.microsoft.com/office/drawing/2014/main" id="{3760A7C3-0FD6-CC89-2D79-7B4AC0A068A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990170" y="1415415"/>
            <a:ext cx="5196800" cy="2923200"/>
          </a:xfrm>
          <a:prstGeom prst="rect">
            <a:avLst/>
          </a:prstGeom>
        </p:spPr>
      </p:pic>
      <p:pic>
        <p:nvPicPr>
          <p:cNvPr id="9" name="Imagen 8">
            <a:extLst>
              <a:ext uri="{FF2B5EF4-FFF2-40B4-BE49-F238E27FC236}">
                <a16:creationId xmlns:a16="http://schemas.microsoft.com/office/drawing/2014/main" id="{B4A8AE95-39A4-F911-6979-76A5BAC023E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28626" y="1415415"/>
            <a:ext cx="5196799" cy="2923200"/>
          </a:xfrm>
          <a:prstGeom prst="rect">
            <a:avLst/>
          </a:prstGeom>
        </p:spPr>
      </p:pic>
    </p:spTree>
    <p:extLst>
      <p:ext uri="{BB962C8B-B14F-4D97-AF65-F5344CB8AC3E}">
        <p14:creationId xmlns:p14="http://schemas.microsoft.com/office/powerpoint/2010/main" val="799852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57C08-C481-1331-11A7-D92B04C90B2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FE52358-89AF-4142-771A-1F5ED155103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701241" y="2781300"/>
            <a:ext cx="4995333" cy="2809875"/>
          </a:xfrm>
          <a:prstGeom prst="rect">
            <a:avLst/>
          </a:prstGeom>
        </p:spPr>
      </p:pic>
      <p:pic>
        <p:nvPicPr>
          <p:cNvPr id="5" name="Imagen 4">
            <a:extLst>
              <a:ext uri="{FF2B5EF4-FFF2-40B4-BE49-F238E27FC236}">
                <a16:creationId xmlns:a16="http://schemas.microsoft.com/office/drawing/2014/main" id="{2B4BA11B-E1E5-AF3C-079D-8A160C4CA2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701241" y="-28576"/>
            <a:ext cx="4995335" cy="2809876"/>
          </a:xfrm>
          <a:prstGeom prst="rect">
            <a:avLst/>
          </a:prstGeom>
        </p:spPr>
      </p:pic>
      <p:pic>
        <p:nvPicPr>
          <p:cNvPr id="7" name="Imagen 6">
            <a:extLst>
              <a:ext uri="{FF2B5EF4-FFF2-40B4-BE49-F238E27FC236}">
                <a16:creationId xmlns:a16="http://schemas.microsoft.com/office/drawing/2014/main" id="{78309A99-0934-1ADD-25BA-BD3D8696A43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8125" y="1376362"/>
            <a:ext cx="4995333" cy="2809875"/>
          </a:xfrm>
          <a:prstGeom prst="rect">
            <a:avLst/>
          </a:prstGeom>
        </p:spPr>
      </p:pic>
      <p:sp>
        <p:nvSpPr>
          <p:cNvPr id="8" name="CuadroTexto 7">
            <a:extLst>
              <a:ext uri="{FF2B5EF4-FFF2-40B4-BE49-F238E27FC236}">
                <a16:creationId xmlns:a16="http://schemas.microsoft.com/office/drawing/2014/main" id="{232F1487-2BE3-E30B-3FCA-11896E00111F}"/>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ab</a:t>
            </a:r>
          </a:p>
        </p:txBody>
      </p:sp>
      <p:sp>
        <p:nvSpPr>
          <p:cNvPr id="9" name="CuadroTexto 8">
            <a:extLst>
              <a:ext uri="{FF2B5EF4-FFF2-40B4-BE49-F238E27FC236}">
                <a16:creationId xmlns:a16="http://schemas.microsoft.com/office/drawing/2014/main" id="{854FAEAF-E450-5AF3-A946-211F156363B4}"/>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spTree>
    <p:extLst>
      <p:ext uri="{BB962C8B-B14F-4D97-AF65-F5344CB8AC3E}">
        <p14:creationId xmlns:p14="http://schemas.microsoft.com/office/powerpoint/2010/main" val="581501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D1748-02C5-9C04-7554-AEC2814C481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1CFB0E7-4BD8-DBA5-CCCC-02E5D1DF82DD}"/>
              </a:ext>
            </a:extLst>
          </p:cNvPr>
          <p:cNvSpPr txBox="1"/>
          <p:nvPr/>
        </p:nvSpPr>
        <p:spPr>
          <a:xfrm>
            <a:off x="723900" y="815459"/>
            <a:ext cx="6096000" cy="369332"/>
          </a:xfrm>
          <a:prstGeom prst="rect">
            <a:avLst/>
          </a:prstGeom>
          <a:noFill/>
        </p:spPr>
        <p:txBody>
          <a:bodyPr wrap="square">
            <a:spAutoFit/>
          </a:bodyPr>
          <a:lstStyle/>
          <a:p>
            <a:r>
              <a:rPr lang="es-MX" b="1" dirty="0"/>
              <a:t>Ejercicio 4</a:t>
            </a:r>
          </a:p>
        </p:txBody>
      </p:sp>
      <p:sp>
        <p:nvSpPr>
          <p:cNvPr id="3" name="CuadroTexto 2">
            <a:extLst>
              <a:ext uri="{FF2B5EF4-FFF2-40B4-BE49-F238E27FC236}">
                <a16:creationId xmlns:a16="http://schemas.microsoft.com/office/drawing/2014/main" id="{E2A92EFB-2EA8-8759-EB2A-9796952CE2FA}"/>
              </a:ext>
            </a:extLst>
          </p:cNvPr>
          <p:cNvSpPr txBox="1"/>
          <p:nvPr/>
        </p:nvSpPr>
        <p:spPr>
          <a:xfrm>
            <a:off x="819150" y="4670941"/>
            <a:ext cx="6096000" cy="369332"/>
          </a:xfrm>
          <a:prstGeom prst="rect">
            <a:avLst/>
          </a:prstGeom>
          <a:noFill/>
        </p:spPr>
        <p:txBody>
          <a:bodyPr wrap="square">
            <a:spAutoFit/>
          </a:bodyPr>
          <a:lstStyle/>
          <a:p>
            <a:r>
              <a:rPr lang="es-MX" b="1" dirty="0"/>
              <a:t>Paso 1:</a:t>
            </a:r>
            <a:r>
              <a:rPr lang="es-MX" dirty="0"/>
              <a:t> creación de estados</a:t>
            </a:r>
          </a:p>
        </p:txBody>
      </p:sp>
      <p:sp>
        <p:nvSpPr>
          <p:cNvPr id="4" name="CuadroTexto 3">
            <a:extLst>
              <a:ext uri="{FF2B5EF4-FFF2-40B4-BE49-F238E27FC236}">
                <a16:creationId xmlns:a16="http://schemas.microsoft.com/office/drawing/2014/main" id="{DA1E08BF-801F-0477-E64C-3FEF5EB5BE70}"/>
              </a:ext>
            </a:extLst>
          </p:cNvPr>
          <p:cNvSpPr txBox="1"/>
          <p:nvPr/>
        </p:nvSpPr>
        <p:spPr>
          <a:xfrm>
            <a:off x="5990170" y="4670941"/>
            <a:ext cx="3296705" cy="369332"/>
          </a:xfrm>
          <a:prstGeom prst="rect">
            <a:avLst/>
          </a:prstGeom>
          <a:noFill/>
        </p:spPr>
        <p:txBody>
          <a:bodyPr wrap="square">
            <a:spAutoFit/>
          </a:bodyPr>
          <a:lstStyle/>
          <a:p>
            <a:r>
              <a:rPr lang="es-MX" b="1" dirty="0"/>
              <a:t>Paso 2:</a:t>
            </a:r>
            <a:r>
              <a:rPr lang="es-MX" dirty="0"/>
              <a:t> autómata final</a:t>
            </a:r>
          </a:p>
        </p:txBody>
      </p:sp>
      <p:pic>
        <p:nvPicPr>
          <p:cNvPr id="6" name="Imagen 5">
            <a:extLst>
              <a:ext uri="{FF2B5EF4-FFF2-40B4-BE49-F238E27FC236}">
                <a16:creationId xmlns:a16="http://schemas.microsoft.com/office/drawing/2014/main" id="{404D69D7-4F67-C6B9-8244-7780FCE00CF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71500" y="1466266"/>
            <a:ext cx="5196800" cy="2923200"/>
          </a:xfrm>
          <a:prstGeom prst="rect">
            <a:avLst/>
          </a:prstGeom>
        </p:spPr>
      </p:pic>
      <p:pic>
        <p:nvPicPr>
          <p:cNvPr id="8" name="Imagen 7">
            <a:extLst>
              <a:ext uri="{FF2B5EF4-FFF2-40B4-BE49-F238E27FC236}">
                <a16:creationId xmlns:a16="http://schemas.microsoft.com/office/drawing/2014/main" id="{76526778-2458-1A02-253A-916918B6FA9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09245" y="1466266"/>
            <a:ext cx="5196800" cy="2923200"/>
          </a:xfrm>
          <a:prstGeom prst="rect">
            <a:avLst/>
          </a:prstGeom>
        </p:spPr>
      </p:pic>
    </p:spTree>
    <p:extLst>
      <p:ext uri="{BB962C8B-B14F-4D97-AF65-F5344CB8AC3E}">
        <p14:creationId xmlns:p14="http://schemas.microsoft.com/office/powerpoint/2010/main" val="3485743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0243B-EE17-6FDE-D537-64B507C5BAA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AD887BB6-4CFE-60EF-3249-CBAB521DF03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548841" y="323850"/>
            <a:ext cx="5757333" cy="3238500"/>
          </a:xfrm>
          <a:prstGeom prst="rect">
            <a:avLst/>
          </a:prstGeom>
        </p:spPr>
      </p:pic>
      <p:pic>
        <p:nvPicPr>
          <p:cNvPr id="5" name="Imagen 4">
            <a:extLst>
              <a:ext uri="{FF2B5EF4-FFF2-40B4-BE49-F238E27FC236}">
                <a16:creationId xmlns:a16="http://schemas.microsoft.com/office/drawing/2014/main" id="{A24F9D7D-2F9B-46BB-748F-ED9F2E9B62A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548841" y="3762375"/>
            <a:ext cx="5503333" cy="3095625"/>
          </a:xfrm>
          <a:prstGeom prst="rect">
            <a:avLst/>
          </a:prstGeom>
        </p:spPr>
      </p:pic>
      <p:pic>
        <p:nvPicPr>
          <p:cNvPr id="7" name="Imagen 6">
            <a:extLst>
              <a:ext uri="{FF2B5EF4-FFF2-40B4-BE49-F238E27FC236}">
                <a16:creationId xmlns:a16="http://schemas.microsoft.com/office/drawing/2014/main" id="{B0AB8225-DEEB-5ED7-D938-12B5B44ED05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7068" y="1447800"/>
            <a:ext cx="4668308" cy="2625923"/>
          </a:xfrm>
          <a:prstGeom prst="rect">
            <a:avLst/>
          </a:prstGeom>
        </p:spPr>
      </p:pic>
    </p:spTree>
    <p:extLst>
      <p:ext uri="{BB962C8B-B14F-4D97-AF65-F5344CB8AC3E}">
        <p14:creationId xmlns:p14="http://schemas.microsoft.com/office/powerpoint/2010/main" val="2405079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3D54-7CC1-59D0-86CB-A0D591F6C52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0C09E3F-7ACC-936D-6DB5-4520181C3F8D}"/>
              </a:ext>
            </a:extLst>
          </p:cNvPr>
          <p:cNvSpPr txBox="1"/>
          <p:nvPr/>
        </p:nvSpPr>
        <p:spPr>
          <a:xfrm>
            <a:off x="676275" y="849868"/>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5</a:t>
            </a:r>
            <a:endParaRPr lang="es-MX" dirty="0">
              <a:effectLst/>
            </a:endParaRPr>
          </a:p>
        </p:txBody>
      </p:sp>
      <p:sp>
        <p:nvSpPr>
          <p:cNvPr id="4" name="CuadroTexto 3">
            <a:extLst>
              <a:ext uri="{FF2B5EF4-FFF2-40B4-BE49-F238E27FC236}">
                <a16:creationId xmlns:a16="http://schemas.microsoft.com/office/drawing/2014/main" id="{7B6C3B04-9405-A88D-29AA-3BD1B2136C1E}"/>
              </a:ext>
            </a:extLst>
          </p:cNvPr>
          <p:cNvSpPr txBox="1"/>
          <p:nvPr/>
        </p:nvSpPr>
        <p:spPr>
          <a:xfrm>
            <a:off x="790575" y="4670941"/>
            <a:ext cx="5199595" cy="369332"/>
          </a:xfrm>
          <a:prstGeom prst="rect">
            <a:avLst/>
          </a:prstGeom>
          <a:noFill/>
        </p:spPr>
        <p:txBody>
          <a:bodyPr wrap="square">
            <a:spAutoFit/>
          </a:bodyPr>
          <a:lstStyle/>
          <a:p>
            <a:r>
              <a:rPr lang="es-MX" b="1" dirty="0"/>
              <a:t>Paso 1:</a:t>
            </a:r>
            <a:r>
              <a:rPr lang="es-MX" dirty="0"/>
              <a:t> creación de estados</a:t>
            </a:r>
          </a:p>
        </p:txBody>
      </p:sp>
      <p:sp>
        <p:nvSpPr>
          <p:cNvPr id="5" name="CuadroTexto 4">
            <a:extLst>
              <a:ext uri="{FF2B5EF4-FFF2-40B4-BE49-F238E27FC236}">
                <a16:creationId xmlns:a16="http://schemas.microsoft.com/office/drawing/2014/main" id="{13183990-9969-7D83-5C35-E33BFF67C3C8}"/>
              </a:ext>
            </a:extLst>
          </p:cNvPr>
          <p:cNvSpPr txBox="1"/>
          <p:nvPr/>
        </p:nvSpPr>
        <p:spPr>
          <a:xfrm>
            <a:off x="5990170" y="4670941"/>
            <a:ext cx="3296705" cy="369332"/>
          </a:xfrm>
          <a:prstGeom prst="rect">
            <a:avLst/>
          </a:prstGeom>
          <a:noFill/>
        </p:spPr>
        <p:txBody>
          <a:bodyPr wrap="square">
            <a:spAutoFit/>
          </a:bodyPr>
          <a:lstStyle/>
          <a:p>
            <a:r>
              <a:rPr lang="es-MX" b="1" dirty="0"/>
              <a:t>Paso 2:</a:t>
            </a:r>
            <a:r>
              <a:rPr lang="es-MX" dirty="0"/>
              <a:t> autómata final</a:t>
            </a:r>
          </a:p>
        </p:txBody>
      </p:sp>
      <p:pic>
        <p:nvPicPr>
          <p:cNvPr id="7" name="Imagen 6">
            <a:extLst>
              <a:ext uri="{FF2B5EF4-FFF2-40B4-BE49-F238E27FC236}">
                <a16:creationId xmlns:a16="http://schemas.microsoft.com/office/drawing/2014/main" id="{63567A6B-6675-1008-AB0E-14D7A8E9A20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1737241"/>
            <a:ext cx="5196800" cy="2923200"/>
          </a:xfrm>
          <a:prstGeom prst="rect">
            <a:avLst/>
          </a:prstGeom>
        </p:spPr>
      </p:pic>
      <p:pic>
        <p:nvPicPr>
          <p:cNvPr id="9" name="Imagen 8">
            <a:extLst>
              <a:ext uri="{FF2B5EF4-FFF2-40B4-BE49-F238E27FC236}">
                <a16:creationId xmlns:a16="http://schemas.microsoft.com/office/drawing/2014/main" id="{B05B569D-2D24-5667-3AD1-502D53F7F30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9456" y="1737241"/>
            <a:ext cx="5196800" cy="2923200"/>
          </a:xfrm>
          <a:prstGeom prst="rect">
            <a:avLst/>
          </a:prstGeom>
        </p:spPr>
      </p:pic>
    </p:spTree>
    <p:extLst>
      <p:ext uri="{BB962C8B-B14F-4D97-AF65-F5344CB8AC3E}">
        <p14:creationId xmlns:p14="http://schemas.microsoft.com/office/powerpoint/2010/main" val="487241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670C5-C214-CB32-0A33-673FAF07F6A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10336CB-413B-4151-034F-14422F39BD6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3046720"/>
            <a:ext cx="4857751" cy="2732485"/>
          </a:xfrm>
          <a:prstGeom prst="rect">
            <a:avLst/>
          </a:prstGeom>
        </p:spPr>
      </p:pic>
      <p:pic>
        <p:nvPicPr>
          <p:cNvPr id="5" name="Imagen 4">
            <a:extLst>
              <a:ext uri="{FF2B5EF4-FFF2-40B4-BE49-F238E27FC236}">
                <a16:creationId xmlns:a16="http://schemas.microsoft.com/office/drawing/2014/main" id="{D12CB683-C1E6-5A13-E64C-CE268BD64F6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6000" y="228599"/>
            <a:ext cx="4857750" cy="2732485"/>
          </a:xfrm>
          <a:prstGeom prst="rect">
            <a:avLst/>
          </a:prstGeom>
        </p:spPr>
      </p:pic>
      <p:pic>
        <p:nvPicPr>
          <p:cNvPr id="7" name="Imagen 6">
            <a:extLst>
              <a:ext uri="{FF2B5EF4-FFF2-40B4-BE49-F238E27FC236}">
                <a16:creationId xmlns:a16="http://schemas.microsoft.com/office/drawing/2014/main" id="{7DE54883-12E5-45DD-69AD-EFCFE7E36D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4000" y="1476375"/>
            <a:ext cx="5232400" cy="2943225"/>
          </a:xfrm>
          <a:prstGeom prst="rect">
            <a:avLst/>
          </a:prstGeom>
        </p:spPr>
      </p:pic>
      <p:sp>
        <p:nvSpPr>
          <p:cNvPr id="8" name="CuadroTexto 7">
            <a:extLst>
              <a:ext uri="{FF2B5EF4-FFF2-40B4-BE49-F238E27FC236}">
                <a16:creationId xmlns:a16="http://schemas.microsoft.com/office/drawing/2014/main" id="{EFB4A7CB-8D1D-FD38-DAA8-3B83A807CC2A}"/>
              </a:ext>
            </a:extLst>
          </p:cNvPr>
          <p:cNvSpPr txBox="1"/>
          <p:nvPr/>
        </p:nvSpPr>
        <p:spPr>
          <a:xfrm>
            <a:off x="876300" y="48727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1212</a:t>
            </a:r>
          </a:p>
        </p:txBody>
      </p:sp>
      <p:sp>
        <p:nvSpPr>
          <p:cNvPr id="9" name="CuadroTexto 8">
            <a:extLst>
              <a:ext uri="{FF2B5EF4-FFF2-40B4-BE49-F238E27FC236}">
                <a16:creationId xmlns:a16="http://schemas.microsoft.com/office/drawing/2014/main" id="{F10076BE-B272-6A38-A555-66DCD916343E}"/>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spTree>
    <p:extLst>
      <p:ext uri="{BB962C8B-B14F-4D97-AF65-F5344CB8AC3E}">
        <p14:creationId xmlns:p14="http://schemas.microsoft.com/office/powerpoint/2010/main" val="3971392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6CBD-22F9-D3BE-13B4-6C275EC5D29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4F8B33E-C5CE-E963-4F75-6A2B8296E27A}"/>
              </a:ext>
            </a:extLst>
          </p:cNvPr>
          <p:cNvSpPr txBox="1"/>
          <p:nvPr/>
        </p:nvSpPr>
        <p:spPr>
          <a:xfrm>
            <a:off x="771525" y="4486275"/>
            <a:ext cx="6096000" cy="369332"/>
          </a:xfrm>
          <a:prstGeom prst="rect">
            <a:avLst/>
          </a:prstGeom>
          <a:noFill/>
        </p:spPr>
        <p:txBody>
          <a:bodyPr wrap="square">
            <a:spAutoFit/>
          </a:bodyPr>
          <a:lstStyle/>
          <a:p>
            <a:r>
              <a:rPr lang="es-MX" b="1" dirty="0"/>
              <a:t>Paso 1:</a:t>
            </a:r>
            <a:r>
              <a:rPr lang="es-MX" dirty="0"/>
              <a:t> creación de estados</a:t>
            </a:r>
          </a:p>
        </p:txBody>
      </p:sp>
      <p:sp>
        <p:nvSpPr>
          <p:cNvPr id="3" name="CuadroTexto 2">
            <a:extLst>
              <a:ext uri="{FF2B5EF4-FFF2-40B4-BE49-F238E27FC236}">
                <a16:creationId xmlns:a16="http://schemas.microsoft.com/office/drawing/2014/main" id="{D7171FEB-56AE-1B68-FF1C-3673A7A2E581}"/>
              </a:ext>
            </a:extLst>
          </p:cNvPr>
          <p:cNvSpPr txBox="1"/>
          <p:nvPr/>
        </p:nvSpPr>
        <p:spPr>
          <a:xfrm>
            <a:off x="5990170" y="4670941"/>
            <a:ext cx="3296705" cy="369332"/>
          </a:xfrm>
          <a:prstGeom prst="rect">
            <a:avLst/>
          </a:prstGeom>
          <a:noFill/>
        </p:spPr>
        <p:txBody>
          <a:bodyPr wrap="square">
            <a:spAutoFit/>
          </a:bodyPr>
          <a:lstStyle/>
          <a:p>
            <a:r>
              <a:rPr lang="es-MX" b="1" dirty="0"/>
              <a:t>Paso 2:</a:t>
            </a:r>
            <a:r>
              <a:rPr lang="es-MX" dirty="0"/>
              <a:t> autómata final</a:t>
            </a:r>
          </a:p>
        </p:txBody>
      </p:sp>
      <p:pic>
        <p:nvPicPr>
          <p:cNvPr id="5" name="Imagen 4">
            <a:extLst>
              <a:ext uri="{FF2B5EF4-FFF2-40B4-BE49-F238E27FC236}">
                <a16:creationId xmlns:a16="http://schemas.microsoft.com/office/drawing/2014/main" id="{3B6FD114-A785-90D0-50BD-EC7AC2A9BAC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84174" y="1339334"/>
            <a:ext cx="5196800" cy="2923200"/>
          </a:xfrm>
          <a:prstGeom prst="rect">
            <a:avLst/>
          </a:prstGeom>
        </p:spPr>
      </p:pic>
      <p:pic>
        <p:nvPicPr>
          <p:cNvPr id="7" name="Imagen 6">
            <a:extLst>
              <a:ext uri="{FF2B5EF4-FFF2-40B4-BE49-F238E27FC236}">
                <a16:creationId xmlns:a16="http://schemas.microsoft.com/office/drawing/2014/main" id="{11600A31-40C1-9541-ED29-DA4ED447978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90170" y="1298804"/>
            <a:ext cx="5196800" cy="2923200"/>
          </a:xfrm>
          <a:prstGeom prst="rect">
            <a:avLst/>
          </a:prstGeom>
        </p:spPr>
      </p:pic>
      <p:sp>
        <p:nvSpPr>
          <p:cNvPr id="8" name="CuadroTexto 7">
            <a:extLst>
              <a:ext uri="{FF2B5EF4-FFF2-40B4-BE49-F238E27FC236}">
                <a16:creationId xmlns:a16="http://schemas.microsoft.com/office/drawing/2014/main" id="{6F60DC74-E532-8D43-F0CE-4B7816972D85}"/>
              </a:ext>
            </a:extLst>
          </p:cNvPr>
          <p:cNvSpPr txBox="1"/>
          <p:nvPr/>
        </p:nvSpPr>
        <p:spPr>
          <a:xfrm>
            <a:off x="676275" y="849868"/>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a:t>
            </a:r>
            <a:r>
              <a:rPr lang="es-MX" b="1" dirty="0">
                <a:solidFill>
                  <a:srgbClr val="000000"/>
                </a:solidFill>
                <a:latin typeface="Calibri" panose="020F0502020204030204" pitchFamily="34" charset="0"/>
              </a:rPr>
              <a:t>6</a:t>
            </a:r>
            <a:endParaRPr lang="es-MX" dirty="0">
              <a:effectLst/>
            </a:endParaRPr>
          </a:p>
        </p:txBody>
      </p:sp>
    </p:spTree>
    <p:extLst>
      <p:ext uri="{BB962C8B-B14F-4D97-AF65-F5344CB8AC3E}">
        <p14:creationId xmlns:p14="http://schemas.microsoft.com/office/powerpoint/2010/main" val="4231457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CC67C-AB6B-3C3E-7063-1ACE7FC48F3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7D829EB-F6F8-6AF0-6DFE-D837D5DD7916}"/>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t>
            </a:r>
            <a:r>
              <a:rPr lang="es-MX" dirty="0" err="1"/>
              <a:t>aaa</a:t>
            </a:r>
            <a:endParaRPr lang="es-MX" dirty="0"/>
          </a:p>
        </p:txBody>
      </p:sp>
      <p:sp>
        <p:nvSpPr>
          <p:cNvPr id="3" name="CuadroTexto 2">
            <a:extLst>
              <a:ext uri="{FF2B5EF4-FFF2-40B4-BE49-F238E27FC236}">
                <a16:creationId xmlns:a16="http://schemas.microsoft.com/office/drawing/2014/main" id="{7FB62A4E-2E06-3912-ADD6-806A0A59F30F}"/>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pic>
        <p:nvPicPr>
          <p:cNvPr id="7" name="Imagen 6">
            <a:extLst>
              <a:ext uri="{FF2B5EF4-FFF2-40B4-BE49-F238E27FC236}">
                <a16:creationId xmlns:a16="http://schemas.microsoft.com/office/drawing/2014/main" id="{3815FBA7-BF73-8B98-0AE6-28394F89932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2790140"/>
            <a:ext cx="5503333" cy="3095625"/>
          </a:xfrm>
          <a:prstGeom prst="rect">
            <a:avLst/>
          </a:prstGeom>
        </p:spPr>
      </p:pic>
      <p:pic>
        <p:nvPicPr>
          <p:cNvPr id="9" name="Imagen 8">
            <a:extLst>
              <a:ext uri="{FF2B5EF4-FFF2-40B4-BE49-F238E27FC236}">
                <a16:creationId xmlns:a16="http://schemas.microsoft.com/office/drawing/2014/main" id="{7ABDDCC4-B4D1-7B20-7355-634CEBA6C9C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6400" y="1161365"/>
            <a:ext cx="5096933" cy="2867025"/>
          </a:xfrm>
          <a:prstGeom prst="rect">
            <a:avLst/>
          </a:prstGeom>
        </p:spPr>
      </p:pic>
      <p:pic>
        <p:nvPicPr>
          <p:cNvPr id="11" name="Imagen 10">
            <a:extLst>
              <a:ext uri="{FF2B5EF4-FFF2-40B4-BE49-F238E27FC236}">
                <a16:creationId xmlns:a16="http://schemas.microsoft.com/office/drawing/2014/main" id="{346EA044-5F94-8A81-DAC8-D3C41A3B92B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96000" y="257174"/>
            <a:ext cx="4385733" cy="2466975"/>
          </a:xfrm>
          <a:prstGeom prst="rect">
            <a:avLst/>
          </a:prstGeom>
        </p:spPr>
      </p:pic>
    </p:spTree>
    <p:extLst>
      <p:ext uri="{BB962C8B-B14F-4D97-AF65-F5344CB8AC3E}">
        <p14:creationId xmlns:p14="http://schemas.microsoft.com/office/powerpoint/2010/main" val="2531990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19C66-8412-47F5-4C44-DCFF8ABF88E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6BF2F73-F233-6B77-AB28-F47853C1749D}"/>
              </a:ext>
            </a:extLst>
          </p:cNvPr>
          <p:cNvSpPr txBox="1"/>
          <p:nvPr/>
        </p:nvSpPr>
        <p:spPr>
          <a:xfrm>
            <a:off x="800100" y="4670941"/>
            <a:ext cx="4067175" cy="369332"/>
          </a:xfrm>
          <a:prstGeom prst="rect">
            <a:avLst/>
          </a:prstGeom>
          <a:noFill/>
        </p:spPr>
        <p:txBody>
          <a:bodyPr wrap="square">
            <a:spAutoFit/>
          </a:bodyPr>
          <a:lstStyle/>
          <a:p>
            <a:r>
              <a:rPr lang="es-MX" b="1" dirty="0"/>
              <a:t>Paso 1:</a:t>
            </a:r>
            <a:r>
              <a:rPr lang="es-MX" dirty="0"/>
              <a:t> creación de estados</a:t>
            </a:r>
          </a:p>
        </p:txBody>
      </p:sp>
      <p:sp>
        <p:nvSpPr>
          <p:cNvPr id="3" name="CuadroTexto 2">
            <a:extLst>
              <a:ext uri="{FF2B5EF4-FFF2-40B4-BE49-F238E27FC236}">
                <a16:creationId xmlns:a16="http://schemas.microsoft.com/office/drawing/2014/main" id="{CFA3FBAA-2AC7-C49C-A21D-17A303979975}"/>
              </a:ext>
            </a:extLst>
          </p:cNvPr>
          <p:cNvSpPr txBox="1"/>
          <p:nvPr/>
        </p:nvSpPr>
        <p:spPr>
          <a:xfrm>
            <a:off x="5990170" y="4670941"/>
            <a:ext cx="3296705" cy="369332"/>
          </a:xfrm>
          <a:prstGeom prst="rect">
            <a:avLst/>
          </a:prstGeom>
          <a:noFill/>
        </p:spPr>
        <p:txBody>
          <a:bodyPr wrap="square">
            <a:spAutoFit/>
          </a:bodyPr>
          <a:lstStyle/>
          <a:p>
            <a:r>
              <a:rPr lang="es-MX" b="1" dirty="0"/>
              <a:t>Paso 2:</a:t>
            </a:r>
            <a:r>
              <a:rPr lang="es-MX" dirty="0"/>
              <a:t> autómata final</a:t>
            </a:r>
          </a:p>
        </p:txBody>
      </p:sp>
      <p:sp>
        <p:nvSpPr>
          <p:cNvPr id="4" name="CuadroTexto 3">
            <a:extLst>
              <a:ext uri="{FF2B5EF4-FFF2-40B4-BE49-F238E27FC236}">
                <a16:creationId xmlns:a16="http://schemas.microsoft.com/office/drawing/2014/main" id="{F0311B97-5EFF-6661-E3DF-2027AE2FE334}"/>
              </a:ext>
            </a:extLst>
          </p:cNvPr>
          <p:cNvSpPr txBox="1"/>
          <p:nvPr/>
        </p:nvSpPr>
        <p:spPr>
          <a:xfrm>
            <a:off x="676275" y="849868"/>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a:t>
            </a:r>
            <a:r>
              <a:rPr lang="es-MX" b="1" dirty="0">
                <a:solidFill>
                  <a:srgbClr val="000000"/>
                </a:solidFill>
                <a:latin typeface="Calibri" panose="020F0502020204030204" pitchFamily="34" charset="0"/>
              </a:rPr>
              <a:t>7</a:t>
            </a:r>
            <a:endParaRPr lang="es-MX" dirty="0">
              <a:effectLst/>
            </a:endParaRPr>
          </a:p>
        </p:txBody>
      </p:sp>
      <p:pic>
        <p:nvPicPr>
          <p:cNvPr id="6" name="Imagen 5">
            <a:extLst>
              <a:ext uri="{FF2B5EF4-FFF2-40B4-BE49-F238E27FC236}">
                <a16:creationId xmlns:a16="http://schemas.microsoft.com/office/drawing/2014/main" id="{2AC4DD7E-919D-2830-DDFA-E741148E6C0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28081" y="1526143"/>
            <a:ext cx="5196800" cy="2923200"/>
          </a:xfrm>
          <a:prstGeom prst="rect">
            <a:avLst/>
          </a:prstGeom>
        </p:spPr>
      </p:pic>
      <p:pic>
        <p:nvPicPr>
          <p:cNvPr id="8" name="Imagen 7">
            <a:extLst>
              <a:ext uri="{FF2B5EF4-FFF2-40B4-BE49-F238E27FC236}">
                <a16:creationId xmlns:a16="http://schemas.microsoft.com/office/drawing/2014/main" id="{52FF4D01-B0F7-8452-76F8-5DBD6095A96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35000" y="1490376"/>
            <a:ext cx="5196800" cy="2923200"/>
          </a:xfrm>
          <a:prstGeom prst="rect">
            <a:avLst/>
          </a:prstGeom>
        </p:spPr>
      </p:pic>
    </p:spTree>
    <p:extLst>
      <p:ext uri="{BB962C8B-B14F-4D97-AF65-F5344CB8AC3E}">
        <p14:creationId xmlns:p14="http://schemas.microsoft.com/office/powerpoint/2010/main" val="77120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39001-9DA2-145E-AE8C-9C8AFD9AE95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9C066A6-FBDD-D433-0781-F831CB729572}"/>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aba</a:t>
            </a:r>
          </a:p>
        </p:txBody>
      </p:sp>
      <p:sp>
        <p:nvSpPr>
          <p:cNvPr id="3" name="CuadroTexto 2">
            <a:extLst>
              <a:ext uri="{FF2B5EF4-FFF2-40B4-BE49-F238E27FC236}">
                <a16:creationId xmlns:a16="http://schemas.microsoft.com/office/drawing/2014/main" id="{522A45D5-83A5-3313-B696-43D055CF500B}"/>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pic>
        <p:nvPicPr>
          <p:cNvPr id="5" name="Imagen 4">
            <a:extLst>
              <a:ext uri="{FF2B5EF4-FFF2-40B4-BE49-F238E27FC236}">
                <a16:creationId xmlns:a16="http://schemas.microsoft.com/office/drawing/2014/main" id="{D8D9FA24-D2FE-9541-2FF3-6F6BB4DDB63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136" y="1117936"/>
            <a:ext cx="5006025" cy="2815889"/>
          </a:xfrm>
          <a:prstGeom prst="rect">
            <a:avLst/>
          </a:prstGeom>
        </p:spPr>
      </p:pic>
      <p:pic>
        <p:nvPicPr>
          <p:cNvPr id="7" name="Imagen 6">
            <a:extLst>
              <a:ext uri="{FF2B5EF4-FFF2-40B4-BE49-F238E27FC236}">
                <a16:creationId xmlns:a16="http://schemas.microsoft.com/office/drawing/2014/main" id="{44AA2097-11B4-99C6-9A59-A3BAC54517F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07616" y="536911"/>
            <a:ext cx="4741333" cy="2667000"/>
          </a:xfrm>
          <a:prstGeom prst="rect">
            <a:avLst/>
          </a:prstGeom>
        </p:spPr>
      </p:pic>
      <p:pic>
        <p:nvPicPr>
          <p:cNvPr id="9" name="Imagen 8">
            <a:extLst>
              <a:ext uri="{FF2B5EF4-FFF2-40B4-BE49-F238E27FC236}">
                <a16:creationId xmlns:a16="http://schemas.microsoft.com/office/drawing/2014/main" id="{6E16352E-AB17-76CE-918B-FA99E8976C4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07616" y="3280395"/>
            <a:ext cx="4613116" cy="2594878"/>
          </a:xfrm>
          <a:prstGeom prst="rect">
            <a:avLst/>
          </a:prstGeom>
        </p:spPr>
      </p:pic>
    </p:spTree>
    <p:extLst>
      <p:ext uri="{BB962C8B-B14F-4D97-AF65-F5344CB8AC3E}">
        <p14:creationId xmlns:p14="http://schemas.microsoft.com/office/powerpoint/2010/main" val="58902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75C8-3B6D-77C3-A238-5090120011A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E1EC399-A1CF-C965-795B-E9B013A5B4AC}"/>
              </a:ext>
            </a:extLst>
          </p:cNvPr>
          <p:cNvSpPr txBox="1"/>
          <p:nvPr/>
        </p:nvSpPr>
        <p:spPr>
          <a:xfrm>
            <a:off x="819150" y="4511159"/>
            <a:ext cx="6096000" cy="369332"/>
          </a:xfrm>
          <a:prstGeom prst="rect">
            <a:avLst/>
          </a:prstGeom>
          <a:noFill/>
        </p:spPr>
        <p:txBody>
          <a:bodyPr wrap="square">
            <a:spAutoFit/>
          </a:bodyPr>
          <a:lstStyle/>
          <a:p>
            <a:r>
              <a:rPr lang="es-MX" b="1" dirty="0"/>
              <a:t>Paso 1:</a:t>
            </a:r>
            <a:r>
              <a:rPr lang="es-MX" dirty="0"/>
              <a:t> creación de estados</a:t>
            </a:r>
          </a:p>
        </p:txBody>
      </p:sp>
      <p:sp>
        <p:nvSpPr>
          <p:cNvPr id="3" name="CuadroTexto 2">
            <a:extLst>
              <a:ext uri="{FF2B5EF4-FFF2-40B4-BE49-F238E27FC236}">
                <a16:creationId xmlns:a16="http://schemas.microsoft.com/office/drawing/2014/main" id="{F2F9706B-780E-5250-E9CF-32972B0CC517}"/>
              </a:ext>
            </a:extLst>
          </p:cNvPr>
          <p:cNvSpPr txBox="1"/>
          <p:nvPr/>
        </p:nvSpPr>
        <p:spPr>
          <a:xfrm>
            <a:off x="6096000" y="4511159"/>
            <a:ext cx="3296705" cy="369332"/>
          </a:xfrm>
          <a:prstGeom prst="rect">
            <a:avLst/>
          </a:prstGeom>
          <a:noFill/>
        </p:spPr>
        <p:txBody>
          <a:bodyPr wrap="square">
            <a:spAutoFit/>
          </a:bodyPr>
          <a:lstStyle/>
          <a:p>
            <a:r>
              <a:rPr lang="es-MX" b="1" dirty="0"/>
              <a:t>Paso 2:</a:t>
            </a:r>
            <a:r>
              <a:rPr lang="es-MX" dirty="0"/>
              <a:t> autómata final</a:t>
            </a:r>
          </a:p>
        </p:txBody>
      </p:sp>
      <p:sp>
        <p:nvSpPr>
          <p:cNvPr id="4" name="CuadroTexto 3">
            <a:extLst>
              <a:ext uri="{FF2B5EF4-FFF2-40B4-BE49-F238E27FC236}">
                <a16:creationId xmlns:a16="http://schemas.microsoft.com/office/drawing/2014/main" id="{A8550152-5113-0D51-83A2-C1FA7EB6D685}"/>
              </a:ext>
            </a:extLst>
          </p:cNvPr>
          <p:cNvSpPr txBox="1"/>
          <p:nvPr/>
        </p:nvSpPr>
        <p:spPr>
          <a:xfrm>
            <a:off x="676275" y="849868"/>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8</a:t>
            </a:r>
            <a:endParaRPr lang="es-MX" dirty="0">
              <a:effectLst/>
            </a:endParaRPr>
          </a:p>
        </p:txBody>
      </p:sp>
      <p:pic>
        <p:nvPicPr>
          <p:cNvPr id="6" name="Imagen 5">
            <a:extLst>
              <a:ext uri="{FF2B5EF4-FFF2-40B4-BE49-F238E27FC236}">
                <a16:creationId xmlns:a16="http://schemas.microsoft.com/office/drawing/2014/main" id="{3BA4761E-29E1-36DB-F620-9A3F93C34F4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76275" y="1378409"/>
            <a:ext cx="5196800" cy="2923200"/>
          </a:xfrm>
          <a:prstGeom prst="rect">
            <a:avLst/>
          </a:prstGeom>
        </p:spPr>
      </p:pic>
      <p:pic>
        <p:nvPicPr>
          <p:cNvPr id="8" name="Imagen 7">
            <a:extLst>
              <a:ext uri="{FF2B5EF4-FFF2-40B4-BE49-F238E27FC236}">
                <a16:creationId xmlns:a16="http://schemas.microsoft.com/office/drawing/2014/main" id="{88008739-F1B4-723E-C20E-2850336B966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57000" y="1378409"/>
            <a:ext cx="5196800" cy="2923200"/>
          </a:xfrm>
          <a:prstGeom prst="rect">
            <a:avLst/>
          </a:prstGeom>
        </p:spPr>
      </p:pic>
    </p:spTree>
    <p:extLst>
      <p:ext uri="{BB962C8B-B14F-4D97-AF65-F5344CB8AC3E}">
        <p14:creationId xmlns:p14="http://schemas.microsoft.com/office/powerpoint/2010/main" val="1081067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186C1-3552-9017-7CCC-53A0DF9AF74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D77D91B-E8EF-9C8D-9519-87BA4994A878}"/>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12112</a:t>
            </a:r>
          </a:p>
        </p:txBody>
      </p:sp>
      <p:sp>
        <p:nvSpPr>
          <p:cNvPr id="3" name="CuadroTexto 2">
            <a:extLst>
              <a:ext uri="{FF2B5EF4-FFF2-40B4-BE49-F238E27FC236}">
                <a16:creationId xmlns:a16="http://schemas.microsoft.com/office/drawing/2014/main" id="{44AD5070-9291-DFC0-8723-9A7B1F95743C}"/>
              </a:ext>
            </a:extLst>
          </p:cNvPr>
          <p:cNvSpPr txBox="1"/>
          <p:nvPr/>
        </p:nvSpPr>
        <p:spPr>
          <a:xfrm>
            <a:off x="6096000" y="4540121"/>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pic>
        <p:nvPicPr>
          <p:cNvPr id="5" name="Imagen 4">
            <a:extLst>
              <a:ext uri="{FF2B5EF4-FFF2-40B4-BE49-F238E27FC236}">
                <a16:creationId xmlns:a16="http://schemas.microsoft.com/office/drawing/2014/main" id="{28615AB6-44ED-E703-6919-D0F7EB43D20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67603" y="1157287"/>
            <a:ext cx="5196799" cy="2923200"/>
          </a:xfrm>
          <a:prstGeom prst="rect">
            <a:avLst/>
          </a:prstGeom>
        </p:spPr>
      </p:pic>
      <p:pic>
        <p:nvPicPr>
          <p:cNvPr id="7" name="Imagen 6">
            <a:extLst>
              <a:ext uri="{FF2B5EF4-FFF2-40B4-BE49-F238E27FC236}">
                <a16:creationId xmlns:a16="http://schemas.microsoft.com/office/drawing/2014/main" id="{566DA354-1A11-19E3-730D-8457F72B932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6000" y="1157287"/>
            <a:ext cx="5196800" cy="2923200"/>
          </a:xfrm>
          <a:prstGeom prst="rect">
            <a:avLst/>
          </a:prstGeom>
        </p:spPr>
      </p:pic>
    </p:spTree>
    <p:extLst>
      <p:ext uri="{BB962C8B-B14F-4D97-AF65-F5344CB8AC3E}">
        <p14:creationId xmlns:p14="http://schemas.microsoft.com/office/powerpoint/2010/main" val="3992460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EB85-43C2-263C-26C4-0419B4E23706}"/>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0D94721-9AC1-1576-3F69-3F29EC195DCB}"/>
              </a:ext>
            </a:extLst>
          </p:cNvPr>
          <p:cNvSpPr txBox="1"/>
          <p:nvPr/>
        </p:nvSpPr>
        <p:spPr>
          <a:xfrm>
            <a:off x="771525" y="4670941"/>
            <a:ext cx="6096000" cy="369332"/>
          </a:xfrm>
          <a:prstGeom prst="rect">
            <a:avLst/>
          </a:prstGeom>
          <a:noFill/>
        </p:spPr>
        <p:txBody>
          <a:bodyPr wrap="square">
            <a:spAutoFit/>
          </a:bodyPr>
          <a:lstStyle/>
          <a:p>
            <a:r>
              <a:rPr lang="es-MX" b="1" dirty="0"/>
              <a:t>Paso 1:</a:t>
            </a:r>
            <a:r>
              <a:rPr lang="es-MX" dirty="0"/>
              <a:t> creación de estados</a:t>
            </a:r>
          </a:p>
        </p:txBody>
      </p:sp>
      <p:sp>
        <p:nvSpPr>
          <p:cNvPr id="3" name="CuadroTexto 2">
            <a:extLst>
              <a:ext uri="{FF2B5EF4-FFF2-40B4-BE49-F238E27FC236}">
                <a16:creationId xmlns:a16="http://schemas.microsoft.com/office/drawing/2014/main" id="{2D9CF791-66AE-8187-C7DD-146182A346DC}"/>
              </a:ext>
            </a:extLst>
          </p:cNvPr>
          <p:cNvSpPr txBox="1"/>
          <p:nvPr/>
        </p:nvSpPr>
        <p:spPr>
          <a:xfrm>
            <a:off x="5990170" y="4670941"/>
            <a:ext cx="3296705" cy="369332"/>
          </a:xfrm>
          <a:prstGeom prst="rect">
            <a:avLst/>
          </a:prstGeom>
          <a:noFill/>
        </p:spPr>
        <p:txBody>
          <a:bodyPr wrap="square">
            <a:spAutoFit/>
          </a:bodyPr>
          <a:lstStyle/>
          <a:p>
            <a:r>
              <a:rPr lang="es-MX" b="1" dirty="0"/>
              <a:t>Paso 2:</a:t>
            </a:r>
            <a:r>
              <a:rPr lang="es-MX" dirty="0"/>
              <a:t> autómata final</a:t>
            </a:r>
          </a:p>
        </p:txBody>
      </p:sp>
      <p:sp>
        <p:nvSpPr>
          <p:cNvPr id="4" name="CuadroTexto 3">
            <a:extLst>
              <a:ext uri="{FF2B5EF4-FFF2-40B4-BE49-F238E27FC236}">
                <a16:creationId xmlns:a16="http://schemas.microsoft.com/office/drawing/2014/main" id="{D481BCB1-2F25-D06A-92A0-D23D67BA92A2}"/>
              </a:ext>
            </a:extLst>
          </p:cNvPr>
          <p:cNvSpPr txBox="1"/>
          <p:nvPr/>
        </p:nvSpPr>
        <p:spPr>
          <a:xfrm>
            <a:off x="676275" y="849868"/>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a:t>
            </a:r>
            <a:r>
              <a:rPr lang="es-MX" b="1" dirty="0">
                <a:solidFill>
                  <a:srgbClr val="000000"/>
                </a:solidFill>
                <a:latin typeface="Calibri" panose="020F0502020204030204" pitchFamily="34" charset="0"/>
              </a:rPr>
              <a:t>9</a:t>
            </a:r>
            <a:endParaRPr lang="es-MX" dirty="0">
              <a:effectLst/>
            </a:endParaRPr>
          </a:p>
        </p:txBody>
      </p:sp>
      <p:pic>
        <p:nvPicPr>
          <p:cNvPr id="6" name="Imagen 5">
            <a:extLst>
              <a:ext uri="{FF2B5EF4-FFF2-40B4-BE49-F238E27FC236}">
                <a16:creationId xmlns:a16="http://schemas.microsoft.com/office/drawing/2014/main" id="{45BE354E-EC53-BFB7-C3EA-BF161D27706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12587" y="1747741"/>
            <a:ext cx="5196800" cy="2923200"/>
          </a:xfrm>
          <a:prstGeom prst="rect">
            <a:avLst/>
          </a:prstGeom>
        </p:spPr>
      </p:pic>
      <p:pic>
        <p:nvPicPr>
          <p:cNvPr id="10" name="Imagen 9">
            <a:extLst>
              <a:ext uri="{FF2B5EF4-FFF2-40B4-BE49-F238E27FC236}">
                <a16:creationId xmlns:a16="http://schemas.microsoft.com/office/drawing/2014/main" id="{F3B16BD1-4E69-BD8B-6D39-348E00D7CB5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29891" y="1747741"/>
            <a:ext cx="5196800" cy="2923200"/>
          </a:xfrm>
          <a:prstGeom prst="rect">
            <a:avLst/>
          </a:prstGeom>
        </p:spPr>
      </p:pic>
    </p:spTree>
    <p:extLst>
      <p:ext uri="{BB962C8B-B14F-4D97-AF65-F5344CB8AC3E}">
        <p14:creationId xmlns:p14="http://schemas.microsoft.com/office/powerpoint/2010/main" val="4091108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E639D-3720-7873-3F6A-6DD5905B0CC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679B774-9745-4726-823F-6F6C4708D90B}"/>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ab</a:t>
            </a:r>
          </a:p>
        </p:txBody>
      </p:sp>
      <p:sp>
        <p:nvSpPr>
          <p:cNvPr id="3" name="CuadroTexto 2">
            <a:extLst>
              <a:ext uri="{FF2B5EF4-FFF2-40B4-BE49-F238E27FC236}">
                <a16:creationId xmlns:a16="http://schemas.microsoft.com/office/drawing/2014/main" id="{7DB4EA5C-B7CA-B736-139A-A214D33FB515}"/>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pic>
        <p:nvPicPr>
          <p:cNvPr id="8" name="Imagen 7">
            <a:extLst>
              <a:ext uri="{FF2B5EF4-FFF2-40B4-BE49-F238E27FC236}">
                <a16:creationId xmlns:a16="http://schemas.microsoft.com/office/drawing/2014/main" id="{6CB1748B-8501-CD95-FD29-FD6FBBD6724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956300" y="2752725"/>
            <a:ext cx="4978400" cy="2800350"/>
          </a:xfrm>
          <a:prstGeom prst="rect">
            <a:avLst/>
          </a:prstGeom>
        </p:spPr>
      </p:pic>
      <p:pic>
        <p:nvPicPr>
          <p:cNvPr id="5" name="Imagen 4">
            <a:extLst>
              <a:ext uri="{FF2B5EF4-FFF2-40B4-BE49-F238E27FC236}">
                <a16:creationId xmlns:a16="http://schemas.microsoft.com/office/drawing/2014/main" id="{A6A31A1C-A814-D927-6B95-B5A927B38CA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6000" y="16371"/>
            <a:ext cx="4581525" cy="2577108"/>
          </a:xfrm>
          <a:prstGeom prst="rect">
            <a:avLst/>
          </a:prstGeom>
        </p:spPr>
      </p:pic>
      <p:pic>
        <p:nvPicPr>
          <p:cNvPr id="7" name="Imagen 6">
            <a:extLst>
              <a:ext uri="{FF2B5EF4-FFF2-40B4-BE49-F238E27FC236}">
                <a16:creationId xmlns:a16="http://schemas.microsoft.com/office/drawing/2014/main" id="{2B792E2F-1B50-2C46-66C0-978C81A5D47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9269" y="1409699"/>
            <a:ext cx="4453467" cy="2505075"/>
          </a:xfrm>
          <a:prstGeom prst="rect">
            <a:avLst/>
          </a:prstGeom>
        </p:spPr>
      </p:pic>
    </p:spTree>
    <p:extLst>
      <p:ext uri="{BB962C8B-B14F-4D97-AF65-F5344CB8AC3E}">
        <p14:creationId xmlns:p14="http://schemas.microsoft.com/office/powerpoint/2010/main" val="2754864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AB2E-E87E-C06C-A65F-BFC1C0DEDCE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00D1642-4975-96A7-97FD-96207B95BDF9}"/>
              </a:ext>
            </a:extLst>
          </p:cNvPr>
          <p:cNvSpPr txBox="1"/>
          <p:nvPr/>
        </p:nvSpPr>
        <p:spPr>
          <a:xfrm>
            <a:off x="838200" y="4301609"/>
            <a:ext cx="6096000" cy="369332"/>
          </a:xfrm>
          <a:prstGeom prst="rect">
            <a:avLst/>
          </a:prstGeom>
          <a:noFill/>
        </p:spPr>
        <p:txBody>
          <a:bodyPr wrap="square">
            <a:spAutoFit/>
          </a:bodyPr>
          <a:lstStyle/>
          <a:p>
            <a:r>
              <a:rPr lang="es-MX" b="1" dirty="0"/>
              <a:t>Paso 1:</a:t>
            </a:r>
            <a:r>
              <a:rPr lang="es-MX" dirty="0"/>
              <a:t> creación de estados</a:t>
            </a:r>
          </a:p>
        </p:txBody>
      </p:sp>
      <p:sp>
        <p:nvSpPr>
          <p:cNvPr id="3" name="CuadroTexto 2">
            <a:extLst>
              <a:ext uri="{FF2B5EF4-FFF2-40B4-BE49-F238E27FC236}">
                <a16:creationId xmlns:a16="http://schemas.microsoft.com/office/drawing/2014/main" id="{9E4D51CA-F35B-534E-F18B-FA3F2BC3F925}"/>
              </a:ext>
            </a:extLst>
          </p:cNvPr>
          <p:cNvSpPr txBox="1"/>
          <p:nvPr/>
        </p:nvSpPr>
        <p:spPr>
          <a:xfrm>
            <a:off x="6096000" y="4301609"/>
            <a:ext cx="3296705" cy="369332"/>
          </a:xfrm>
          <a:prstGeom prst="rect">
            <a:avLst/>
          </a:prstGeom>
          <a:noFill/>
        </p:spPr>
        <p:txBody>
          <a:bodyPr wrap="square">
            <a:spAutoFit/>
          </a:bodyPr>
          <a:lstStyle/>
          <a:p>
            <a:r>
              <a:rPr lang="es-MX" b="1" dirty="0"/>
              <a:t>Paso 2:</a:t>
            </a:r>
            <a:r>
              <a:rPr lang="es-MX" dirty="0"/>
              <a:t> autómata final</a:t>
            </a:r>
          </a:p>
        </p:txBody>
      </p:sp>
      <p:sp>
        <p:nvSpPr>
          <p:cNvPr id="4" name="CuadroTexto 3">
            <a:extLst>
              <a:ext uri="{FF2B5EF4-FFF2-40B4-BE49-F238E27FC236}">
                <a16:creationId xmlns:a16="http://schemas.microsoft.com/office/drawing/2014/main" id="{F03D6C1B-E480-A1F8-D851-520734C947C6}"/>
              </a:ext>
            </a:extLst>
          </p:cNvPr>
          <p:cNvSpPr txBox="1"/>
          <p:nvPr/>
        </p:nvSpPr>
        <p:spPr>
          <a:xfrm>
            <a:off x="676275" y="849868"/>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10</a:t>
            </a:r>
            <a:endParaRPr lang="es-MX" dirty="0">
              <a:effectLst/>
            </a:endParaRPr>
          </a:p>
        </p:txBody>
      </p:sp>
      <p:pic>
        <p:nvPicPr>
          <p:cNvPr id="6" name="Imagen 5">
            <a:extLst>
              <a:ext uri="{FF2B5EF4-FFF2-40B4-BE49-F238E27FC236}">
                <a16:creationId xmlns:a16="http://schemas.microsoft.com/office/drawing/2014/main" id="{D057B232-2C77-5E17-DC5D-DD1BB79F301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21191" y="1219199"/>
            <a:ext cx="5196799" cy="2923200"/>
          </a:xfrm>
          <a:prstGeom prst="rect">
            <a:avLst/>
          </a:prstGeom>
        </p:spPr>
      </p:pic>
      <p:pic>
        <p:nvPicPr>
          <p:cNvPr id="8" name="Imagen 7">
            <a:extLst>
              <a:ext uri="{FF2B5EF4-FFF2-40B4-BE49-F238E27FC236}">
                <a16:creationId xmlns:a16="http://schemas.microsoft.com/office/drawing/2014/main" id="{ED9AAFC1-ECDF-800C-60D0-6E484C44AC7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73074" y="1219199"/>
            <a:ext cx="5196800" cy="2923200"/>
          </a:xfrm>
          <a:prstGeom prst="rect">
            <a:avLst/>
          </a:prstGeom>
        </p:spPr>
      </p:pic>
    </p:spTree>
    <p:extLst>
      <p:ext uri="{BB962C8B-B14F-4D97-AF65-F5344CB8AC3E}">
        <p14:creationId xmlns:p14="http://schemas.microsoft.com/office/powerpoint/2010/main" val="3033580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4E56E-758A-A77D-F07C-87C64BBF14F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528EF40-C456-3901-E2B6-15FBE0837155}"/>
              </a:ext>
            </a:extLst>
          </p:cNvPr>
          <p:cNvSpPr txBox="1"/>
          <p:nvPr/>
        </p:nvSpPr>
        <p:spPr>
          <a:xfrm>
            <a:off x="1257300" y="4263122"/>
            <a:ext cx="3817407" cy="646331"/>
          </a:xfrm>
          <a:prstGeom prst="rect">
            <a:avLst/>
          </a:prstGeom>
          <a:noFill/>
        </p:spPr>
        <p:txBody>
          <a:bodyPr wrap="square">
            <a:spAutoFit/>
          </a:bodyPr>
          <a:lstStyle/>
          <a:p>
            <a:r>
              <a:rPr lang="es-MX" b="1" dirty="0"/>
              <a:t>Paso 3:</a:t>
            </a:r>
            <a:r>
              <a:rPr lang="es-MX" dirty="0"/>
              <a:t> definición de transiciones</a:t>
            </a:r>
            <a:br>
              <a:rPr lang="es-MX" dirty="0"/>
            </a:br>
            <a:r>
              <a:rPr lang="es-MX" b="1" dirty="0"/>
              <a:t>Cadena usada:</a:t>
            </a:r>
            <a:r>
              <a:rPr lang="es-MX" dirty="0"/>
              <a:t> ab</a:t>
            </a:r>
          </a:p>
        </p:txBody>
      </p:sp>
      <p:sp>
        <p:nvSpPr>
          <p:cNvPr id="3" name="CuadroTexto 2">
            <a:extLst>
              <a:ext uri="{FF2B5EF4-FFF2-40B4-BE49-F238E27FC236}">
                <a16:creationId xmlns:a16="http://schemas.microsoft.com/office/drawing/2014/main" id="{5075DA61-F283-6FCD-42A8-C7F7549F28B6}"/>
              </a:ext>
            </a:extLst>
          </p:cNvPr>
          <p:cNvSpPr txBox="1"/>
          <p:nvPr/>
        </p:nvSpPr>
        <p:spPr>
          <a:xfrm>
            <a:off x="5554133" y="5951757"/>
            <a:ext cx="6096000" cy="369332"/>
          </a:xfrm>
          <a:prstGeom prst="rect">
            <a:avLst/>
          </a:prstGeom>
          <a:noFill/>
        </p:spPr>
        <p:txBody>
          <a:bodyPr wrap="square">
            <a:spAutoFit/>
          </a:bodyPr>
          <a:lstStyle/>
          <a:p>
            <a:r>
              <a:rPr lang="es-MX" b="1" dirty="0"/>
              <a:t>Paso 4</a:t>
            </a:r>
            <a:r>
              <a:rPr lang="es-MX" dirty="0"/>
              <a:t>: </a:t>
            </a:r>
            <a:r>
              <a:rPr lang="es-MX" dirty="0" err="1"/>
              <a:t>Ejecucion</a:t>
            </a:r>
            <a:r>
              <a:rPr lang="es-MX" dirty="0"/>
              <a:t> de la </a:t>
            </a:r>
            <a:r>
              <a:rPr lang="es-MX" dirty="0" err="1"/>
              <a:t>Simulacion</a:t>
            </a:r>
            <a:r>
              <a:rPr lang="es-MX" dirty="0"/>
              <a:t> y Resultado de la simulación</a:t>
            </a:r>
          </a:p>
        </p:txBody>
      </p:sp>
      <p:pic>
        <p:nvPicPr>
          <p:cNvPr id="5" name="Imagen 4">
            <a:extLst>
              <a:ext uri="{FF2B5EF4-FFF2-40B4-BE49-F238E27FC236}">
                <a16:creationId xmlns:a16="http://schemas.microsoft.com/office/drawing/2014/main" id="{11064694-03EF-151B-87C4-4CF7DEAAA02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62133" y="95250"/>
            <a:ext cx="5588000" cy="3143250"/>
          </a:xfrm>
          <a:prstGeom prst="rect">
            <a:avLst/>
          </a:prstGeom>
        </p:spPr>
      </p:pic>
      <p:pic>
        <p:nvPicPr>
          <p:cNvPr id="7" name="Imagen 6">
            <a:extLst>
              <a:ext uri="{FF2B5EF4-FFF2-40B4-BE49-F238E27FC236}">
                <a16:creationId xmlns:a16="http://schemas.microsoft.com/office/drawing/2014/main" id="{14C3AA82-585F-3D25-6259-3040F2BCB3C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26795" y="3429000"/>
            <a:ext cx="4613117" cy="2594878"/>
          </a:xfrm>
          <a:prstGeom prst="rect">
            <a:avLst/>
          </a:prstGeom>
        </p:spPr>
      </p:pic>
      <p:pic>
        <p:nvPicPr>
          <p:cNvPr id="9" name="Imagen 8">
            <a:extLst>
              <a:ext uri="{FF2B5EF4-FFF2-40B4-BE49-F238E27FC236}">
                <a16:creationId xmlns:a16="http://schemas.microsoft.com/office/drawing/2014/main" id="{60F997F7-70EE-8156-F560-CB8B9C1B924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41016" y="1219199"/>
            <a:ext cx="4613117" cy="2594878"/>
          </a:xfrm>
          <a:prstGeom prst="rect">
            <a:avLst/>
          </a:prstGeom>
        </p:spPr>
      </p:pic>
    </p:spTree>
    <p:extLst>
      <p:ext uri="{BB962C8B-B14F-4D97-AF65-F5344CB8AC3E}">
        <p14:creationId xmlns:p14="http://schemas.microsoft.com/office/powerpoint/2010/main" val="32834962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0353AA-675B-12E5-A299-339FD387100D}"/>
              </a:ext>
            </a:extLst>
          </p:cNvPr>
          <p:cNvSpPr>
            <a:spLocks noGrp="1"/>
          </p:cNvSpPr>
          <p:nvPr>
            <p:ph type="title"/>
          </p:nvPr>
        </p:nvSpPr>
        <p:spPr>
          <a:xfrm>
            <a:off x="838200" y="107951"/>
            <a:ext cx="10515600" cy="806450"/>
          </a:xfrm>
        </p:spPr>
        <p:txBody>
          <a:bodyPr/>
          <a:lstStyle/>
          <a:p>
            <a:r>
              <a:rPr lang="es-MX" b="1" dirty="0">
                <a:solidFill>
                  <a:schemeClr val="accent1"/>
                </a:solidFill>
              </a:rPr>
              <a:t>Expresiones regulares </a:t>
            </a:r>
          </a:p>
        </p:txBody>
      </p:sp>
      <p:sp>
        <p:nvSpPr>
          <p:cNvPr id="4" name="CuadroTexto 3">
            <a:extLst>
              <a:ext uri="{FF2B5EF4-FFF2-40B4-BE49-F238E27FC236}">
                <a16:creationId xmlns:a16="http://schemas.microsoft.com/office/drawing/2014/main" id="{CB935DF0-758E-D7DF-0F6B-AF80B09001C6}"/>
              </a:ext>
            </a:extLst>
          </p:cNvPr>
          <p:cNvSpPr txBox="1"/>
          <p:nvPr/>
        </p:nvSpPr>
        <p:spPr>
          <a:xfrm>
            <a:off x="1381125" y="2260550"/>
            <a:ext cx="9705975" cy="2677656"/>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La construcción se realizó en JFLAP seleccionando la opción de Expresión Regular para definir el lenguaje. Posteriormente, se ingresó la expresión regular correspondiente. Luego se utilizó la opción </a:t>
            </a:r>
            <a:r>
              <a:rPr lang="es-MX" sz="2400" dirty="0" err="1">
                <a:latin typeface="Arial" panose="020B0604020202020204" pitchFamily="34" charset="0"/>
                <a:cs typeface="Arial" panose="020B0604020202020204" pitchFamily="34" charset="0"/>
              </a:rPr>
              <a:t>Convert</a:t>
            </a:r>
            <a:r>
              <a:rPr lang="es-MX" sz="2400" dirty="0">
                <a:latin typeface="Arial" panose="020B0604020202020204" pitchFamily="34" charset="0"/>
                <a:cs typeface="Arial" panose="020B0604020202020204" pitchFamily="34" charset="0"/>
              </a:rPr>
              <a:t> / </a:t>
            </a:r>
            <a:r>
              <a:rPr lang="es-MX" sz="2400" dirty="0" err="1">
                <a:latin typeface="Arial" panose="020B0604020202020204" pitchFamily="34" charset="0"/>
                <a:cs typeface="Arial" panose="020B0604020202020204" pitchFamily="34" charset="0"/>
              </a:rPr>
              <a:t>Convert</a:t>
            </a:r>
            <a:r>
              <a:rPr lang="es-MX" sz="2400" dirty="0">
                <a:latin typeface="Arial" panose="020B0604020202020204" pitchFamily="34" charset="0"/>
                <a:cs typeface="Arial" panose="020B0604020202020204" pitchFamily="34" charset="0"/>
              </a:rPr>
              <a:t> Regular </a:t>
            </a:r>
            <a:r>
              <a:rPr lang="es-MX" sz="2400" dirty="0" err="1">
                <a:latin typeface="Arial" panose="020B0604020202020204" pitchFamily="34" charset="0"/>
                <a:cs typeface="Arial" panose="020B0604020202020204" pitchFamily="34" charset="0"/>
              </a:rPr>
              <a:t>Expression</a:t>
            </a:r>
            <a:r>
              <a:rPr lang="es-MX" sz="2400" dirty="0">
                <a:latin typeface="Arial" panose="020B0604020202020204" pitchFamily="34" charset="0"/>
                <a:cs typeface="Arial" panose="020B0604020202020204" pitchFamily="34" charset="0"/>
              </a:rPr>
              <a:t> </a:t>
            </a:r>
            <a:r>
              <a:rPr lang="es-MX" sz="2400" dirty="0" err="1">
                <a:latin typeface="Arial" panose="020B0604020202020204" pitchFamily="34" charset="0"/>
                <a:cs typeface="Arial" panose="020B0604020202020204" pitchFamily="34" charset="0"/>
              </a:rPr>
              <a:t>to</a:t>
            </a:r>
            <a:r>
              <a:rPr lang="es-MX" sz="2400" dirty="0">
                <a:latin typeface="Arial" panose="020B0604020202020204" pitchFamily="34" charset="0"/>
                <a:cs typeface="Arial" panose="020B0604020202020204" pitchFamily="34" charset="0"/>
              </a:rPr>
              <a:t> NFA para generar el autómata correspondiente. Después, se seleccionó la opción Do Step, donde se despliega paso a paso la construcción completa del autómata generado a partir de la expresión regular.</a:t>
            </a:r>
          </a:p>
        </p:txBody>
      </p:sp>
    </p:spTree>
    <p:extLst>
      <p:ext uri="{BB962C8B-B14F-4D97-AF65-F5344CB8AC3E}">
        <p14:creationId xmlns:p14="http://schemas.microsoft.com/office/powerpoint/2010/main" val="2992793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9B812-6B3D-19DA-3363-8178BA688D09}"/>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FD43DC15-2A96-8AA0-C1A4-BB4B59F11BF9}"/>
              </a:ext>
            </a:extLst>
          </p:cNvPr>
          <p:cNvSpPr txBox="1"/>
          <p:nvPr/>
        </p:nvSpPr>
        <p:spPr>
          <a:xfrm>
            <a:off x="817563" y="870332"/>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1</a:t>
            </a:r>
            <a:endParaRPr lang="es-MX" dirty="0">
              <a:effectLst/>
            </a:endParaRPr>
          </a:p>
        </p:txBody>
      </p:sp>
      <p:pic>
        <p:nvPicPr>
          <p:cNvPr id="7" name="Imagen 6">
            <a:extLst>
              <a:ext uri="{FF2B5EF4-FFF2-40B4-BE49-F238E27FC236}">
                <a16:creationId xmlns:a16="http://schemas.microsoft.com/office/drawing/2014/main" id="{8901F0E9-F0A9-E483-DAFA-8FBFF6AEC14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38200" y="1733549"/>
            <a:ext cx="5608738" cy="3154916"/>
          </a:xfrm>
          <a:prstGeom prst="rect">
            <a:avLst/>
          </a:prstGeom>
        </p:spPr>
      </p:pic>
      <p:pic>
        <p:nvPicPr>
          <p:cNvPr id="9" name="Imagen 8">
            <a:extLst>
              <a:ext uri="{FF2B5EF4-FFF2-40B4-BE49-F238E27FC236}">
                <a16:creationId xmlns:a16="http://schemas.microsoft.com/office/drawing/2014/main" id="{4C2EFDF1-3B31-8163-D49E-5510E8D83A2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913562" y="356375"/>
            <a:ext cx="4344987" cy="2444056"/>
          </a:xfrm>
          <a:prstGeom prst="rect">
            <a:avLst/>
          </a:prstGeom>
        </p:spPr>
      </p:pic>
      <p:sp>
        <p:nvSpPr>
          <p:cNvPr id="11" name="CuadroTexto 10">
            <a:extLst>
              <a:ext uri="{FF2B5EF4-FFF2-40B4-BE49-F238E27FC236}">
                <a16:creationId xmlns:a16="http://schemas.microsoft.com/office/drawing/2014/main" id="{B4506399-2F48-916B-2426-C028A3AE9966}"/>
              </a:ext>
            </a:extLst>
          </p:cNvPr>
          <p:cNvSpPr txBox="1"/>
          <p:nvPr/>
        </p:nvSpPr>
        <p:spPr>
          <a:xfrm>
            <a:off x="847726" y="4888465"/>
            <a:ext cx="3952875" cy="646331"/>
          </a:xfrm>
          <a:prstGeom prst="rect">
            <a:avLst/>
          </a:prstGeom>
          <a:noFill/>
        </p:spPr>
        <p:txBody>
          <a:bodyPr wrap="square">
            <a:spAutoFit/>
          </a:bodyPr>
          <a:lstStyle/>
          <a:p>
            <a:r>
              <a:rPr lang="es-MX" b="1" dirty="0"/>
              <a:t>Paso 1: </a:t>
            </a:r>
            <a:r>
              <a:rPr lang="es-MX" dirty="0"/>
              <a:t>Ingreso de la expresión regular</a:t>
            </a:r>
          </a:p>
          <a:p>
            <a:r>
              <a:rPr lang="es-MX" dirty="0"/>
              <a:t>Expresión regular: (ab)*</a:t>
            </a:r>
          </a:p>
        </p:txBody>
      </p:sp>
      <p:sp>
        <p:nvSpPr>
          <p:cNvPr id="13" name="CuadroTexto 12">
            <a:extLst>
              <a:ext uri="{FF2B5EF4-FFF2-40B4-BE49-F238E27FC236}">
                <a16:creationId xmlns:a16="http://schemas.microsoft.com/office/drawing/2014/main" id="{4F1E69BC-B98D-0DEF-C542-92AB654F4723}"/>
              </a:ext>
            </a:extLst>
          </p:cNvPr>
          <p:cNvSpPr txBox="1"/>
          <p:nvPr/>
        </p:nvSpPr>
        <p:spPr>
          <a:xfrm>
            <a:off x="6686550" y="2847974"/>
            <a:ext cx="6096000" cy="369332"/>
          </a:xfrm>
          <a:prstGeom prst="rect">
            <a:avLst/>
          </a:prstGeom>
          <a:noFill/>
        </p:spPr>
        <p:txBody>
          <a:bodyPr wrap="square">
            <a:spAutoFit/>
          </a:bodyPr>
          <a:lstStyle/>
          <a:p>
            <a:r>
              <a:rPr lang="es-MX" dirty="0"/>
              <a:t>Paso 2: Conversión de la expresión regular a AFND</a:t>
            </a:r>
          </a:p>
        </p:txBody>
      </p:sp>
      <p:pic>
        <p:nvPicPr>
          <p:cNvPr id="14" name="Imagen 13">
            <a:extLst>
              <a:ext uri="{FF2B5EF4-FFF2-40B4-BE49-F238E27FC236}">
                <a16:creationId xmlns:a16="http://schemas.microsoft.com/office/drawing/2014/main" id="{D9373CB6-D3D7-7F5B-5BE5-E372CBD6D9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686550" y="3264850"/>
            <a:ext cx="4912254" cy="2668191"/>
          </a:xfrm>
          <a:prstGeom prst="rect">
            <a:avLst/>
          </a:prstGeom>
        </p:spPr>
      </p:pic>
      <p:sp>
        <p:nvSpPr>
          <p:cNvPr id="15" name="CuadroTexto 14">
            <a:extLst>
              <a:ext uri="{FF2B5EF4-FFF2-40B4-BE49-F238E27FC236}">
                <a16:creationId xmlns:a16="http://schemas.microsoft.com/office/drawing/2014/main" id="{567B9B63-545B-9B74-21B4-8ABC4205B55D}"/>
              </a:ext>
            </a:extLst>
          </p:cNvPr>
          <p:cNvSpPr txBox="1"/>
          <p:nvPr/>
        </p:nvSpPr>
        <p:spPr>
          <a:xfrm>
            <a:off x="6648390" y="6214234"/>
            <a:ext cx="5543610" cy="369332"/>
          </a:xfrm>
          <a:prstGeom prst="rect">
            <a:avLst/>
          </a:prstGeom>
          <a:noFill/>
        </p:spPr>
        <p:txBody>
          <a:bodyPr wrap="square">
            <a:spAutoFit/>
          </a:bodyPr>
          <a:lstStyle/>
          <a:p>
            <a:r>
              <a:rPr lang="es-MX" dirty="0"/>
              <a:t>Paso 3: Construcción completa del autómata y resultado</a:t>
            </a:r>
          </a:p>
        </p:txBody>
      </p:sp>
    </p:spTree>
    <p:extLst>
      <p:ext uri="{BB962C8B-B14F-4D97-AF65-F5344CB8AC3E}">
        <p14:creationId xmlns:p14="http://schemas.microsoft.com/office/powerpoint/2010/main" val="4199300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4F291-FFE5-E01C-3A90-F181A2C2A24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BA23578-3756-EF85-2DA4-8191154FE325}"/>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2</a:t>
            </a:r>
            <a:endParaRPr lang="es-MX" dirty="0">
              <a:effectLst/>
            </a:endParaRPr>
          </a:p>
        </p:txBody>
      </p:sp>
      <p:pic>
        <p:nvPicPr>
          <p:cNvPr id="8" name="Imagen 7">
            <a:extLst>
              <a:ext uri="{FF2B5EF4-FFF2-40B4-BE49-F238E27FC236}">
                <a16:creationId xmlns:a16="http://schemas.microsoft.com/office/drawing/2014/main" id="{FA46FDA9-F302-9683-6998-BDB9B7743AA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972175" y="3165274"/>
            <a:ext cx="4042835" cy="2274095"/>
          </a:xfrm>
          <a:prstGeom prst="rect">
            <a:avLst/>
          </a:prstGeom>
        </p:spPr>
      </p:pic>
      <p:pic>
        <p:nvPicPr>
          <p:cNvPr id="10" name="Imagen 9">
            <a:extLst>
              <a:ext uri="{FF2B5EF4-FFF2-40B4-BE49-F238E27FC236}">
                <a16:creationId xmlns:a16="http://schemas.microsoft.com/office/drawing/2014/main" id="{68F20BB0-1C1A-8F48-E364-AEE5341962C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0050" y="926425"/>
            <a:ext cx="5414220" cy="3045499"/>
          </a:xfrm>
          <a:prstGeom prst="rect">
            <a:avLst/>
          </a:prstGeom>
        </p:spPr>
      </p:pic>
      <p:sp>
        <p:nvSpPr>
          <p:cNvPr id="14" name="CuadroTexto 13">
            <a:extLst>
              <a:ext uri="{FF2B5EF4-FFF2-40B4-BE49-F238E27FC236}">
                <a16:creationId xmlns:a16="http://schemas.microsoft.com/office/drawing/2014/main" id="{458652E4-BE55-F81C-2C88-F29774CB963A}"/>
              </a:ext>
            </a:extLst>
          </p:cNvPr>
          <p:cNvSpPr txBox="1"/>
          <p:nvPr/>
        </p:nvSpPr>
        <p:spPr>
          <a:xfrm>
            <a:off x="723900" y="4292796"/>
            <a:ext cx="3239559" cy="1200329"/>
          </a:xfrm>
          <a:prstGeom prst="rect">
            <a:avLst/>
          </a:prstGeom>
          <a:noFill/>
        </p:spPr>
        <p:txBody>
          <a:bodyPr wrap="square">
            <a:spAutoFit/>
          </a:bodyPr>
          <a:lstStyle/>
          <a:p>
            <a:pPr>
              <a:buNone/>
            </a:pPr>
            <a:r>
              <a:rPr lang="es-MX" b="1" dirty="0"/>
              <a:t>Paso 1: </a:t>
            </a:r>
            <a:r>
              <a:rPr lang="es-MX" dirty="0"/>
              <a:t>Ingreso de la expresión regular</a:t>
            </a:r>
          </a:p>
          <a:p>
            <a:pPr>
              <a:buNone/>
            </a:pPr>
            <a:r>
              <a:rPr lang="es-MX" dirty="0"/>
              <a:t>Expresión regular:(</a:t>
            </a:r>
            <a:r>
              <a:rPr lang="es-MX" dirty="0" err="1"/>
              <a:t>ab+ba</a:t>
            </a:r>
            <a:r>
              <a:rPr lang="es-MX" dirty="0"/>
              <a:t>)*</a:t>
            </a:r>
          </a:p>
          <a:p>
            <a:pPr>
              <a:buNone/>
            </a:pPr>
            <a:endParaRPr lang="ar-AE" dirty="0"/>
          </a:p>
        </p:txBody>
      </p:sp>
      <p:pic>
        <p:nvPicPr>
          <p:cNvPr id="16" name="Imagen 15">
            <a:extLst>
              <a:ext uri="{FF2B5EF4-FFF2-40B4-BE49-F238E27FC236}">
                <a16:creationId xmlns:a16="http://schemas.microsoft.com/office/drawing/2014/main" id="{81E4C014-CE69-0D6F-5BD1-9272897DB8D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72175" y="679967"/>
            <a:ext cx="4042833" cy="2274094"/>
          </a:xfrm>
          <a:prstGeom prst="rect">
            <a:avLst/>
          </a:prstGeom>
        </p:spPr>
      </p:pic>
      <p:sp>
        <p:nvSpPr>
          <p:cNvPr id="18" name="CuadroTexto 17">
            <a:extLst>
              <a:ext uri="{FF2B5EF4-FFF2-40B4-BE49-F238E27FC236}">
                <a16:creationId xmlns:a16="http://schemas.microsoft.com/office/drawing/2014/main" id="{10236CAB-FC42-E67F-7807-CE509BA1E574}"/>
              </a:ext>
            </a:extLst>
          </p:cNvPr>
          <p:cNvSpPr txBox="1"/>
          <p:nvPr/>
        </p:nvSpPr>
        <p:spPr>
          <a:xfrm>
            <a:off x="6090709" y="5429845"/>
            <a:ext cx="4173008" cy="369332"/>
          </a:xfrm>
          <a:prstGeom prst="rect">
            <a:avLst/>
          </a:prstGeom>
          <a:noFill/>
        </p:spPr>
        <p:txBody>
          <a:bodyPr wrap="square">
            <a:spAutoFit/>
          </a:bodyPr>
          <a:lstStyle/>
          <a:p>
            <a:r>
              <a:rPr lang="es-MX" dirty="0"/>
              <a:t>Paso 2: Construcción inicial del autómata</a:t>
            </a:r>
          </a:p>
        </p:txBody>
      </p:sp>
    </p:spTree>
    <p:extLst>
      <p:ext uri="{BB962C8B-B14F-4D97-AF65-F5344CB8AC3E}">
        <p14:creationId xmlns:p14="http://schemas.microsoft.com/office/powerpoint/2010/main" val="5883041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43A33-9556-3075-BE0D-17EC595D8329}"/>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C972683F-FFB3-DB9B-50B0-5B46FC19D5A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95324" y="855107"/>
            <a:ext cx="4257675" cy="2394942"/>
          </a:xfrm>
          <a:prstGeom prst="rect">
            <a:avLst/>
          </a:prstGeom>
        </p:spPr>
      </p:pic>
      <p:pic>
        <p:nvPicPr>
          <p:cNvPr id="3" name="Imagen 2">
            <a:extLst>
              <a:ext uri="{FF2B5EF4-FFF2-40B4-BE49-F238E27FC236}">
                <a16:creationId xmlns:a16="http://schemas.microsoft.com/office/drawing/2014/main" id="{F60D5D8D-892E-F851-8612-20EBF144F6E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14374" y="3338809"/>
            <a:ext cx="4257673" cy="2394942"/>
          </a:xfrm>
          <a:prstGeom prst="rect">
            <a:avLst/>
          </a:prstGeom>
        </p:spPr>
      </p:pic>
      <p:pic>
        <p:nvPicPr>
          <p:cNvPr id="12" name="Imagen 11">
            <a:extLst>
              <a:ext uri="{FF2B5EF4-FFF2-40B4-BE49-F238E27FC236}">
                <a16:creationId xmlns:a16="http://schemas.microsoft.com/office/drawing/2014/main" id="{A41D1663-0F9D-7060-5FD9-B4F7EEAE958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53125" y="855107"/>
            <a:ext cx="5734050" cy="3225403"/>
          </a:xfrm>
          <a:prstGeom prst="rect">
            <a:avLst/>
          </a:prstGeom>
        </p:spPr>
      </p:pic>
      <p:sp>
        <p:nvSpPr>
          <p:cNvPr id="6" name="CuadroTexto 5">
            <a:extLst>
              <a:ext uri="{FF2B5EF4-FFF2-40B4-BE49-F238E27FC236}">
                <a16:creationId xmlns:a16="http://schemas.microsoft.com/office/drawing/2014/main" id="{58FCA819-FE93-0B92-E623-71F8947F4F95}"/>
              </a:ext>
            </a:extLst>
          </p:cNvPr>
          <p:cNvSpPr txBox="1"/>
          <p:nvPr/>
        </p:nvSpPr>
        <p:spPr>
          <a:xfrm>
            <a:off x="457200" y="5791794"/>
            <a:ext cx="5267325" cy="369332"/>
          </a:xfrm>
          <a:prstGeom prst="rect">
            <a:avLst/>
          </a:prstGeom>
          <a:noFill/>
        </p:spPr>
        <p:txBody>
          <a:bodyPr wrap="square">
            <a:spAutoFit/>
          </a:bodyPr>
          <a:lstStyle/>
          <a:p>
            <a:r>
              <a:rPr lang="es-MX" dirty="0"/>
              <a:t>Paso 3: Resolución de las operaciones de la expresión</a:t>
            </a:r>
          </a:p>
        </p:txBody>
      </p:sp>
      <p:sp>
        <p:nvSpPr>
          <p:cNvPr id="8" name="CuadroTexto 7">
            <a:extLst>
              <a:ext uri="{FF2B5EF4-FFF2-40B4-BE49-F238E27FC236}">
                <a16:creationId xmlns:a16="http://schemas.microsoft.com/office/drawing/2014/main" id="{91A4988E-BDED-9578-A8A7-24B8875A3982}"/>
              </a:ext>
            </a:extLst>
          </p:cNvPr>
          <p:cNvSpPr txBox="1"/>
          <p:nvPr/>
        </p:nvSpPr>
        <p:spPr>
          <a:xfrm>
            <a:off x="5953125" y="4316193"/>
            <a:ext cx="6096000" cy="369332"/>
          </a:xfrm>
          <a:prstGeom prst="rect">
            <a:avLst/>
          </a:prstGeom>
          <a:noFill/>
        </p:spPr>
        <p:txBody>
          <a:bodyPr wrap="square">
            <a:spAutoFit/>
          </a:bodyPr>
          <a:lstStyle/>
          <a:p>
            <a:r>
              <a:rPr lang="es-MX" dirty="0"/>
              <a:t>Paso 4: Construcción completa del autómata y resultado</a:t>
            </a:r>
          </a:p>
        </p:txBody>
      </p:sp>
    </p:spTree>
    <p:extLst>
      <p:ext uri="{BB962C8B-B14F-4D97-AF65-F5344CB8AC3E}">
        <p14:creationId xmlns:p14="http://schemas.microsoft.com/office/powerpoint/2010/main" val="405300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ADB39-0EFA-0142-EC3D-68FB4678EC02}"/>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F32697F-4918-3476-9034-479209C06385}"/>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a:t>
            </a:r>
            <a:r>
              <a:rPr lang="es-MX" b="1" dirty="0">
                <a:solidFill>
                  <a:srgbClr val="000000"/>
                </a:solidFill>
                <a:latin typeface="Calibri" panose="020F0502020204030204" pitchFamily="34" charset="0"/>
              </a:rPr>
              <a:t>3</a:t>
            </a:r>
            <a:endParaRPr lang="es-MX" dirty="0">
              <a:effectLst/>
            </a:endParaRPr>
          </a:p>
        </p:txBody>
      </p:sp>
      <p:pic>
        <p:nvPicPr>
          <p:cNvPr id="3" name="Imagen 2">
            <a:extLst>
              <a:ext uri="{FF2B5EF4-FFF2-40B4-BE49-F238E27FC236}">
                <a16:creationId xmlns:a16="http://schemas.microsoft.com/office/drawing/2014/main" id="{32A03418-5B78-E074-3ED1-78F0453A52E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60881" y="1431234"/>
            <a:ext cx="5448118" cy="3064566"/>
          </a:xfrm>
          <a:prstGeom prst="rect">
            <a:avLst/>
          </a:prstGeom>
        </p:spPr>
      </p:pic>
      <p:pic>
        <p:nvPicPr>
          <p:cNvPr id="6" name="Imagen 5">
            <a:extLst>
              <a:ext uri="{FF2B5EF4-FFF2-40B4-BE49-F238E27FC236}">
                <a16:creationId xmlns:a16="http://schemas.microsoft.com/office/drawing/2014/main" id="{0C904BB7-8BA4-37E5-405E-C9A44EEBA5E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08038" y="328821"/>
            <a:ext cx="4704518" cy="2646291"/>
          </a:xfrm>
          <a:prstGeom prst="rect">
            <a:avLst/>
          </a:prstGeom>
        </p:spPr>
      </p:pic>
      <p:pic>
        <p:nvPicPr>
          <p:cNvPr id="8" name="Imagen 7">
            <a:extLst>
              <a:ext uri="{FF2B5EF4-FFF2-40B4-BE49-F238E27FC236}">
                <a16:creationId xmlns:a16="http://schemas.microsoft.com/office/drawing/2014/main" id="{957D41B1-0BAC-30A1-5B8C-6982C05D8A3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08038" y="3061052"/>
            <a:ext cx="4704518" cy="2646291"/>
          </a:xfrm>
          <a:prstGeom prst="rect">
            <a:avLst/>
          </a:prstGeom>
        </p:spPr>
      </p:pic>
      <p:sp>
        <p:nvSpPr>
          <p:cNvPr id="10" name="CuadroTexto 9">
            <a:extLst>
              <a:ext uri="{FF2B5EF4-FFF2-40B4-BE49-F238E27FC236}">
                <a16:creationId xmlns:a16="http://schemas.microsoft.com/office/drawing/2014/main" id="{11C9F58E-4DD5-9301-DE37-E05CA0D73695}"/>
              </a:ext>
            </a:extLst>
          </p:cNvPr>
          <p:cNvSpPr txBox="1"/>
          <p:nvPr/>
        </p:nvSpPr>
        <p:spPr>
          <a:xfrm>
            <a:off x="723900" y="4901987"/>
            <a:ext cx="3978597"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a:t>
            </a:r>
            <a:r>
              <a:rPr lang="es-MX" dirty="0" err="1"/>
              <a:t>regular:a</a:t>
            </a:r>
            <a:r>
              <a:rPr lang="es-MX" dirty="0"/>
              <a:t>(</a:t>
            </a:r>
            <a:r>
              <a:rPr lang="es-MX" dirty="0" err="1"/>
              <a:t>b+a</a:t>
            </a:r>
            <a:r>
              <a:rPr lang="es-MX" dirty="0"/>
              <a:t>)*</a:t>
            </a:r>
          </a:p>
        </p:txBody>
      </p:sp>
      <p:sp>
        <p:nvSpPr>
          <p:cNvPr id="12" name="CuadroTexto 11">
            <a:extLst>
              <a:ext uri="{FF2B5EF4-FFF2-40B4-BE49-F238E27FC236}">
                <a16:creationId xmlns:a16="http://schemas.microsoft.com/office/drawing/2014/main" id="{80BBD282-4710-D5A5-818A-5D7FD69B0D2D}"/>
              </a:ext>
            </a:extLst>
          </p:cNvPr>
          <p:cNvSpPr txBox="1"/>
          <p:nvPr/>
        </p:nvSpPr>
        <p:spPr>
          <a:xfrm>
            <a:off x="6308038" y="5896674"/>
            <a:ext cx="4346710" cy="369332"/>
          </a:xfrm>
          <a:prstGeom prst="rect">
            <a:avLst/>
          </a:prstGeom>
          <a:noFill/>
        </p:spPr>
        <p:txBody>
          <a:bodyPr wrap="square">
            <a:spAutoFit/>
          </a:bodyPr>
          <a:lstStyle/>
          <a:p>
            <a:r>
              <a:rPr lang="es-MX" b="1" dirty="0"/>
              <a:t>Paso 2</a:t>
            </a:r>
            <a:r>
              <a:rPr lang="es-MX" dirty="0"/>
              <a:t>: Construcción inicial del autómata</a:t>
            </a:r>
          </a:p>
        </p:txBody>
      </p:sp>
    </p:spTree>
    <p:extLst>
      <p:ext uri="{BB962C8B-B14F-4D97-AF65-F5344CB8AC3E}">
        <p14:creationId xmlns:p14="http://schemas.microsoft.com/office/powerpoint/2010/main" val="1368362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4284F-5B40-E7B9-F458-5BCFED5DEE7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4CE8655-EBF3-4A0A-4450-6C607C35A1A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97949" y="1266447"/>
            <a:ext cx="5359767" cy="3014869"/>
          </a:xfrm>
          <a:prstGeom prst="rect">
            <a:avLst/>
          </a:prstGeom>
        </p:spPr>
      </p:pic>
      <p:pic>
        <p:nvPicPr>
          <p:cNvPr id="6" name="Imagen 5">
            <a:extLst>
              <a:ext uri="{FF2B5EF4-FFF2-40B4-BE49-F238E27FC236}">
                <a16:creationId xmlns:a16="http://schemas.microsoft.com/office/drawing/2014/main" id="{2487A8C1-773C-7277-7387-CC907E1AB1E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99328" y="1266447"/>
            <a:ext cx="5501124" cy="3094382"/>
          </a:xfrm>
          <a:prstGeom prst="rect">
            <a:avLst/>
          </a:prstGeom>
        </p:spPr>
      </p:pic>
      <p:sp>
        <p:nvSpPr>
          <p:cNvPr id="8" name="CuadroTexto 7">
            <a:extLst>
              <a:ext uri="{FF2B5EF4-FFF2-40B4-BE49-F238E27FC236}">
                <a16:creationId xmlns:a16="http://schemas.microsoft.com/office/drawing/2014/main" id="{B10D1759-4D77-4963-65E1-09F9C3E7EB0C}"/>
              </a:ext>
            </a:extLst>
          </p:cNvPr>
          <p:cNvSpPr txBox="1"/>
          <p:nvPr/>
        </p:nvSpPr>
        <p:spPr>
          <a:xfrm>
            <a:off x="605184" y="4932402"/>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9" name="CuadroTexto 8">
            <a:extLst>
              <a:ext uri="{FF2B5EF4-FFF2-40B4-BE49-F238E27FC236}">
                <a16:creationId xmlns:a16="http://schemas.microsoft.com/office/drawing/2014/main" id="{D0680594-618D-DA19-A11F-A2231CF00F04}"/>
              </a:ext>
            </a:extLst>
          </p:cNvPr>
          <p:cNvSpPr txBox="1"/>
          <p:nvPr/>
        </p:nvSpPr>
        <p:spPr>
          <a:xfrm>
            <a:off x="6399328" y="4932402"/>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3732904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066F4-9C23-5252-6FEF-AD4489AA960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0D0F3AA1-8EE2-88EE-161B-4B34C0011B55}"/>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4</a:t>
            </a:r>
            <a:endParaRPr lang="es-MX" dirty="0">
              <a:effectLst/>
            </a:endParaRPr>
          </a:p>
        </p:txBody>
      </p:sp>
      <p:pic>
        <p:nvPicPr>
          <p:cNvPr id="3" name="Imagen 2">
            <a:extLst>
              <a:ext uri="{FF2B5EF4-FFF2-40B4-BE49-F238E27FC236}">
                <a16:creationId xmlns:a16="http://schemas.microsoft.com/office/drawing/2014/main" id="{8B174ADC-3A88-174A-5BCD-1C6FB91FEFA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332926"/>
            <a:ext cx="4929717" cy="2772966"/>
          </a:xfrm>
          <a:prstGeom prst="rect">
            <a:avLst/>
          </a:prstGeom>
        </p:spPr>
      </p:pic>
      <p:pic>
        <p:nvPicPr>
          <p:cNvPr id="6" name="Imagen 5">
            <a:extLst>
              <a:ext uri="{FF2B5EF4-FFF2-40B4-BE49-F238E27FC236}">
                <a16:creationId xmlns:a16="http://schemas.microsoft.com/office/drawing/2014/main" id="{B0721D1C-A152-BA2D-05F9-81937502676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06146" y="1133385"/>
            <a:ext cx="5547668" cy="3120563"/>
          </a:xfrm>
          <a:prstGeom prst="rect">
            <a:avLst/>
          </a:prstGeom>
        </p:spPr>
      </p:pic>
      <p:sp>
        <p:nvSpPr>
          <p:cNvPr id="8" name="CuadroTexto 7">
            <a:extLst>
              <a:ext uri="{FF2B5EF4-FFF2-40B4-BE49-F238E27FC236}">
                <a16:creationId xmlns:a16="http://schemas.microsoft.com/office/drawing/2014/main" id="{7A657DD7-2600-D998-5C53-93E401B3E93B}"/>
              </a:ext>
            </a:extLst>
          </p:cNvPr>
          <p:cNvSpPr txBox="1"/>
          <p:nvPr/>
        </p:nvSpPr>
        <p:spPr>
          <a:xfrm>
            <a:off x="206146" y="4532225"/>
            <a:ext cx="4965929"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regular: (</a:t>
            </a:r>
            <a:r>
              <a:rPr lang="es-MX" dirty="0" err="1"/>
              <a:t>a+b</a:t>
            </a:r>
            <a:r>
              <a:rPr lang="es-MX" dirty="0"/>
              <a:t>)*</a:t>
            </a:r>
            <a:r>
              <a:rPr lang="es-MX" dirty="0" err="1"/>
              <a:t>abb</a:t>
            </a:r>
            <a:endParaRPr lang="es-MX" dirty="0"/>
          </a:p>
        </p:txBody>
      </p:sp>
      <p:pic>
        <p:nvPicPr>
          <p:cNvPr id="9" name="Imagen 8">
            <a:extLst>
              <a:ext uri="{FF2B5EF4-FFF2-40B4-BE49-F238E27FC236}">
                <a16:creationId xmlns:a16="http://schemas.microsoft.com/office/drawing/2014/main" id="{C3DB7957-053A-65E3-15F5-95F0B1246F9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96000" y="3234773"/>
            <a:ext cx="4929717" cy="2772966"/>
          </a:xfrm>
          <a:prstGeom prst="rect">
            <a:avLst/>
          </a:prstGeom>
        </p:spPr>
      </p:pic>
      <p:sp>
        <p:nvSpPr>
          <p:cNvPr id="10" name="CuadroTexto 9">
            <a:extLst>
              <a:ext uri="{FF2B5EF4-FFF2-40B4-BE49-F238E27FC236}">
                <a16:creationId xmlns:a16="http://schemas.microsoft.com/office/drawing/2014/main" id="{4DFF6128-175D-2B36-F78D-51061070BBAF}"/>
              </a:ext>
            </a:extLst>
          </p:cNvPr>
          <p:cNvSpPr txBox="1"/>
          <p:nvPr/>
        </p:nvSpPr>
        <p:spPr>
          <a:xfrm>
            <a:off x="6298513" y="6136620"/>
            <a:ext cx="4346710" cy="369332"/>
          </a:xfrm>
          <a:prstGeom prst="rect">
            <a:avLst/>
          </a:prstGeom>
          <a:noFill/>
        </p:spPr>
        <p:txBody>
          <a:bodyPr wrap="square">
            <a:spAutoFit/>
          </a:bodyPr>
          <a:lstStyle/>
          <a:p>
            <a:r>
              <a:rPr lang="es-MX" b="1" dirty="0"/>
              <a:t>Paso 2</a:t>
            </a:r>
            <a:r>
              <a:rPr lang="es-MX" dirty="0"/>
              <a:t>: Construcción inicial del autómata</a:t>
            </a:r>
          </a:p>
        </p:txBody>
      </p:sp>
    </p:spTree>
    <p:extLst>
      <p:ext uri="{BB962C8B-B14F-4D97-AF65-F5344CB8AC3E}">
        <p14:creationId xmlns:p14="http://schemas.microsoft.com/office/powerpoint/2010/main" val="924345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58210-7485-E746-8727-563892EA16E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57FA19A-7F3B-D86C-20EE-D4CD53893A9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8949" y="838200"/>
            <a:ext cx="4809067" cy="2705100"/>
          </a:xfrm>
          <a:prstGeom prst="rect">
            <a:avLst/>
          </a:prstGeom>
        </p:spPr>
      </p:pic>
      <p:pic>
        <p:nvPicPr>
          <p:cNvPr id="8" name="Imagen 7">
            <a:extLst>
              <a:ext uri="{FF2B5EF4-FFF2-40B4-BE49-F238E27FC236}">
                <a16:creationId xmlns:a16="http://schemas.microsoft.com/office/drawing/2014/main" id="{6048F4A7-84CE-D02B-98E8-266DC81621F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743575" y="447675"/>
            <a:ext cx="6096000" cy="3429000"/>
          </a:xfrm>
          <a:prstGeom prst="rect">
            <a:avLst/>
          </a:prstGeom>
        </p:spPr>
      </p:pic>
      <p:sp>
        <p:nvSpPr>
          <p:cNvPr id="9" name="CuadroTexto 8">
            <a:extLst>
              <a:ext uri="{FF2B5EF4-FFF2-40B4-BE49-F238E27FC236}">
                <a16:creationId xmlns:a16="http://schemas.microsoft.com/office/drawing/2014/main" id="{93BB8F20-146B-5AD5-9AA9-8639B0877C19}"/>
              </a:ext>
            </a:extLst>
          </p:cNvPr>
          <p:cNvSpPr txBox="1"/>
          <p:nvPr/>
        </p:nvSpPr>
        <p:spPr>
          <a:xfrm>
            <a:off x="301856" y="3876675"/>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10" name="CuadroTexto 9">
            <a:extLst>
              <a:ext uri="{FF2B5EF4-FFF2-40B4-BE49-F238E27FC236}">
                <a16:creationId xmlns:a16="http://schemas.microsoft.com/office/drawing/2014/main" id="{D7C9AF68-5DC4-76F8-C79C-102069DDB595}"/>
              </a:ext>
            </a:extLst>
          </p:cNvPr>
          <p:cNvSpPr txBox="1"/>
          <p:nvPr/>
        </p:nvSpPr>
        <p:spPr>
          <a:xfrm>
            <a:off x="6096000" y="3876675"/>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2176796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A71BB-5064-1C1C-12F6-D8919658749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5B1D34F-FB4F-AAF5-0408-6125681B0BAE}"/>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5</a:t>
            </a:r>
            <a:endParaRPr lang="es-MX" dirty="0">
              <a:effectLst/>
            </a:endParaRPr>
          </a:p>
        </p:txBody>
      </p:sp>
      <p:pic>
        <p:nvPicPr>
          <p:cNvPr id="3" name="Imagen 2">
            <a:extLst>
              <a:ext uri="{FF2B5EF4-FFF2-40B4-BE49-F238E27FC236}">
                <a16:creationId xmlns:a16="http://schemas.microsoft.com/office/drawing/2014/main" id="{1F8B9EA6-4641-2434-BC6A-CA355FFE672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15407" y="855108"/>
            <a:ext cx="4442039" cy="2498647"/>
          </a:xfrm>
          <a:prstGeom prst="rect">
            <a:avLst/>
          </a:prstGeom>
        </p:spPr>
      </p:pic>
      <p:pic>
        <p:nvPicPr>
          <p:cNvPr id="6" name="Imagen 5">
            <a:extLst>
              <a:ext uri="{FF2B5EF4-FFF2-40B4-BE49-F238E27FC236}">
                <a16:creationId xmlns:a16="http://schemas.microsoft.com/office/drawing/2014/main" id="{63481730-8B69-47A9-EB8B-B01EFB92C56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75917" y="3475079"/>
            <a:ext cx="4724400" cy="2657475"/>
          </a:xfrm>
          <a:prstGeom prst="rect">
            <a:avLst/>
          </a:prstGeom>
        </p:spPr>
      </p:pic>
      <p:pic>
        <p:nvPicPr>
          <p:cNvPr id="8" name="Imagen 7">
            <a:extLst>
              <a:ext uri="{FF2B5EF4-FFF2-40B4-BE49-F238E27FC236}">
                <a16:creationId xmlns:a16="http://schemas.microsoft.com/office/drawing/2014/main" id="{AE265A3D-0270-A9A9-8B4E-41EECDB711D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75917" y="542334"/>
            <a:ext cx="4515907" cy="2540198"/>
          </a:xfrm>
          <a:prstGeom prst="rect">
            <a:avLst/>
          </a:prstGeom>
        </p:spPr>
      </p:pic>
      <p:pic>
        <p:nvPicPr>
          <p:cNvPr id="10" name="Imagen 9">
            <a:extLst>
              <a:ext uri="{FF2B5EF4-FFF2-40B4-BE49-F238E27FC236}">
                <a16:creationId xmlns:a16="http://schemas.microsoft.com/office/drawing/2014/main" id="{A307FE4E-97D2-280B-642F-E099AD46BBE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15406" y="4040329"/>
            <a:ext cx="4170893" cy="2346127"/>
          </a:xfrm>
          <a:prstGeom prst="rect">
            <a:avLst/>
          </a:prstGeom>
        </p:spPr>
      </p:pic>
      <p:sp>
        <p:nvSpPr>
          <p:cNvPr id="12" name="CuadroTexto 11">
            <a:extLst>
              <a:ext uri="{FF2B5EF4-FFF2-40B4-BE49-F238E27FC236}">
                <a16:creationId xmlns:a16="http://schemas.microsoft.com/office/drawing/2014/main" id="{00DB2585-14F0-1D17-27EA-5D7AA627AB47}"/>
              </a:ext>
            </a:extLst>
          </p:cNvPr>
          <p:cNvSpPr txBox="1"/>
          <p:nvPr/>
        </p:nvSpPr>
        <p:spPr>
          <a:xfrm>
            <a:off x="515406" y="3429000"/>
            <a:ext cx="4170893"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regular:(</a:t>
            </a:r>
            <a:r>
              <a:rPr lang="es-MX" dirty="0" err="1"/>
              <a:t>a+b</a:t>
            </a:r>
            <a:r>
              <a:rPr lang="es-MX" dirty="0"/>
              <a:t>)*</a:t>
            </a:r>
          </a:p>
        </p:txBody>
      </p:sp>
      <p:sp>
        <p:nvSpPr>
          <p:cNvPr id="13" name="CuadroTexto 12">
            <a:extLst>
              <a:ext uri="{FF2B5EF4-FFF2-40B4-BE49-F238E27FC236}">
                <a16:creationId xmlns:a16="http://schemas.microsoft.com/office/drawing/2014/main" id="{F3815FF6-DF7C-242F-CDEA-BD7B8CD8EDEC}"/>
              </a:ext>
            </a:extLst>
          </p:cNvPr>
          <p:cNvSpPr txBox="1"/>
          <p:nvPr/>
        </p:nvSpPr>
        <p:spPr>
          <a:xfrm>
            <a:off x="515406" y="6386456"/>
            <a:ext cx="4346710" cy="369332"/>
          </a:xfrm>
          <a:prstGeom prst="rect">
            <a:avLst/>
          </a:prstGeom>
          <a:noFill/>
        </p:spPr>
        <p:txBody>
          <a:bodyPr wrap="square">
            <a:spAutoFit/>
          </a:bodyPr>
          <a:lstStyle/>
          <a:p>
            <a:r>
              <a:rPr lang="es-MX" b="1" dirty="0"/>
              <a:t>Paso 2</a:t>
            </a:r>
            <a:r>
              <a:rPr lang="es-MX" dirty="0"/>
              <a:t>: Construcción inicial del autómata</a:t>
            </a:r>
          </a:p>
        </p:txBody>
      </p:sp>
      <p:sp>
        <p:nvSpPr>
          <p:cNvPr id="15" name="CuadroTexto 14">
            <a:extLst>
              <a:ext uri="{FF2B5EF4-FFF2-40B4-BE49-F238E27FC236}">
                <a16:creationId xmlns:a16="http://schemas.microsoft.com/office/drawing/2014/main" id="{5A49FE88-BF85-A3DF-3186-88FB848E937C}"/>
              </a:ext>
            </a:extLst>
          </p:cNvPr>
          <p:cNvSpPr txBox="1"/>
          <p:nvPr/>
        </p:nvSpPr>
        <p:spPr>
          <a:xfrm>
            <a:off x="6026381" y="3104559"/>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17" name="CuadroTexto 16">
            <a:extLst>
              <a:ext uri="{FF2B5EF4-FFF2-40B4-BE49-F238E27FC236}">
                <a16:creationId xmlns:a16="http://schemas.microsoft.com/office/drawing/2014/main" id="{04CB0D36-518E-3D5E-D172-5A7F053CFA0C}"/>
              </a:ext>
            </a:extLst>
          </p:cNvPr>
          <p:cNvSpPr txBox="1"/>
          <p:nvPr/>
        </p:nvSpPr>
        <p:spPr>
          <a:xfrm>
            <a:off x="6026381" y="6206496"/>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10445878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BD9EA-8368-EF90-3C43-B20DE906BC9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652960F-DBF8-00CB-CB22-F19C106CE108}"/>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6</a:t>
            </a:r>
            <a:endParaRPr lang="es-MX" dirty="0">
              <a:effectLst/>
            </a:endParaRPr>
          </a:p>
        </p:txBody>
      </p:sp>
      <p:pic>
        <p:nvPicPr>
          <p:cNvPr id="3" name="Imagen 2">
            <a:extLst>
              <a:ext uri="{FF2B5EF4-FFF2-40B4-BE49-F238E27FC236}">
                <a16:creationId xmlns:a16="http://schemas.microsoft.com/office/drawing/2014/main" id="{99541BBA-B9D0-BBE6-FFFE-A00CC82D8BE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715121" y="3429000"/>
            <a:ext cx="4657729" cy="2619972"/>
          </a:xfrm>
          <a:prstGeom prst="rect">
            <a:avLst/>
          </a:prstGeom>
        </p:spPr>
      </p:pic>
      <p:pic>
        <p:nvPicPr>
          <p:cNvPr id="6" name="Imagen 5">
            <a:extLst>
              <a:ext uri="{FF2B5EF4-FFF2-40B4-BE49-F238E27FC236}">
                <a16:creationId xmlns:a16="http://schemas.microsoft.com/office/drawing/2014/main" id="{EE8227C8-882C-13A0-F074-7E069272FAB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23900" y="3927199"/>
            <a:ext cx="4346711" cy="2445025"/>
          </a:xfrm>
          <a:prstGeom prst="rect">
            <a:avLst/>
          </a:prstGeom>
        </p:spPr>
      </p:pic>
      <p:pic>
        <p:nvPicPr>
          <p:cNvPr id="8" name="Imagen 7">
            <a:extLst>
              <a:ext uri="{FF2B5EF4-FFF2-40B4-BE49-F238E27FC236}">
                <a16:creationId xmlns:a16="http://schemas.microsoft.com/office/drawing/2014/main" id="{7C02AB7B-CF1C-0981-2948-D83646F061C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715125" y="425888"/>
            <a:ext cx="4657725" cy="2619970"/>
          </a:xfrm>
          <a:prstGeom prst="rect">
            <a:avLst/>
          </a:prstGeom>
        </p:spPr>
      </p:pic>
      <p:pic>
        <p:nvPicPr>
          <p:cNvPr id="10" name="Imagen 9">
            <a:extLst>
              <a:ext uri="{FF2B5EF4-FFF2-40B4-BE49-F238E27FC236}">
                <a16:creationId xmlns:a16="http://schemas.microsoft.com/office/drawing/2014/main" id="{304ABA00-28F2-DF5F-EE11-9A310262D88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23900" y="855108"/>
            <a:ext cx="4321809" cy="2431017"/>
          </a:xfrm>
          <a:prstGeom prst="rect">
            <a:avLst/>
          </a:prstGeom>
        </p:spPr>
      </p:pic>
      <p:sp>
        <p:nvSpPr>
          <p:cNvPr id="11" name="CuadroTexto 10">
            <a:extLst>
              <a:ext uri="{FF2B5EF4-FFF2-40B4-BE49-F238E27FC236}">
                <a16:creationId xmlns:a16="http://schemas.microsoft.com/office/drawing/2014/main" id="{CE2F360E-D82F-2971-B054-8A1AF27A39DB}"/>
              </a:ext>
            </a:extLst>
          </p:cNvPr>
          <p:cNvSpPr txBox="1"/>
          <p:nvPr/>
        </p:nvSpPr>
        <p:spPr>
          <a:xfrm>
            <a:off x="691223" y="3286125"/>
            <a:ext cx="4170893"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regular:(</a:t>
            </a:r>
            <a:r>
              <a:rPr lang="es-MX" dirty="0" err="1"/>
              <a:t>a+b</a:t>
            </a:r>
            <a:r>
              <a:rPr lang="es-MX" dirty="0"/>
              <a:t>)b</a:t>
            </a:r>
          </a:p>
        </p:txBody>
      </p:sp>
      <p:sp>
        <p:nvSpPr>
          <p:cNvPr id="12" name="CuadroTexto 11">
            <a:extLst>
              <a:ext uri="{FF2B5EF4-FFF2-40B4-BE49-F238E27FC236}">
                <a16:creationId xmlns:a16="http://schemas.microsoft.com/office/drawing/2014/main" id="{A5E1A523-6B45-3032-E3A0-EEB735FE34F4}"/>
              </a:ext>
            </a:extLst>
          </p:cNvPr>
          <p:cNvSpPr txBox="1"/>
          <p:nvPr/>
        </p:nvSpPr>
        <p:spPr>
          <a:xfrm>
            <a:off x="6620931" y="3030318"/>
            <a:ext cx="4346710" cy="369332"/>
          </a:xfrm>
          <a:prstGeom prst="rect">
            <a:avLst/>
          </a:prstGeom>
          <a:noFill/>
        </p:spPr>
        <p:txBody>
          <a:bodyPr wrap="square">
            <a:spAutoFit/>
          </a:bodyPr>
          <a:lstStyle/>
          <a:p>
            <a:r>
              <a:rPr lang="es-MX" b="1" dirty="0"/>
              <a:t>Paso 2</a:t>
            </a:r>
            <a:r>
              <a:rPr lang="es-MX" dirty="0"/>
              <a:t>: Construcción inicial del autómata</a:t>
            </a:r>
          </a:p>
        </p:txBody>
      </p:sp>
      <p:sp>
        <p:nvSpPr>
          <p:cNvPr id="13" name="CuadroTexto 12">
            <a:extLst>
              <a:ext uri="{FF2B5EF4-FFF2-40B4-BE49-F238E27FC236}">
                <a16:creationId xmlns:a16="http://schemas.microsoft.com/office/drawing/2014/main" id="{D175D7AF-0CFE-C2A4-66B2-1EBBC1F5A638}"/>
              </a:ext>
            </a:extLst>
          </p:cNvPr>
          <p:cNvSpPr txBox="1"/>
          <p:nvPr/>
        </p:nvSpPr>
        <p:spPr>
          <a:xfrm>
            <a:off x="454256" y="6448426"/>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14" name="CuadroTexto 13">
            <a:extLst>
              <a:ext uri="{FF2B5EF4-FFF2-40B4-BE49-F238E27FC236}">
                <a16:creationId xmlns:a16="http://schemas.microsoft.com/office/drawing/2014/main" id="{FD4FCCCC-25F3-B3E5-0073-68B7B7C8BE1D}"/>
              </a:ext>
            </a:extLst>
          </p:cNvPr>
          <p:cNvSpPr txBox="1"/>
          <p:nvPr/>
        </p:nvSpPr>
        <p:spPr>
          <a:xfrm>
            <a:off x="6026381" y="6206496"/>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2488243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8ADF2-E43F-DA25-07D6-AFED7E6D54C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124FD7B-39CE-7476-5A83-D9AD6C1E8980}"/>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7</a:t>
            </a:r>
            <a:endParaRPr lang="es-MX" dirty="0">
              <a:effectLst/>
            </a:endParaRPr>
          </a:p>
        </p:txBody>
      </p:sp>
      <p:pic>
        <p:nvPicPr>
          <p:cNvPr id="3" name="Imagen 2">
            <a:extLst>
              <a:ext uri="{FF2B5EF4-FFF2-40B4-BE49-F238E27FC236}">
                <a16:creationId xmlns:a16="http://schemas.microsoft.com/office/drawing/2014/main" id="{2AB3C7E8-A865-1968-DA1C-7DC3B3C4315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7241" y="1304924"/>
            <a:ext cx="5300133" cy="2981325"/>
          </a:xfrm>
          <a:prstGeom prst="rect">
            <a:avLst/>
          </a:prstGeom>
        </p:spPr>
      </p:pic>
      <p:sp>
        <p:nvSpPr>
          <p:cNvPr id="4" name="CuadroTexto 3">
            <a:extLst>
              <a:ext uri="{FF2B5EF4-FFF2-40B4-BE49-F238E27FC236}">
                <a16:creationId xmlns:a16="http://schemas.microsoft.com/office/drawing/2014/main" id="{0590C6C0-01C9-4366-A0A7-5B5AE927DE10}"/>
              </a:ext>
            </a:extLst>
          </p:cNvPr>
          <p:cNvSpPr txBox="1"/>
          <p:nvPr/>
        </p:nvSpPr>
        <p:spPr>
          <a:xfrm>
            <a:off x="634073" y="4412899"/>
            <a:ext cx="4170893"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regular:(</a:t>
            </a:r>
            <a:r>
              <a:rPr lang="es-MX" dirty="0" err="1"/>
              <a:t>a+b</a:t>
            </a:r>
            <a:r>
              <a:rPr lang="es-MX" dirty="0"/>
              <a:t>)(</a:t>
            </a:r>
            <a:r>
              <a:rPr lang="es-MX" dirty="0" err="1"/>
              <a:t>a+b</a:t>
            </a:r>
            <a:r>
              <a:rPr lang="es-MX" dirty="0"/>
              <a:t>)</a:t>
            </a:r>
          </a:p>
        </p:txBody>
      </p:sp>
      <p:pic>
        <p:nvPicPr>
          <p:cNvPr id="7" name="Imagen 6">
            <a:extLst>
              <a:ext uri="{FF2B5EF4-FFF2-40B4-BE49-F238E27FC236}">
                <a16:creationId xmlns:a16="http://schemas.microsoft.com/office/drawing/2014/main" id="{54DCFC72-2852-35E1-F299-77E19DAD61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560607" y="340758"/>
            <a:ext cx="4907493" cy="2760465"/>
          </a:xfrm>
          <a:prstGeom prst="rect">
            <a:avLst/>
          </a:prstGeom>
        </p:spPr>
      </p:pic>
      <p:pic>
        <p:nvPicPr>
          <p:cNvPr id="9" name="Imagen 8">
            <a:extLst>
              <a:ext uri="{FF2B5EF4-FFF2-40B4-BE49-F238E27FC236}">
                <a16:creationId xmlns:a16="http://schemas.microsoft.com/office/drawing/2014/main" id="{E8149845-2C72-0845-B855-7E7AAD66B17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560607" y="3248380"/>
            <a:ext cx="4907492" cy="2445101"/>
          </a:xfrm>
          <a:prstGeom prst="rect">
            <a:avLst/>
          </a:prstGeom>
        </p:spPr>
      </p:pic>
      <p:sp>
        <p:nvSpPr>
          <p:cNvPr id="10" name="CuadroTexto 9">
            <a:extLst>
              <a:ext uri="{FF2B5EF4-FFF2-40B4-BE49-F238E27FC236}">
                <a16:creationId xmlns:a16="http://schemas.microsoft.com/office/drawing/2014/main" id="{6F795F42-BC28-E5D4-A904-593BFAC28DAC}"/>
              </a:ext>
            </a:extLst>
          </p:cNvPr>
          <p:cNvSpPr txBox="1"/>
          <p:nvPr/>
        </p:nvSpPr>
        <p:spPr>
          <a:xfrm>
            <a:off x="6819900" y="5763993"/>
            <a:ext cx="4346710" cy="369332"/>
          </a:xfrm>
          <a:prstGeom prst="rect">
            <a:avLst/>
          </a:prstGeom>
          <a:noFill/>
        </p:spPr>
        <p:txBody>
          <a:bodyPr wrap="square">
            <a:spAutoFit/>
          </a:bodyPr>
          <a:lstStyle/>
          <a:p>
            <a:r>
              <a:rPr lang="es-MX" b="1" dirty="0"/>
              <a:t>Paso 2</a:t>
            </a:r>
            <a:r>
              <a:rPr lang="es-MX" dirty="0"/>
              <a:t>: Construcción inicial del autómata</a:t>
            </a:r>
          </a:p>
        </p:txBody>
      </p:sp>
    </p:spTree>
    <p:extLst>
      <p:ext uri="{BB962C8B-B14F-4D97-AF65-F5344CB8AC3E}">
        <p14:creationId xmlns:p14="http://schemas.microsoft.com/office/powerpoint/2010/main" val="983088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A5EB659-8BA7-4409-1710-65C9D471202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flipH="1">
            <a:off x="6096000" y="1295399"/>
            <a:ext cx="5249333" cy="2952750"/>
          </a:xfrm>
          <a:prstGeom prst="rect">
            <a:avLst/>
          </a:prstGeom>
        </p:spPr>
      </p:pic>
      <p:pic>
        <p:nvPicPr>
          <p:cNvPr id="7" name="Imagen 6">
            <a:extLst>
              <a:ext uri="{FF2B5EF4-FFF2-40B4-BE49-F238E27FC236}">
                <a16:creationId xmlns:a16="http://schemas.microsoft.com/office/drawing/2014/main" id="{07E9A73D-3E46-FA5E-05B0-91DB73703DD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1541" y="1295399"/>
            <a:ext cx="4995333" cy="2809875"/>
          </a:xfrm>
          <a:prstGeom prst="rect">
            <a:avLst/>
          </a:prstGeom>
        </p:spPr>
      </p:pic>
      <p:sp>
        <p:nvSpPr>
          <p:cNvPr id="8" name="CuadroTexto 7">
            <a:extLst>
              <a:ext uri="{FF2B5EF4-FFF2-40B4-BE49-F238E27FC236}">
                <a16:creationId xmlns:a16="http://schemas.microsoft.com/office/drawing/2014/main" id="{E20F6348-B564-0265-E765-AC7B9173AEFA}"/>
              </a:ext>
            </a:extLst>
          </p:cNvPr>
          <p:cNvSpPr txBox="1"/>
          <p:nvPr/>
        </p:nvSpPr>
        <p:spPr>
          <a:xfrm>
            <a:off x="371475" y="4419601"/>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9" name="CuadroTexto 8">
            <a:extLst>
              <a:ext uri="{FF2B5EF4-FFF2-40B4-BE49-F238E27FC236}">
                <a16:creationId xmlns:a16="http://schemas.microsoft.com/office/drawing/2014/main" id="{1588FCBD-AC2D-E9B6-2951-0BE731F218FD}"/>
              </a:ext>
            </a:extLst>
          </p:cNvPr>
          <p:cNvSpPr txBox="1"/>
          <p:nvPr/>
        </p:nvSpPr>
        <p:spPr>
          <a:xfrm>
            <a:off x="6096000" y="4491996"/>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1817217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D264-C137-E820-663D-9D9D85C89E13}"/>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40C2716-60D0-B5A9-2A1C-57D828A4DF57}"/>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8</a:t>
            </a:r>
            <a:endParaRPr lang="es-MX" dirty="0">
              <a:effectLst/>
            </a:endParaRPr>
          </a:p>
        </p:txBody>
      </p:sp>
      <p:pic>
        <p:nvPicPr>
          <p:cNvPr id="3" name="Imagen 2">
            <a:extLst>
              <a:ext uri="{FF2B5EF4-FFF2-40B4-BE49-F238E27FC236}">
                <a16:creationId xmlns:a16="http://schemas.microsoft.com/office/drawing/2014/main" id="{7DB7C495-7310-75CA-F67E-DC41CED6209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1951" y="1247775"/>
            <a:ext cx="5723467" cy="3219450"/>
          </a:xfrm>
          <a:prstGeom prst="rect">
            <a:avLst/>
          </a:prstGeom>
        </p:spPr>
      </p:pic>
      <p:pic>
        <p:nvPicPr>
          <p:cNvPr id="6" name="Imagen 5">
            <a:extLst>
              <a:ext uri="{FF2B5EF4-FFF2-40B4-BE49-F238E27FC236}">
                <a16:creationId xmlns:a16="http://schemas.microsoft.com/office/drawing/2014/main" id="{E3B31700-7031-C2CB-5402-1B9B3C5B105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60583" y="3060351"/>
            <a:ext cx="5249333" cy="2952750"/>
          </a:xfrm>
          <a:prstGeom prst="rect">
            <a:avLst/>
          </a:prstGeom>
        </p:spPr>
      </p:pic>
      <p:pic>
        <p:nvPicPr>
          <p:cNvPr id="8" name="Imagen 7">
            <a:extLst>
              <a:ext uri="{FF2B5EF4-FFF2-40B4-BE49-F238E27FC236}">
                <a16:creationId xmlns:a16="http://schemas.microsoft.com/office/drawing/2014/main" id="{5D91FAB8-9C49-6E76-A7BD-CECEF5926F0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673850" y="409576"/>
            <a:ext cx="4622800" cy="2600325"/>
          </a:xfrm>
          <a:prstGeom prst="rect">
            <a:avLst/>
          </a:prstGeom>
        </p:spPr>
      </p:pic>
      <p:sp>
        <p:nvSpPr>
          <p:cNvPr id="9" name="CuadroTexto 8">
            <a:extLst>
              <a:ext uri="{FF2B5EF4-FFF2-40B4-BE49-F238E27FC236}">
                <a16:creationId xmlns:a16="http://schemas.microsoft.com/office/drawing/2014/main" id="{9625457C-9D7E-04F8-C504-263198449732}"/>
              </a:ext>
            </a:extLst>
          </p:cNvPr>
          <p:cNvSpPr txBox="1"/>
          <p:nvPr/>
        </p:nvSpPr>
        <p:spPr>
          <a:xfrm>
            <a:off x="1020232" y="4536726"/>
            <a:ext cx="4170893"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a:t>
            </a:r>
            <a:r>
              <a:rPr lang="es-MX" dirty="0" err="1"/>
              <a:t>regular:a</a:t>
            </a:r>
            <a:r>
              <a:rPr lang="es-MX" dirty="0"/>
              <a:t>*b*</a:t>
            </a:r>
          </a:p>
        </p:txBody>
      </p:sp>
      <p:sp>
        <p:nvSpPr>
          <p:cNvPr id="10" name="CuadroTexto 9">
            <a:extLst>
              <a:ext uri="{FF2B5EF4-FFF2-40B4-BE49-F238E27FC236}">
                <a16:creationId xmlns:a16="http://schemas.microsoft.com/office/drawing/2014/main" id="{61B17C08-F001-D3EB-C195-4CFB51A80C26}"/>
              </a:ext>
            </a:extLst>
          </p:cNvPr>
          <p:cNvSpPr txBox="1"/>
          <p:nvPr/>
        </p:nvSpPr>
        <p:spPr>
          <a:xfrm>
            <a:off x="7035665" y="6013101"/>
            <a:ext cx="4346710" cy="369332"/>
          </a:xfrm>
          <a:prstGeom prst="rect">
            <a:avLst/>
          </a:prstGeom>
          <a:noFill/>
        </p:spPr>
        <p:txBody>
          <a:bodyPr wrap="square">
            <a:spAutoFit/>
          </a:bodyPr>
          <a:lstStyle/>
          <a:p>
            <a:r>
              <a:rPr lang="es-MX" b="1" dirty="0"/>
              <a:t>Paso 2</a:t>
            </a:r>
            <a:r>
              <a:rPr lang="es-MX" dirty="0"/>
              <a:t>: Construcción inicial del autómata</a:t>
            </a:r>
          </a:p>
        </p:txBody>
      </p:sp>
    </p:spTree>
    <p:extLst>
      <p:ext uri="{BB962C8B-B14F-4D97-AF65-F5344CB8AC3E}">
        <p14:creationId xmlns:p14="http://schemas.microsoft.com/office/powerpoint/2010/main" val="3859124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8BC37E5-5437-7DA5-A6CC-BE557E7B05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890683" y="1504949"/>
            <a:ext cx="6011333" cy="3381375"/>
          </a:xfrm>
          <a:prstGeom prst="rect">
            <a:avLst/>
          </a:prstGeom>
        </p:spPr>
      </p:pic>
      <p:pic>
        <p:nvPicPr>
          <p:cNvPr id="7" name="Imagen 6">
            <a:extLst>
              <a:ext uri="{FF2B5EF4-FFF2-40B4-BE49-F238E27FC236}">
                <a16:creationId xmlns:a16="http://schemas.microsoft.com/office/drawing/2014/main" id="{7855BC67-7EE0-6C6D-938F-8F6534E44AC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52400" y="1628775"/>
            <a:ext cx="5520267" cy="3105150"/>
          </a:xfrm>
          <a:prstGeom prst="rect">
            <a:avLst/>
          </a:prstGeom>
        </p:spPr>
      </p:pic>
      <p:sp>
        <p:nvSpPr>
          <p:cNvPr id="8" name="CuadroTexto 7">
            <a:extLst>
              <a:ext uri="{FF2B5EF4-FFF2-40B4-BE49-F238E27FC236}">
                <a16:creationId xmlns:a16="http://schemas.microsoft.com/office/drawing/2014/main" id="{9849C87A-8C5F-B0C0-4317-4A5DB10A62BA}"/>
              </a:ext>
            </a:extLst>
          </p:cNvPr>
          <p:cNvSpPr txBox="1"/>
          <p:nvPr/>
        </p:nvSpPr>
        <p:spPr>
          <a:xfrm>
            <a:off x="152400" y="4983719"/>
            <a:ext cx="5210175"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9" name="CuadroTexto 8">
            <a:extLst>
              <a:ext uri="{FF2B5EF4-FFF2-40B4-BE49-F238E27FC236}">
                <a16:creationId xmlns:a16="http://schemas.microsoft.com/office/drawing/2014/main" id="{A2A713D8-E53E-AC10-517F-41A3B7C33884}"/>
              </a:ext>
            </a:extLst>
          </p:cNvPr>
          <p:cNvSpPr txBox="1"/>
          <p:nvPr/>
        </p:nvSpPr>
        <p:spPr>
          <a:xfrm>
            <a:off x="6169256" y="5044559"/>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4044029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D04A-80A5-F1B4-1137-4B366CC020A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22C6978C-25A5-627E-7ECD-70A0FDC63D34}"/>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9</a:t>
            </a:r>
            <a:endParaRPr lang="es-MX" dirty="0">
              <a:effectLst/>
            </a:endParaRPr>
          </a:p>
        </p:txBody>
      </p:sp>
      <p:pic>
        <p:nvPicPr>
          <p:cNvPr id="3" name="Imagen 2">
            <a:extLst>
              <a:ext uri="{FF2B5EF4-FFF2-40B4-BE49-F238E27FC236}">
                <a16:creationId xmlns:a16="http://schemas.microsoft.com/office/drawing/2014/main" id="{309F0A78-84E4-1CC6-5DE9-DB03E9FA9ED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401857" y="668118"/>
            <a:ext cx="4199467" cy="2362200"/>
          </a:xfrm>
          <a:prstGeom prst="rect">
            <a:avLst/>
          </a:prstGeom>
        </p:spPr>
      </p:pic>
      <p:pic>
        <p:nvPicPr>
          <p:cNvPr id="6" name="Imagen 5">
            <a:extLst>
              <a:ext uri="{FF2B5EF4-FFF2-40B4-BE49-F238E27FC236}">
                <a16:creationId xmlns:a16="http://schemas.microsoft.com/office/drawing/2014/main" id="{6E16B2A4-3711-966B-5FA3-C82DCE25D1A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53505" y="855108"/>
            <a:ext cx="4199467" cy="2362200"/>
          </a:xfrm>
          <a:prstGeom prst="rect">
            <a:avLst/>
          </a:prstGeom>
        </p:spPr>
      </p:pic>
      <p:pic>
        <p:nvPicPr>
          <p:cNvPr id="8" name="Imagen 7">
            <a:extLst>
              <a:ext uri="{FF2B5EF4-FFF2-40B4-BE49-F238E27FC236}">
                <a16:creationId xmlns:a16="http://schemas.microsoft.com/office/drawing/2014/main" id="{291C662D-0689-4405-D98A-94933AA1497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20857" y="3774874"/>
            <a:ext cx="4199466" cy="2362199"/>
          </a:xfrm>
          <a:prstGeom prst="rect">
            <a:avLst/>
          </a:prstGeom>
        </p:spPr>
      </p:pic>
      <p:pic>
        <p:nvPicPr>
          <p:cNvPr id="10" name="Imagen 9">
            <a:extLst>
              <a:ext uri="{FF2B5EF4-FFF2-40B4-BE49-F238E27FC236}">
                <a16:creationId xmlns:a16="http://schemas.microsoft.com/office/drawing/2014/main" id="{57D6DEB0-AE38-8B62-57CC-94BFC8FC858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53505" y="3932456"/>
            <a:ext cx="4199467" cy="2362200"/>
          </a:xfrm>
          <a:prstGeom prst="rect">
            <a:avLst/>
          </a:prstGeom>
        </p:spPr>
      </p:pic>
      <p:sp>
        <p:nvSpPr>
          <p:cNvPr id="11" name="CuadroTexto 10">
            <a:extLst>
              <a:ext uri="{FF2B5EF4-FFF2-40B4-BE49-F238E27FC236}">
                <a16:creationId xmlns:a16="http://schemas.microsoft.com/office/drawing/2014/main" id="{C5FCD5F7-1BAC-F72B-56AA-890B64ED6D92}"/>
              </a:ext>
            </a:extLst>
          </p:cNvPr>
          <p:cNvSpPr txBox="1"/>
          <p:nvPr/>
        </p:nvSpPr>
        <p:spPr>
          <a:xfrm>
            <a:off x="691223" y="3286125"/>
            <a:ext cx="4170893" cy="646331"/>
          </a:xfrm>
          <a:prstGeom prst="rect">
            <a:avLst/>
          </a:prstGeom>
          <a:noFill/>
        </p:spPr>
        <p:txBody>
          <a:bodyPr wrap="square">
            <a:spAutoFit/>
          </a:bodyPr>
          <a:lstStyle/>
          <a:p>
            <a:pPr>
              <a:buNone/>
            </a:pPr>
            <a:r>
              <a:rPr lang="es-MX" b="1" dirty="0"/>
              <a:t>Paso 1</a:t>
            </a:r>
            <a:r>
              <a:rPr lang="es-MX" dirty="0"/>
              <a:t>: Ingreso de la expresión regular</a:t>
            </a:r>
          </a:p>
          <a:p>
            <a:pPr>
              <a:buNone/>
            </a:pPr>
            <a:r>
              <a:rPr lang="es-MX" dirty="0"/>
              <a:t>Expresión regular:(</a:t>
            </a:r>
            <a:r>
              <a:rPr lang="es-MX" dirty="0" err="1"/>
              <a:t>a+b</a:t>
            </a:r>
            <a:r>
              <a:rPr lang="es-MX" dirty="0"/>
              <a:t>)b</a:t>
            </a:r>
          </a:p>
        </p:txBody>
      </p:sp>
      <p:sp>
        <p:nvSpPr>
          <p:cNvPr id="12" name="CuadroTexto 11">
            <a:extLst>
              <a:ext uri="{FF2B5EF4-FFF2-40B4-BE49-F238E27FC236}">
                <a16:creationId xmlns:a16="http://schemas.microsoft.com/office/drawing/2014/main" id="{80F39CCF-0BF9-570D-2040-6E4F97D0E5CB}"/>
              </a:ext>
            </a:extLst>
          </p:cNvPr>
          <p:cNvSpPr txBox="1"/>
          <p:nvPr/>
        </p:nvSpPr>
        <p:spPr>
          <a:xfrm>
            <a:off x="6620931" y="3030318"/>
            <a:ext cx="4346710" cy="369332"/>
          </a:xfrm>
          <a:prstGeom prst="rect">
            <a:avLst/>
          </a:prstGeom>
          <a:noFill/>
        </p:spPr>
        <p:txBody>
          <a:bodyPr wrap="square">
            <a:spAutoFit/>
          </a:bodyPr>
          <a:lstStyle/>
          <a:p>
            <a:r>
              <a:rPr lang="es-MX" b="1" dirty="0"/>
              <a:t>Paso 2</a:t>
            </a:r>
            <a:r>
              <a:rPr lang="es-MX" dirty="0"/>
              <a:t>: Construcción inicial del autómata</a:t>
            </a:r>
          </a:p>
        </p:txBody>
      </p:sp>
      <p:sp>
        <p:nvSpPr>
          <p:cNvPr id="13" name="CuadroTexto 12">
            <a:extLst>
              <a:ext uri="{FF2B5EF4-FFF2-40B4-BE49-F238E27FC236}">
                <a16:creationId xmlns:a16="http://schemas.microsoft.com/office/drawing/2014/main" id="{56FFAF40-10A6-EAA9-5DC9-A8D496641BAF}"/>
              </a:ext>
            </a:extLst>
          </p:cNvPr>
          <p:cNvSpPr txBox="1"/>
          <p:nvPr/>
        </p:nvSpPr>
        <p:spPr>
          <a:xfrm>
            <a:off x="454256" y="6448426"/>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14" name="CuadroTexto 13">
            <a:extLst>
              <a:ext uri="{FF2B5EF4-FFF2-40B4-BE49-F238E27FC236}">
                <a16:creationId xmlns:a16="http://schemas.microsoft.com/office/drawing/2014/main" id="{EE6324EF-11AB-6517-84E2-A891FFB7B5D4}"/>
              </a:ext>
            </a:extLst>
          </p:cNvPr>
          <p:cNvSpPr txBox="1"/>
          <p:nvPr/>
        </p:nvSpPr>
        <p:spPr>
          <a:xfrm>
            <a:off x="6026381" y="6206496"/>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10979003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1995-1ABF-9941-4888-0F78485DB9E6}"/>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D7A8E75-30BC-AE7E-21ED-E58A4E96C893}"/>
              </a:ext>
            </a:extLst>
          </p:cNvPr>
          <p:cNvSpPr txBox="1"/>
          <p:nvPr/>
        </p:nvSpPr>
        <p:spPr>
          <a:xfrm>
            <a:off x="723900" y="485776"/>
            <a:ext cx="609600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10</a:t>
            </a:r>
            <a:endParaRPr lang="es-MX" dirty="0">
              <a:effectLst/>
            </a:endParaRPr>
          </a:p>
        </p:txBody>
      </p:sp>
      <p:pic>
        <p:nvPicPr>
          <p:cNvPr id="3" name="Imagen 2">
            <a:extLst>
              <a:ext uri="{FF2B5EF4-FFF2-40B4-BE49-F238E27FC236}">
                <a16:creationId xmlns:a16="http://schemas.microsoft.com/office/drawing/2014/main" id="{140E454E-D0E5-53B4-D0B9-CCDAA015FC1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870575" y="3062287"/>
            <a:ext cx="4816475" cy="2709267"/>
          </a:xfrm>
          <a:prstGeom prst="rect">
            <a:avLst/>
          </a:prstGeom>
        </p:spPr>
      </p:pic>
      <p:pic>
        <p:nvPicPr>
          <p:cNvPr id="6" name="Imagen 5">
            <a:extLst>
              <a:ext uri="{FF2B5EF4-FFF2-40B4-BE49-F238E27FC236}">
                <a16:creationId xmlns:a16="http://schemas.microsoft.com/office/drawing/2014/main" id="{337F2784-726B-BE21-3191-53E5AD7302C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70575" y="238124"/>
            <a:ext cx="4816475" cy="2709267"/>
          </a:xfrm>
          <a:prstGeom prst="rect">
            <a:avLst/>
          </a:prstGeom>
        </p:spPr>
      </p:pic>
      <p:pic>
        <p:nvPicPr>
          <p:cNvPr id="8" name="Imagen 7">
            <a:extLst>
              <a:ext uri="{FF2B5EF4-FFF2-40B4-BE49-F238E27FC236}">
                <a16:creationId xmlns:a16="http://schemas.microsoft.com/office/drawing/2014/main" id="{52B926C0-20AC-5A6C-6E6E-6B31DE40FFC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7950" y="1571625"/>
            <a:ext cx="4673600" cy="2628900"/>
          </a:xfrm>
          <a:prstGeom prst="rect">
            <a:avLst/>
          </a:prstGeom>
        </p:spPr>
      </p:pic>
      <p:sp>
        <p:nvSpPr>
          <p:cNvPr id="9" name="CuadroTexto 8">
            <a:extLst>
              <a:ext uri="{FF2B5EF4-FFF2-40B4-BE49-F238E27FC236}">
                <a16:creationId xmlns:a16="http://schemas.microsoft.com/office/drawing/2014/main" id="{99C2BC0F-C6AB-D5DF-1C30-55071058C3BC}"/>
              </a:ext>
            </a:extLst>
          </p:cNvPr>
          <p:cNvSpPr txBox="1"/>
          <p:nvPr/>
        </p:nvSpPr>
        <p:spPr>
          <a:xfrm>
            <a:off x="264054" y="4522411"/>
            <a:ext cx="4170893" cy="646331"/>
          </a:xfrm>
          <a:prstGeom prst="rect">
            <a:avLst/>
          </a:prstGeom>
          <a:noFill/>
        </p:spPr>
        <p:txBody>
          <a:bodyPr wrap="square">
            <a:spAutoFit/>
          </a:bodyPr>
          <a:lstStyle/>
          <a:p>
            <a:pPr>
              <a:buNone/>
            </a:pPr>
            <a:r>
              <a:rPr lang="es-MX" b="1" dirty="0"/>
              <a:t>Paso 1</a:t>
            </a:r>
            <a:r>
              <a:rPr lang="es-MX" dirty="0"/>
              <a:t>: Ingreso de la expresión regular</a:t>
            </a:r>
          </a:p>
          <a:p>
            <a:r>
              <a:rPr lang="es-MX" dirty="0"/>
              <a:t>Expresión regular:</a:t>
            </a:r>
            <a:r>
              <a:rPr lang="pt-BR" dirty="0"/>
              <a:t>(</a:t>
            </a:r>
            <a:r>
              <a:rPr lang="pt-BR" dirty="0" err="1"/>
              <a:t>a+b</a:t>
            </a:r>
            <a:r>
              <a:rPr lang="pt-BR" dirty="0"/>
              <a:t>)(</a:t>
            </a:r>
            <a:r>
              <a:rPr lang="pt-BR" dirty="0" err="1"/>
              <a:t>a+b</a:t>
            </a:r>
            <a:r>
              <a:rPr lang="pt-BR" dirty="0"/>
              <a:t>)(</a:t>
            </a:r>
            <a:r>
              <a:rPr lang="pt-BR" dirty="0" err="1"/>
              <a:t>a+b</a:t>
            </a:r>
            <a:r>
              <a:rPr lang="pt-BR" dirty="0"/>
              <a:t>)(</a:t>
            </a:r>
            <a:r>
              <a:rPr lang="pt-BR" dirty="0" err="1"/>
              <a:t>a+b</a:t>
            </a:r>
            <a:r>
              <a:rPr lang="pt-BR" dirty="0"/>
              <a:t>)</a:t>
            </a:r>
          </a:p>
        </p:txBody>
      </p:sp>
      <p:sp>
        <p:nvSpPr>
          <p:cNvPr id="10" name="CuadroTexto 9">
            <a:extLst>
              <a:ext uri="{FF2B5EF4-FFF2-40B4-BE49-F238E27FC236}">
                <a16:creationId xmlns:a16="http://schemas.microsoft.com/office/drawing/2014/main" id="{70FD8A9E-48EA-7104-7F65-BD1DFC5D14FE}"/>
              </a:ext>
            </a:extLst>
          </p:cNvPr>
          <p:cNvSpPr txBox="1"/>
          <p:nvPr/>
        </p:nvSpPr>
        <p:spPr>
          <a:xfrm>
            <a:off x="6117562" y="5771554"/>
            <a:ext cx="4346710" cy="369332"/>
          </a:xfrm>
          <a:prstGeom prst="rect">
            <a:avLst/>
          </a:prstGeom>
          <a:noFill/>
        </p:spPr>
        <p:txBody>
          <a:bodyPr wrap="square">
            <a:spAutoFit/>
          </a:bodyPr>
          <a:lstStyle/>
          <a:p>
            <a:r>
              <a:rPr lang="es-MX" b="1" dirty="0"/>
              <a:t>Paso 2</a:t>
            </a:r>
            <a:r>
              <a:rPr lang="es-MX" dirty="0"/>
              <a:t>: Construcción inicial del autómata</a:t>
            </a:r>
          </a:p>
        </p:txBody>
      </p:sp>
    </p:spTree>
    <p:extLst>
      <p:ext uri="{BB962C8B-B14F-4D97-AF65-F5344CB8AC3E}">
        <p14:creationId xmlns:p14="http://schemas.microsoft.com/office/powerpoint/2010/main" val="18195982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14C817A-0683-65D3-B280-EADE0304E20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5314" y="180975"/>
            <a:ext cx="3911594" cy="2200272"/>
          </a:xfrm>
          <a:prstGeom prst="rect">
            <a:avLst/>
          </a:prstGeom>
        </p:spPr>
      </p:pic>
      <p:pic>
        <p:nvPicPr>
          <p:cNvPr id="7" name="Imagen 6">
            <a:extLst>
              <a:ext uri="{FF2B5EF4-FFF2-40B4-BE49-F238E27FC236}">
                <a16:creationId xmlns:a16="http://schemas.microsoft.com/office/drawing/2014/main" id="{C316AAAB-2915-8AAE-FCAF-AACADFC3B1A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12416" y="2752725"/>
            <a:ext cx="4284133" cy="2409825"/>
          </a:xfrm>
          <a:prstGeom prst="rect">
            <a:avLst/>
          </a:prstGeom>
        </p:spPr>
      </p:pic>
      <p:pic>
        <p:nvPicPr>
          <p:cNvPr id="9" name="Imagen 8">
            <a:extLst>
              <a:ext uri="{FF2B5EF4-FFF2-40B4-BE49-F238E27FC236}">
                <a16:creationId xmlns:a16="http://schemas.microsoft.com/office/drawing/2014/main" id="{A2B33355-0A44-6839-6EC6-5032FEEC6EB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81076" y="4657728"/>
            <a:ext cx="3911596" cy="2200272"/>
          </a:xfrm>
          <a:prstGeom prst="rect">
            <a:avLst/>
          </a:prstGeom>
        </p:spPr>
      </p:pic>
      <p:pic>
        <p:nvPicPr>
          <p:cNvPr id="11" name="Imagen 10">
            <a:extLst>
              <a:ext uri="{FF2B5EF4-FFF2-40B4-BE49-F238E27FC236}">
                <a16:creationId xmlns:a16="http://schemas.microsoft.com/office/drawing/2014/main" id="{C2F3CA3A-DA09-6334-833B-39CFC966699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81076" y="2416948"/>
            <a:ext cx="3911592" cy="2200270"/>
          </a:xfrm>
          <a:prstGeom prst="rect">
            <a:avLst/>
          </a:prstGeom>
        </p:spPr>
      </p:pic>
      <p:sp>
        <p:nvSpPr>
          <p:cNvPr id="12" name="CuadroTexto 11">
            <a:extLst>
              <a:ext uri="{FF2B5EF4-FFF2-40B4-BE49-F238E27FC236}">
                <a16:creationId xmlns:a16="http://schemas.microsoft.com/office/drawing/2014/main" id="{121F2FC6-F34D-6C69-BE3E-B49B13DCD4A1}"/>
              </a:ext>
            </a:extLst>
          </p:cNvPr>
          <p:cNvSpPr txBox="1"/>
          <p:nvPr/>
        </p:nvSpPr>
        <p:spPr>
          <a:xfrm>
            <a:off x="4892668" y="909376"/>
            <a:ext cx="6096000" cy="369332"/>
          </a:xfrm>
          <a:prstGeom prst="rect">
            <a:avLst/>
          </a:prstGeom>
          <a:noFill/>
        </p:spPr>
        <p:txBody>
          <a:bodyPr wrap="square">
            <a:spAutoFit/>
          </a:bodyPr>
          <a:lstStyle/>
          <a:p>
            <a:r>
              <a:rPr lang="es-MX" b="1" dirty="0"/>
              <a:t>Paso 3: </a:t>
            </a:r>
            <a:r>
              <a:rPr lang="es-MX" dirty="0"/>
              <a:t>Desarrollo de las operaciones de la expresión</a:t>
            </a:r>
          </a:p>
        </p:txBody>
      </p:sp>
      <p:sp>
        <p:nvSpPr>
          <p:cNvPr id="13" name="CuadroTexto 12">
            <a:extLst>
              <a:ext uri="{FF2B5EF4-FFF2-40B4-BE49-F238E27FC236}">
                <a16:creationId xmlns:a16="http://schemas.microsoft.com/office/drawing/2014/main" id="{D885F85D-555A-C1DB-34A8-DF06DA1CF0C6}"/>
              </a:ext>
            </a:extLst>
          </p:cNvPr>
          <p:cNvSpPr txBox="1"/>
          <p:nvPr/>
        </p:nvSpPr>
        <p:spPr>
          <a:xfrm>
            <a:off x="6026381" y="5388532"/>
            <a:ext cx="6096000" cy="369332"/>
          </a:xfrm>
          <a:prstGeom prst="rect">
            <a:avLst/>
          </a:prstGeom>
          <a:noFill/>
        </p:spPr>
        <p:txBody>
          <a:bodyPr wrap="square">
            <a:spAutoFit/>
          </a:bodyPr>
          <a:lstStyle/>
          <a:p>
            <a:r>
              <a:rPr lang="es-MX" b="1" dirty="0"/>
              <a:t>Paso 4: </a:t>
            </a:r>
            <a:r>
              <a:rPr lang="es-MX" dirty="0"/>
              <a:t>Construcción completa del autómata y resultado</a:t>
            </a:r>
          </a:p>
        </p:txBody>
      </p:sp>
    </p:spTree>
    <p:extLst>
      <p:ext uri="{BB962C8B-B14F-4D97-AF65-F5344CB8AC3E}">
        <p14:creationId xmlns:p14="http://schemas.microsoft.com/office/powerpoint/2010/main" val="37091203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6B1B82-93B2-2C76-585D-58C60F21611E}"/>
              </a:ext>
            </a:extLst>
          </p:cNvPr>
          <p:cNvSpPr>
            <a:spLocks noGrp="1"/>
          </p:cNvSpPr>
          <p:nvPr>
            <p:ph type="title"/>
          </p:nvPr>
        </p:nvSpPr>
        <p:spPr>
          <a:xfrm>
            <a:off x="685800" y="120970"/>
            <a:ext cx="10515600" cy="892432"/>
          </a:xfrm>
        </p:spPr>
        <p:txBody>
          <a:bodyPr/>
          <a:lstStyle/>
          <a:p>
            <a:r>
              <a:rPr lang="es-MX" b="1" dirty="0">
                <a:solidFill>
                  <a:schemeClr val="accent1"/>
                </a:solidFill>
              </a:rPr>
              <a:t>Minimización de estados en un AF</a:t>
            </a:r>
          </a:p>
        </p:txBody>
      </p:sp>
      <p:sp>
        <p:nvSpPr>
          <p:cNvPr id="4" name="CuadroTexto 3">
            <a:extLst>
              <a:ext uri="{FF2B5EF4-FFF2-40B4-BE49-F238E27FC236}">
                <a16:creationId xmlns:a16="http://schemas.microsoft.com/office/drawing/2014/main" id="{2BEAB614-F851-B622-42F0-078E73A268EA}"/>
              </a:ext>
            </a:extLst>
          </p:cNvPr>
          <p:cNvSpPr txBox="1"/>
          <p:nvPr/>
        </p:nvSpPr>
        <p:spPr>
          <a:xfrm>
            <a:off x="800100" y="1443841"/>
            <a:ext cx="10279380" cy="4154984"/>
          </a:xfrm>
          <a:prstGeom prst="rect">
            <a:avLst/>
          </a:prstGeom>
          <a:noFill/>
        </p:spPr>
        <p:txBody>
          <a:bodyPr wrap="square">
            <a:spAutoFit/>
          </a:bodyPr>
          <a:lstStyle/>
          <a:p>
            <a:pPr algn="just"/>
            <a:r>
              <a:rPr lang="es-MX" sz="2400" dirty="0">
                <a:effectLst/>
                <a:latin typeface="Arial" panose="020B0604020202020204" pitchFamily="34" charset="0"/>
                <a:ea typeface="Calibri" panose="020F0502020204030204" pitchFamily="34" charset="0"/>
                <a:cs typeface="Times New Roman" panose="02020603050405020304" pitchFamily="18" charset="0"/>
              </a:rPr>
              <a:t>La minimización del autómata se realizó siguiendo una serie de pasos. Primero se construyó el autómata original, definiendo sus estados, el estado inicial, los estados de aceptación y las transiciones correspondientes. Después, se utilizó la opción </a:t>
            </a:r>
            <a:r>
              <a:rPr lang="es-MX" sz="2400" dirty="0" err="1">
                <a:effectLst/>
                <a:latin typeface="Arial" panose="020B0604020202020204" pitchFamily="34" charset="0"/>
                <a:ea typeface="Calibri" panose="020F0502020204030204" pitchFamily="34" charset="0"/>
                <a:cs typeface="Times New Roman" panose="02020603050405020304" pitchFamily="18" charset="0"/>
              </a:rPr>
              <a:t>Convert</a:t>
            </a:r>
            <a:r>
              <a:rPr lang="es-MX" sz="2400" dirty="0">
                <a:effectLst/>
                <a:latin typeface="Arial" panose="020B0604020202020204" pitchFamily="34" charset="0"/>
                <a:ea typeface="Calibri" panose="020F0502020204030204" pitchFamily="34" charset="0"/>
                <a:cs typeface="Times New Roman" panose="02020603050405020304" pitchFamily="18" charset="0"/>
              </a:rPr>
              <a:t> / </a:t>
            </a:r>
            <a:r>
              <a:rPr lang="es-MX" sz="2400" dirty="0" err="1">
                <a:effectLst/>
                <a:latin typeface="Arial" panose="020B0604020202020204" pitchFamily="34" charset="0"/>
                <a:ea typeface="Calibri" panose="020F0502020204030204" pitchFamily="34" charset="0"/>
                <a:cs typeface="Times New Roman" panose="02020603050405020304" pitchFamily="18" charset="0"/>
              </a:rPr>
              <a:t>Minimize</a:t>
            </a:r>
            <a:r>
              <a:rPr lang="es-MX" sz="2400" dirty="0">
                <a:effectLst/>
                <a:latin typeface="Arial" panose="020B0604020202020204" pitchFamily="34" charset="0"/>
                <a:ea typeface="Calibri" panose="020F0502020204030204" pitchFamily="34" charset="0"/>
                <a:cs typeface="Times New Roman" panose="02020603050405020304" pitchFamily="18" charset="0"/>
              </a:rPr>
              <a:t> DFA para iniciar el proceso de minimización. Posteriormente, se seleccionó el autómata generado y se utilizó la opción Complete </a:t>
            </a:r>
            <a:r>
              <a:rPr lang="es-MX" sz="2400" dirty="0" err="1">
                <a:effectLst/>
                <a:latin typeface="Arial" panose="020B0604020202020204" pitchFamily="34" charset="0"/>
                <a:ea typeface="Calibri" panose="020F0502020204030204" pitchFamily="34" charset="0"/>
                <a:cs typeface="Times New Roman" panose="02020603050405020304" pitchFamily="18" charset="0"/>
              </a:rPr>
              <a:t>Subtree</a:t>
            </a:r>
            <a:r>
              <a:rPr lang="es-MX" sz="2400" dirty="0">
                <a:effectLst/>
                <a:latin typeface="Arial" panose="020B0604020202020204" pitchFamily="34" charset="0"/>
                <a:ea typeface="Calibri" panose="020F0502020204030204" pitchFamily="34" charset="0"/>
                <a:cs typeface="Times New Roman" panose="02020603050405020304" pitchFamily="18" charset="0"/>
              </a:rPr>
              <a:t>, donde el sistema realiza el proceso de minimización y genera la agrupación de estados equivalentes. Luego se seleccionó </a:t>
            </a:r>
            <a:r>
              <a:rPr lang="es-MX" sz="2400" dirty="0" err="1">
                <a:effectLst/>
                <a:latin typeface="Arial" panose="020B0604020202020204" pitchFamily="34" charset="0"/>
                <a:ea typeface="Calibri" panose="020F0502020204030204" pitchFamily="34" charset="0"/>
                <a:cs typeface="Times New Roman" panose="02020603050405020304" pitchFamily="18" charset="0"/>
              </a:rPr>
              <a:t>Finish</a:t>
            </a:r>
            <a:r>
              <a:rPr lang="es-MX" sz="2400" dirty="0">
                <a:effectLst/>
                <a:latin typeface="Arial" panose="020B0604020202020204" pitchFamily="34" charset="0"/>
                <a:ea typeface="Calibri" panose="020F0502020204030204" pitchFamily="34" charset="0"/>
                <a:cs typeface="Times New Roman" panose="02020603050405020304" pitchFamily="18" charset="0"/>
              </a:rPr>
              <a:t> para finalizar el procedimiento, mostrando los estados del autómata minimizado. Finalmente, se utilizó Complete para visualizar el resultado final del autómata con el menor número posible de estados.</a:t>
            </a:r>
            <a:endParaRPr lang="es-MX" sz="2400" dirty="0"/>
          </a:p>
        </p:txBody>
      </p:sp>
    </p:spTree>
    <p:extLst>
      <p:ext uri="{BB962C8B-B14F-4D97-AF65-F5344CB8AC3E}">
        <p14:creationId xmlns:p14="http://schemas.microsoft.com/office/powerpoint/2010/main" val="25994433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81051-E32B-FADB-79D5-CE6837E9FC8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73F53D5-CBD4-A1A9-57E9-4EA76CC730A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63412" y="1363177"/>
            <a:ext cx="3368322" cy="1894681"/>
          </a:xfrm>
          <a:prstGeom prst="rect">
            <a:avLst/>
          </a:prstGeom>
        </p:spPr>
      </p:pic>
      <p:pic>
        <p:nvPicPr>
          <p:cNvPr id="7" name="Imagen 6">
            <a:extLst>
              <a:ext uri="{FF2B5EF4-FFF2-40B4-BE49-F238E27FC236}">
                <a16:creationId xmlns:a16="http://schemas.microsoft.com/office/drawing/2014/main" id="{52AB6E9E-D2BC-0EDE-B985-BCB231A0F21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65461" y="1350530"/>
            <a:ext cx="3366401" cy="1893600"/>
          </a:xfrm>
          <a:prstGeom prst="rect">
            <a:avLst/>
          </a:prstGeom>
        </p:spPr>
      </p:pic>
      <p:pic>
        <p:nvPicPr>
          <p:cNvPr id="10" name="Imagen 9">
            <a:extLst>
              <a:ext uri="{FF2B5EF4-FFF2-40B4-BE49-F238E27FC236}">
                <a16:creationId xmlns:a16="http://schemas.microsoft.com/office/drawing/2014/main" id="{FC0294EE-D7A5-920A-0EAA-F377DF428B0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98021" y="1364258"/>
            <a:ext cx="3366401" cy="1893600"/>
          </a:xfrm>
          <a:prstGeom prst="rect">
            <a:avLst/>
          </a:prstGeom>
        </p:spPr>
      </p:pic>
      <p:pic>
        <p:nvPicPr>
          <p:cNvPr id="12" name="Imagen 11">
            <a:extLst>
              <a:ext uri="{FF2B5EF4-FFF2-40B4-BE49-F238E27FC236}">
                <a16:creationId xmlns:a16="http://schemas.microsoft.com/office/drawing/2014/main" id="{04D0BB55-AB8C-ED87-89FF-B1AF8D2DD2C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63412" y="4046070"/>
            <a:ext cx="3366400" cy="1893600"/>
          </a:xfrm>
          <a:prstGeom prst="rect">
            <a:avLst/>
          </a:prstGeom>
        </p:spPr>
      </p:pic>
      <p:pic>
        <p:nvPicPr>
          <p:cNvPr id="14" name="Imagen 13">
            <a:extLst>
              <a:ext uri="{FF2B5EF4-FFF2-40B4-BE49-F238E27FC236}">
                <a16:creationId xmlns:a16="http://schemas.microsoft.com/office/drawing/2014/main" id="{07D6822D-ADF7-4E0E-9D47-780E6F696E34}"/>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465460" y="4050109"/>
            <a:ext cx="3366401" cy="1893600"/>
          </a:xfrm>
          <a:prstGeom prst="rect">
            <a:avLst/>
          </a:prstGeom>
        </p:spPr>
      </p:pic>
      <p:pic>
        <p:nvPicPr>
          <p:cNvPr id="16" name="Imagen 15">
            <a:extLst>
              <a:ext uri="{FF2B5EF4-FFF2-40B4-BE49-F238E27FC236}">
                <a16:creationId xmlns:a16="http://schemas.microsoft.com/office/drawing/2014/main" id="{7C255262-2879-9D19-C837-7D8456B58F48}"/>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196084" y="4050109"/>
            <a:ext cx="3366401" cy="1893600"/>
          </a:xfrm>
          <a:prstGeom prst="rect">
            <a:avLst/>
          </a:prstGeom>
        </p:spPr>
      </p:pic>
      <p:sp>
        <p:nvSpPr>
          <p:cNvPr id="18" name="CuadroTexto 17">
            <a:extLst>
              <a:ext uri="{FF2B5EF4-FFF2-40B4-BE49-F238E27FC236}">
                <a16:creationId xmlns:a16="http://schemas.microsoft.com/office/drawing/2014/main" id="{709DC3E2-C575-2B95-6718-AF6C7E754A58}"/>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5F8E4FDE-0F8C-6171-8BD6-1B6DE4E97858}"/>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F0F05B1E-3370-00B2-80CE-99A9FF260847}"/>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1D85C3AB-BB24-FB2A-8973-0ECA0F9F3600}"/>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652B1DA6-A21F-1302-31F1-C1CC66E54E5C}"/>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E7C42D05-48C7-5D86-DE08-421684A11C32}"/>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323DD87F-298F-D657-47C9-2E186EDB12F0}"/>
              </a:ext>
            </a:extLst>
          </p:cNvPr>
          <p:cNvSpPr txBox="1"/>
          <p:nvPr/>
        </p:nvSpPr>
        <p:spPr>
          <a:xfrm>
            <a:off x="685800" y="939364"/>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1</a:t>
            </a:r>
            <a:endParaRPr lang="es-MX" dirty="0">
              <a:effectLst/>
            </a:endParaRPr>
          </a:p>
        </p:txBody>
      </p:sp>
    </p:spTree>
    <p:extLst>
      <p:ext uri="{BB962C8B-B14F-4D97-AF65-F5344CB8AC3E}">
        <p14:creationId xmlns:p14="http://schemas.microsoft.com/office/powerpoint/2010/main" val="31408070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D5ADB-79D8-938D-07E9-3A21E75E7660}"/>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4549FAC8-F1B6-80EB-0091-8F255E2653B2}"/>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2DF4C048-25D7-B2FB-FB52-A0365D2ED6DB}"/>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8B2C442C-A15B-D320-1F9A-D0B9B351F5BB}"/>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62B5D3AB-C324-E089-8A40-03298360FD37}"/>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CDD67E4F-E78F-6B35-195A-AB77BFAB3732}"/>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F580526E-F4DB-5BDF-796B-4BB36F7DC454}"/>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A5466CE8-DEAC-6ED2-2253-DADCD17E1A69}"/>
              </a:ext>
            </a:extLst>
          </p:cNvPr>
          <p:cNvSpPr txBox="1"/>
          <p:nvPr/>
        </p:nvSpPr>
        <p:spPr>
          <a:xfrm>
            <a:off x="763412" y="548998"/>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a:t>
            </a:r>
            <a:r>
              <a:rPr lang="es-MX" b="1" dirty="0">
                <a:solidFill>
                  <a:srgbClr val="000000"/>
                </a:solidFill>
                <a:latin typeface="Calibri" panose="020F0502020204030204" pitchFamily="34" charset="0"/>
              </a:rPr>
              <a:t>2</a:t>
            </a:r>
            <a:endParaRPr lang="es-MX" dirty="0">
              <a:effectLst/>
            </a:endParaRPr>
          </a:p>
        </p:txBody>
      </p:sp>
      <p:pic>
        <p:nvPicPr>
          <p:cNvPr id="4" name="Imagen 3">
            <a:extLst>
              <a:ext uri="{FF2B5EF4-FFF2-40B4-BE49-F238E27FC236}">
                <a16:creationId xmlns:a16="http://schemas.microsoft.com/office/drawing/2014/main" id="{527CEDB7-107F-783F-88C1-A9D0C74C6E8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1225" y="1443702"/>
            <a:ext cx="3366400" cy="1893600"/>
          </a:xfrm>
          <a:prstGeom prst="rect">
            <a:avLst/>
          </a:prstGeom>
        </p:spPr>
      </p:pic>
      <p:pic>
        <p:nvPicPr>
          <p:cNvPr id="8" name="Imagen 7">
            <a:extLst>
              <a:ext uri="{FF2B5EF4-FFF2-40B4-BE49-F238E27FC236}">
                <a16:creationId xmlns:a16="http://schemas.microsoft.com/office/drawing/2014/main" id="{73D2FFB7-20B6-2C12-3667-CD6F584696A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263332" y="1464252"/>
            <a:ext cx="3366400" cy="1893600"/>
          </a:xfrm>
          <a:prstGeom prst="rect">
            <a:avLst/>
          </a:prstGeom>
        </p:spPr>
      </p:pic>
      <p:pic>
        <p:nvPicPr>
          <p:cNvPr id="11" name="Imagen 10">
            <a:extLst>
              <a:ext uri="{FF2B5EF4-FFF2-40B4-BE49-F238E27FC236}">
                <a16:creationId xmlns:a16="http://schemas.microsoft.com/office/drawing/2014/main" id="{2C278904-1732-0A1E-0FE4-415CE28F231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480511" y="1443702"/>
            <a:ext cx="3366400" cy="1893600"/>
          </a:xfrm>
          <a:prstGeom prst="rect">
            <a:avLst/>
          </a:prstGeom>
        </p:spPr>
      </p:pic>
      <p:pic>
        <p:nvPicPr>
          <p:cNvPr id="15" name="Imagen 14">
            <a:extLst>
              <a:ext uri="{FF2B5EF4-FFF2-40B4-BE49-F238E27FC236}">
                <a16:creationId xmlns:a16="http://schemas.microsoft.com/office/drawing/2014/main" id="{68BC3CB9-5CD5-CC48-384A-56CBCC1B000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78362" y="4088477"/>
            <a:ext cx="3366400" cy="1893600"/>
          </a:xfrm>
          <a:prstGeom prst="rect">
            <a:avLst/>
          </a:prstGeom>
        </p:spPr>
      </p:pic>
      <p:pic>
        <p:nvPicPr>
          <p:cNvPr id="19" name="Imagen 18">
            <a:extLst>
              <a:ext uri="{FF2B5EF4-FFF2-40B4-BE49-F238E27FC236}">
                <a16:creationId xmlns:a16="http://schemas.microsoft.com/office/drawing/2014/main" id="{E496FD42-E13E-33AD-8E6F-E038BF4E8B54}"/>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263332" y="4178034"/>
            <a:ext cx="3366400" cy="1893600"/>
          </a:xfrm>
          <a:prstGeom prst="rect">
            <a:avLst/>
          </a:prstGeom>
        </p:spPr>
      </p:pic>
      <p:pic>
        <p:nvPicPr>
          <p:cNvPr id="23" name="Imagen 22">
            <a:extLst>
              <a:ext uri="{FF2B5EF4-FFF2-40B4-BE49-F238E27FC236}">
                <a16:creationId xmlns:a16="http://schemas.microsoft.com/office/drawing/2014/main" id="{517D4D1F-3088-E6CF-B7A5-2C8FA8F1A612}"/>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190446" y="4178034"/>
            <a:ext cx="3366400" cy="1893600"/>
          </a:xfrm>
          <a:prstGeom prst="rect">
            <a:avLst/>
          </a:prstGeom>
        </p:spPr>
      </p:pic>
    </p:spTree>
    <p:extLst>
      <p:ext uri="{BB962C8B-B14F-4D97-AF65-F5344CB8AC3E}">
        <p14:creationId xmlns:p14="http://schemas.microsoft.com/office/powerpoint/2010/main" val="1734896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2177-CE5F-9134-59C7-E64CFFF57070}"/>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42154C2C-6F9C-FC25-314D-4EE1F44E4476}"/>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8B459D13-262B-9E71-5CEE-F320519AA5FA}"/>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39B59519-24DD-1296-234F-7DD711445B55}"/>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50D6914A-2FB5-8462-1E33-3883CC838810}"/>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7A7B6A08-4A5D-A775-BA5F-DB985DD7CFCC}"/>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835E5D9A-B4AD-638C-ABC8-9930A8CE3BA1}"/>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D07682E0-6A34-5D41-6C71-C8FB6C2DD9B3}"/>
              </a:ext>
            </a:extLst>
          </p:cNvPr>
          <p:cNvSpPr txBox="1"/>
          <p:nvPr/>
        </p:nvSpPr>
        <p:spPr>
          <a:xfrm>
            <a:off x="763412" y="548998"/>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3</a:t>
            </a:r>
            <a:endParaRPr lang="es-MX" dirty="0">
              <a:effectLst/>
            </a:endParaRPr>
          </a:p>
        </p:txBody>
      </p:sp>
      <p:pic>
        <p:nvPicPr>
          <p:cNvPr id="3" name="Imagen 2">
            <a:extLst>
              <a:ext uri="{FF2B5EF4-FFF2-40B4-BE49-F238E27FC236}">
                <a16:creationId xmlns:a16="http://schemas.microsoft.com/office/drawing/2014/main" id="{3C8B3898-D66B-F74B-3722-8C08945427C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1950" y="1443702"/>
            <a:ext cx="3366400" cy="1893600"/>
          </a:xfrm>
          <a:prstGeom prst="rect">
            <a:avLst/>
          </a:prstGeom>
        </p:spPr>
      </p:pic>
      <p:pic>
        <p:nvPicPr>
          <p:cNvPr id="6" name="Imagen 5">
            <a:extLst>
              <a:ext uri="{FF2B5EF4-FFF2-40B4-BE49-F238E27FC236}">
                <a16:creationId xmlns:a16="http://schemas.microsoft.com/office/drawing/2014/main" id="{4D769C0F-4F38-A8DC-376F-3647EC49E46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317649" y="1464252"/>
            <a:ext cx="3366400" cy="1893600"/>
          </a:xfrm>
          <a:prstGeom prst="rect">
            <a:avLst/>
          </a:prstGeom>
        </p:spPr>
      </p:pic>
      <p:pic>
        <p:nvPicPr>
          <p:cNvPr id="9" name="Imagen 8">
            <a:extLst>
              <a:ext uri="{FF2B5EF4-FFF2-40B4-BE49-F238E27FC236}">
                <a16:creationId xmlns:a16="http://schemas.microsoft.com/office/drawing/2014/main" id="{271FFA21-4945-CC81-94F1-13F0FAC7FAC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93993" y="1443702"/>
            <a:ext cx="3366400" cy="1893600"/>
          </a:xfrm>
          <a:prstGeom prst="rect">
            <a:avLst/>
          </a:prstGeom>
        </p:spPr>
      </p:pic>
      <p:pic>
        <p:nvPicPr>
          <p:cNvPr id="12" name="Imagen 11">
            <a:extLst>
              <a:ext uri="{FF2B5EF4-FFF2-40B4-BE49-F238E27FC236}">
                <a16:creationId xmlns:a16="http://schemas.microsoft.com/office/drawing/2014/main" id="{C6E673F7-FCE9-081A-645F-3E693AEAE1F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31608" y="3983633"/>
            <a:ext cx="3366400" cy="1893600"/>
          </a:xfrm>
          <a:prstGeom prst="rect">
            <a:avLst/>
          </a:prstGeom>
        </p:spPr>
      </p:pic>
      <p:pic>
        <p:nvPicPr>
          <p:cNvPr id="14" name="Imagen 13">
            <a:extLst>
              <a:ext uri="{FF2B5EF4-FFF2-40B4-BE49-F238E27FC236}">
                <a16:creationId xmlns:a16="http://schemas.microsoft.com/office/drawing/2014/main" id="{42ED20E7-8D48-B423-CB5A-0DC54A98EE6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359885" y="4063354"/>
            <a:ext cx="3366400" cy="1893600"/>
          </a:xfrm>
          <a:prstGeom prst="rect">
            <a:avLst/>
          </a:prstGeom>
        </p:spPr>
      </p:pic>
      <p:pic>
        <p:nvPicPr>
          <p:cNvPr id="17" name="Imagen 16">
            <a:extLst>
              <a:ext uri="{FF2B5EF4-FFF2-40B4-BE49-F238E27FC236}">
                <a16:creationId xmlns:a16="http://schemas.microsoft.com/office/drawing/2014/main" id="{D331E308-E67B-4991-B216-80E6FADB2A5C}"/>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393992" y="4080833"/>
            <a:ext cx="3366400" cy="1893600"/>
          </a:xfrm>
          <a:prstGeom prst="rect">
            <a:avLst/>
          </a:prstGeom>
        </p:spPr>
      </p:pic>
    </p:spTree>
    <p:extLst>
      <p:ext uri="{BB962C8B-B14F-4D97-AF65-F5344CB8AC3E}">
        <p14:creationId xmlns:p14="http://schemas.microsoft.com/office/powerpoint/2010/main" val="42045445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B242-84D8-93E9-914B-682B2E49ABD9}"/>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E3729AE7-D280-7D95-6DB3-E04E3C6B0C63}"/>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FE06F0D7-DAD9-F17A-A657-FD31BE33F2E6}"/>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D0DF185C-99E1-2072-9A3D-CB86C2612CBE}"/>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33DD3D69-8F34-D944-8184-6916B0B9265E}"/>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A58D8705-2A89-F421-2773-5FB98760BF41}"/>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9DB5CF37-B323-EFA7-482F-FE7B2AAEB9FB}"/>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 name="CuadroTexto 2">
            <a:extLst>
              <a:ext uri="{FF2B5EF4-FFF2-40B4-BE49-F238E27FC236}">
                <a16:creationId xmlns:a16="http://schemas.microsoft.com/office/drawing/2014/main" id="{36EBC73C-31FE-4D30-DC7D-6D3F63995A67}"/>
              </a:ext>
            </a:extLst>
          </p:cNvPr>
          <p:cNvSpPr txBox="1"/>
          <p:nvPr/>
        </p:nvSpPr>
        <p:spPr>
          <a:xfrm>
            <a:off x="666750" y="531714"/>
            <a:ext cx="13906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4</a:t>
            </a:r>
            <a:endParaRPr lang="es-MX" dirty="0">
              <a:effectLst/>
            </a:endParaRPr>
          </a:p>
        </p:txBody>
      </p:sp>
      <p:pic>
        <p:nvPicPr>
          <p:cNvPr id="6" name="Imagen 5">
            <a:extLst>
              <a:ext uri="{FF2B5EF4-FFF2-40B4-BE49-F238E27FC236}">
                <a16:creationId xmlns:a16="http://schemas.microsoft.com/office/drawing/2014/main" id="{0A9E2B59-3BD3-B81F-E374-6EBCAB6D7B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65461" y="1371600"/>
            <a:ext cx="3366400" cy="1893600"/>
          </a:xfrm>
          <a:prstGeom prst="rect">
            <a:avLst/>
          </a:prstGeom>
        </p:spPr>
      </p:pic>
      <p:pic>
        <p:nvPicPr>
          <p:cNvPr id="9" name="Imagen 8">
            <a:extLst>
              <a:ext uri="{FF2B5EF4-FFF2-40B4-BE49-F238E27FC236}">
                <a16:creationId xmlns:a16="http://schemas.microsoft.com/office/drawing/2014/main" id="{852EDC41-F15E-F608-88DC-BD0C8D6604D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225" y="1371600"/>
            <a:ext cx="3366400" cy="1893600"/>
          </a:xfrm>
          <a:prstGeom prst="rect">
            <a:avLst/>
          </a:prstGeom>
        </p:spPr>
      </p:pic>
      <p:pic>
        <p:nvPicPr>
          <p:cNvPr id="12" name="Imagen 11">
            <a:extLst>
              <a:ext uri="{FF2B5EF4-FFF2-40B4-BE49-F238E27FC236}">
                <a16:creationId xmlns:a16="http://schemas.microsoft.com/office/drawing/2014/main" id="{EE9DBB89-3813-B2EF-6A28-2C6D09E5680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480511" y="1371600"/>
            <a:ext cx="3366400" cy="1893600"/>
          </a:xfrm>
          <a:prstGeom prst="rect">
            <a:avLst/>
          </a:prstGeom>
        </p:spPr>
      </p:pic>
      <p:pic>
        <p:nvPicPr>
          <p:cNvPr id="14" name="Imagen 13">
            <a:extLst>
              <a:ext uri="{FF2B5EF4-FFF2-40B4-BE49-F238E27FC236}">
                <a16:creationId xmlns:a16="http://schemas.microsoft.com/office/drawing/2014/main" id="{2A249283-FEC4-241E-3415-F7EB9059E5D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21225" y="4023568"/>
            <a:ext cx="3366400" cy="1893600"/>
          </a:xfrm>
          <a:prstGeom prst="rect">
            <a:avLst/>
          </a:prstGeom>
        </p:spPr>
      </p:pic>
      <p:pic>
        <p:nvPicPr>
          <p:cNvPr id="17" name="Imagen 16">
            <a:extLst>
              <a:ext uri="{FF2B5EF4-FFF2-40B4-BE49-F238E27FC236}">
                <a16:creationId xmlns:a16="http://schemas.microsoft.com/office/drawing/2014/main" id="{190BC096-ABAC-4194-A17A-C6E031A95F1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465461" y="4119198"/>
            <a:ext cx="3366400" cy="1893600"/>
          </a:xfrm>
          <a:prstGeom prst="rect">
            <a:avLst/>
          </a:prstGeom>
        </p:spPr>
      </p:pic>
      <p:pic>
        <p:nvPicPr>
          <p:cNvPr id="25" name="Imagen 24">
            <a:extLst>
              <a:ext uri="{FF2B5EF4-FFF2-40B4-BE49-F238E27FC236}">
                <a16:creationId xmlns:a16="http://schemas.microsoft.com/office/drawing/2014/main" id="{872F3E36-8DF6-01A2-C2B1-7283957F88C4}"/>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480511" y="4178034"/>
            <a:ext cx="3366400" cy="1893600"/>
          </a:xfrm>
          <a:prstGeom prst="rect">
            <a:avLst/>
          </a:prstGeom>
        </p:spPr>
      </p:pic>
    </p:spTree>
    <p:extLst>
      <p:ext uri="{BB962C8B-B14F-4D97-AF65-F5344CB8AC3E}">
        <p14:creationId xmlns:p14="http://schemas.microsoft.com/office/powerpoint/2010/main" val="1513510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9217E-3AC3-EF1D-B991-A1F200479682}"/>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3F8CD7CA-5D50-5A09-96D6-D84C8173BF57}"/>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670D3F5D-AEF9-BF3C-C6F1-9F1493943151}"/>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0BC38CA9-D4B1-E6CE-2FDB-2D07B3C97E3B}"/>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4A9C0452-1367-1A0D-EF1D-919D66D28EE1}"/>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9A11C08B-3D9F-84A7-4B10-1296959B9C32}"/>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8B2E3B90-CDFF-D289-36FE-858F7FFF2405}"/>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720DEF2D-6B6E-0C28-3711-CE9E5A72E2E7}"/>
              </a:ext>
            </a:extLst>
          </p:cNvPr>
          <p:cNvSpPr txBox="1"/>
          <p:nvPr/>
        </p:nvSpPr>
        <p:spPr>
          <a:xfrm>
            <a:off x="763412" y="548998"/>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5</a:t>
            </a:r>
            <a:endParaRPr lang="es-MX" dirty="0">
              <a:effectLst/>
            </a:endParaRPr>
          </a:p>
        </p:txBody>
      </p:sp>
      <p:pic>
        <p:nvPicPr>
          <p:cNvPr id="3" name="Imagen 2">
            <a:extLst>
              <a:ext uri="{FF2B5EF4-FFF2-40B4-BE49-F238E27FC236}">
                <a16:creationId xmlns:a16="http://schemas.microsoft.com/office/drawing/2014/main" id="{32AA9293-E3D4-709F-0C5E-5B25E7AFBC9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78362" y="1268185"/>
            <a:ext cx="3366400" cy="1893600"/>
          </a:xfrm>
          <a:prstGeom prst="rect">
            <a:avLst/>
          </a:prstGeom>
        </p:spPr>
      </p:pic>
      <p:pic>
        <p:nvPicPr>
          <p:cNvPr id="6" name="Imagen 5">
            <a:extLst>
              <a:ext uri="{FF2B5EF4-FFF2-40B4-BE49-F238E27FC236}">
                <a16:creationId xmlns:a16="http://schemas.microsoft.com/office/drawing/2014/main" id="{19C276AC-B083-7F65-86DC-8FAF03EEB1D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12800" y="1268185"/>
            <a:ext cx="3366400" cy="1893600"/>
          </a:xfrm>
          <a:prstGeom prst="rect">
            <a:avLst/>
          </a:prstGeom>
        </p:spPr>
      </p:pic>
      <p:pic>
        <p:nvPicPr>
          <p:cNvPr id="9" name="Imagen 8">
            <a:extLst>
              <a:ext uri="{FF2B5EF4-FFF2-40B4-BE49-F238E27FC236}">
                <a16:creationId xmlns:a16="http://schemas.microsoft.com/office/drawing/2014/main" id="{D46BFF00-3F77-624E-8127-5000FBE3CF6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93993" y="1268185"/>
            <a:ext cx="3366400" cy="1893600"/>
          </a:xfrm>
          <a:prstGeom prst="rect">
            <a:avLst/>
          </a:prstGeom>
        </p:spPr>
      </p:pic>
      <p:pic>
        <p:nvPicPr>
          <p:cNvPr id="12" name="Imagen 11">
            <a:extLst>
              <a:ext uri="{FF2B5EF4-FFF2-40B4-BE49-F238E27FC236}">
                <a16:creationId xmlns:a16="http://schemas.microsoft.com/office/drawing/2014/main" id="{DD3B6F9A-30E3-9657-7253-49598B5DA59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78362" y="4063354"/>
            <a:ext cx="3366400" cy="1893600"/>
          </a:xfrm>
          <a:prstGeom prst="rect">
            <a:avLst/>
          </a:prstGeom>
        </p:spPr>
      </p:pic>
      <p:pic>
        <p:nvPicPr>
          <p:cNvPr id="14" name="Imagen 13">
            <a:extLst>
              <a:ext uri="{FF2B5EF4-FFF2-40B4-BE49-F238E27FC236}">
                <a16:creationId xmlns:a16="http://schemas.microsoft.com/office/drawing/2014/main" id="{C4785A9B-1827-B612-903E-29CCEC709DC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412800" y="3983633"/>
            <a:ext cx="3366400" cy="1893600"/>
          </a:xfrm>
          <a:prstGeom prst="rect">
            <a:avLst/>
          </a:prstGeom>
        </p:spPr>
      </p:pic>
      <p:pic>
        <p:nvPicPr>
          <p:cNvPr id="17" name="Imagen 16">
            <a:extLst>
              <a:ext uri="{FF2B5EF4-FFF2-40B4-BE49-F238E27FC236}">
                <a16:creationId xmlns:a16="http://schemas.microsoft.com/office/drawing/2014/main" id="{A10DC846-A051-5B1D-F448-339935446F98}"/>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393993" y="4080833"/>
            <a:ext cx="3366400" cy="1893600"/>
          </a:xfrm>
          <a:prstGeom prst="rect">
            <a:avLst/>
          </a:prstGeom>
        </p:spPr>
      </p:pic>
    </p:spTree>
    <p:extLst>
      <p:ext uri="{BB962C8B-B14F-4D97-AF65-F5344CB8AC3E}">
        <p14:creationId xmlns:p14="http://schemas.microsoft.com/office/powerpoint/2010/main" val="996924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5147C-6772-AFFE-5656-1D6FEDF48921}"/>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307C3BFB-AF62-9A8B-82EA-55F2FA203EF0}"/>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762DD916-F2D9-D3F0-0EED-BDF7A5BACE27}"/>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59D8DB18-D577-D6D8-AD31-DE73D0A9140B}"/>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5D264711-3393-17D7-16F2-5F19F10E55A4}"/>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10149264-DE8D-7212-9CBB-AC800B83C9AD}"/>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8673967D-B2D8-0057-1735-83F07683C3EC}"/>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64F7262E-E23E-5593-FB0A-FC5FDD7E25A0}"/>
              </a:ext>
            </a:extLst>
          </p:cNvPr>
          <p:cNvSpPr txBox="1"/>
          <p:nvPr/>
        </p:nvSpPr>
        <p:spPr>
          <a:xfrm>
            <a:off x="763412" y="548998"/>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6</a:t>
            </a:r>
            <a:endParaRPr lang="es-MX" dirty="0">
              <a:effectLst/>
            </a:endParaRPr>
          </a:p>
        </p:txBody>
      </p:sp>
      <p:pic>
        <p:nvPicPr>
          <p:cNvPr id="3" name="Imagen 2">
            <a:extLst>
              <a:ext uri="{FF2B5EF4-FFF2-40B4-BE49-F238E27FC236}">
                <a16:creationId xmlns:a16="http://schemas.microsoft.com/office/drawing/2014/main" id="{F4AD2FC5-DEDB-96F7-358D-1B1E619BC11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78362" y="1268185"/>
            <a:ext cx="3366400" cy="1893600"/>
          </a:xfrm>
          <a:prstGeom prst="rect">
            <a:avLst/>
          </a:prstGeom>
        </p:spPr>
      </p:pic>
      <p:pic>
        <p:nvPicPr>
          <p:cNvPr id="6" name="Imagen 5">
            <a:extLst>
              <a:ext uri="{FF2B5EF4-FFF2-40B4-BE49-F238E27FC236}">
                <a16:creationId xmlns:a16="http://schemas.microsoft.com/office/drawing/2014/main" id="{0419536E-0BF8-FA7B-26D8-E47E223B57B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12800" y="1343025"/>
            <a:ext cx="3366400" cy="1893600"/>
          </a:xfrm>
          <a:prstGeom prst="rect">
            <a:avLst/>
          </a:prstGeom>
        </p:spPr>
      </p:pic>
      <p:pic>
        <p:nvPicPr>
          <p:cNvPr id="9" name="Imagen 8">
            <a:extLst>
              <a:ext uri="{FF2B5EF4-FFF2-40B4-BE49-F238E27FC236}">
                <a16:creationId xmlns:a16="http://schemas.microsoft.com/office/drawing/2014/main" id="{09E529C0-45B9-5E7A-460A-8A407F901CD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93993" y="1343025"/>
            <a:ext cx="3366400" cy="1893600"/>
          </a:xfrm>
          <a:prstGeom prst="rect">
            <a:avLst/>
          </a:prstGeom>
        </p:spPr>
      </p:pic>
      <p:pic>
        <p:nvPicPr>
          <p:cNvPr id="12" name="Imagen 11">
            <a:extLst>
              <a:ext uri="{FF2B5EF4-FFF2-40B4-BE49-F238E27FC236}">
                <a16:creationId xmlns:a16="http://schemas.microsoft.com/office/drawing/2014/main" id="{26B64A92-D8A3-F36C-4B96-3BEC304490B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78362" y="3983633"/>
            <a:ext cx="3366400" cy="1893600"/>
          </a:xfrm>
          <a:prstGeom prst="rect">
            <a:avLst/>
          </a:prstGeom>
        </p:spPr>
      </p:pic>
      <p:pic>
        <p:nvPicPr>
          <p:cNvPr id="14" name="Imagen 13">
            <a:extLst>
              <a:ext uri="{FF2B5EF4-FFF2-40B4-BE49-F238E27FC236}">
                <a16:creationId xmlns:a16="http://schemas.microsoft.com/office/drawing/2014/main" id="{22DF9EAE-20FB-38B2-E133-164174F7748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359885" y="4063354"/>
            <a:ext cx="3366400" cy="1893600"/>
          </a:xfrm>
          <a:prstGeom prst="rect">
            <a:avLst/>
          </a:prstGeom>
        </p:spPr>
      </p:pic>
      <p:pic>
        <p:nvPicPr>
          <p:cNvPr id="17" name="Imagen 16">
            <a:extLst>
              <a:ext uri="{FF2B5EF4-FFF2-40B4-BE49-F238E27FC236}">
                <a16:creationId xmlns:a16="http://schemas.microsoft.com/office/drawing/2014/main" id="{C46958F6-4A5A-E626-E938-CCE7DB04D56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393993" y="3983633"/>
            <a:ext cx="3366400" cy="1893600"/>
          </a:xfrm>
          <a:prstGeom prst="rect">
            <a:avLst/>
          </a:prstGeom>
        </p:spPr>
      </p:pic>
    </p:spTree>
    <p:extLst>
      <p:ext uri="{BB962C8B-B14F-4D97-AF65-F5344CB8AC3E}">
        <p14:creationId xmlns:p14="http://schemas.microsoft.com/office/powerpoint/2010/main" val="333889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7A226-487D-5205-E78A-388EA1C8D614}"/>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A2DEA241-BE1C-FAA9-2C04-741D0E86D17D}"/>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2825A61F-BB84-DAA0-33AF-13A0818469CA}"/>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FD23873D-5898-1E26-BE9E-5C659457A549}"/>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F15F7429-2240-FD79-E433-5D48369B36D3}"/>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32381550-7532-39EC-63EC-97BD011DE855}"/>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E3BA5218-31B7-58C0-C7FC-78DBFA8C9516}"/>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B7ED8B92-9832-4ABB-CF6F-5B4E93E32044}"/>
              </a:ext>
            </a:extLst>
          </p:cNvPr>
          <p:cNvSpPr txBox="1"/>
          <p:nvPr/>
        </p:nvSpPr>
        <p:spPr>
          <a:xfrm>
            <a:off x="763412" y="548998"/>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7</a:t>
            </a:r>
            <a:endParaRPr lang="es-MX" dirty="0">
              <a:effectLst/>
            </a:endParaRPr>
          </a:p>
        </p:txBody>
      </p:sp>
      <p:pic>
        <p:nvPicPr>
          <p:cNvPr id="6" name="Imagen 5">
            <a:extLst>
              <a:ext uri="{FF2B5EF4-FFF2-40B4-BE49-F238E27FC236}">
                <a16:creationId xmlns:a16="http://schemas.microsoft.com/office/drawing/2014/main" id="{F6AA929A-B088-8E04-D3FE-6A7802D1944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00050" y="1254105"/>
            <a:ext cx="3366400" cy="1893600"/>
          </a:xfrm>
          <a:prstGeom prst="rect">
            <a:avLst/>
          </a:prstGeom>
        </p:spPr>
      </p:pic>
      <p:pic>
        <p:nvPicPr>
          <p:cNvPr id="9" name="Imagen 8">
            <a:extLst>
              <a:ext uri="{FF2B5EF4-FFF2-40B4-BE49-F238E27FC236}">
                <a16:creationId xmlns:a16="http://schemas.microsoft.com/office/drawing/2014/main" id="{BA67BD54-FA18-142D-F4BD-97A56929F28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359885" y="1424652"/>
            <a:ext cx="3366400" cy="1893600"/>
          </a:xfrm>
          <a:prstGeom prst="rect">
            <a:avLst/>
          </a:prstGeom>
        </p:spPr>
      </p:pic>
      <p:pic>
        <p:nvPicPr>
          <p:cNvPr id="12" name="Imagen 11">
            <a:extLst>
              <a:ext uri="{FF2B5EF4-FFF2-40B4-BE49-F238E27FC236}">
                <a16:creationId xmlns:a16="http://schemas.microsoft.com/office/drawing/2014/main" id="{3BB3E4F6-6C38-F84B-3CC6-83178FB9B5B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93993" y="1321857"/>
            <a:ext cx="3366400" cy="1893600"/>
          </a:xfrm>
          <a:prstGeom prst="rect">
            <a:avLst/>
          </a:prstGeom>
        </p:spPr>
      </p:pic>
      <p:pic>
        <p:nvPicPr>
          <p:cNvPr id="14" name="Imagen 13">
            <a:extLst>
              <a:ext uri="{FF2B5EF4-FFF2-40B4-BE49-F238E27FC236}">
                <a16:creationId xmlns:a16="http://schemas.microsoft.com/office/drawing/2014/main" id="{FF5AB6FB-A80F-6780-E699-54B86EBC44D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29412" y="3964583"/>
            <a:ext cx="3366400" cy="1893600"/>
          </a:xfrm>
          <a:prstGeom prst="rect">
            <a:avLst/>
          </a:prstGeom>
        </p:spPr>
      </p:pic>
      <p:pic>
        <p:nvPicPr>
          <p:cNvPr id="17" name="Imagen 16">
            <a:extLst>
              <a:ext uri="{FF2B5EF4-FFF2-40B4-BE49-F238E27FC236}">
                <a16:creationId xmlns:a16="http://schemas.microsoft.com/office/drawing/2014/main" id="{96EDA593-01F6-3BDD-14C6-A1380161A93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359885" y="4158984"/>
            <a:ext cx="3366400" cy="1893600"/>
          </a:xfrm>
          <a:prstGeom prst="rect">
            <a:avLst/>
          </a:prstGeom>
        </p:spPr>
      </p:pic>
      <p:pic>
        <p:nvPicPr>
          <p:cNvPr id="25" name="Imagen 24">
            <a:extLst>
              <a:ext uri="{FF2B5EF4-FFF2-40B4-BE49-F238E27FC236}">
                <a16:creationId xmlns:a16="http://schemas.microsoft.com/office/drawing/2014/main" id="{2450FCF6-ED54-6C02-16C1-54C15576693A}"/>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393993" y="4044304"/>
            <a:ext cx="3366400" cy="1893600"/>
          </a:xfrm>
          <a:prstGeom prst="rect">
            <a:avLst/>
          </a:prstGeom>
        </p:spPr>
      </p:pic>
    </p:spTree>
    <p:extLst>
      <p:ext uri="{BB962C8B-B14F-4D97-AF65-F5344CB8AC3E}">
        <p14:creationId xmlns:p14="http://schemas.microsoft.com/office/powerpoint/2010/main" val="41242555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6F2EB-DEF1-8621-8A35-582BD4161153}"/>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A08C1702-C540-ED4A-AB18-7267E4FEA167}"/>
              </a:ext>
            </a:extLst>
          </p:cNvPr>
          <p:cNvSpPr txBox="1"/>
          <p:nvPr/>
        </p:nvSpPr>
        <p:spPr>
          <a:xfrm>
            <a:off x="734837" y="3339197"/>
            <a:ext cx="3209925" cy="369332"/>
          </a:xfrm>
          <a:prstGeom prst="rect">
            <a:avLst/>
          </a:prstGeom>
          <a:noFill/>
        </p:spPr>
        <p:txBody>
          <a:bodyPr wrap="square">
            <a:spAutoFit/>
          </a:bodyPr>
          <a:lstStyle/>
          <a:p>
            <a:r>
              <a:rPr lang="es-MX" b="1" dirty="0"/>
              <a:t>Paso 1. </a:t>
            </a:r>
            <a:r>
              <a:rPr lang="es-MX" dirty="0"/>
              <a:t>Creación del autómata</a:t>
            </a:r>
          </a:p>
        </p:txBody>
      </p:sp>
      <p:sp>
        <p:nvSpPr>
          <p:cNvPr id="20" name="CuadroTexto 19">
            <a:extLst>
              <a:ext uri="{FF2B5EF4-FFF2-40B4-BE49-F238E27FC236}">
                <a16:creationId xmlns:a16="http://schemas.microsoft.com/office/drawing/2014/main" id="{563D6F73-B840-36BF-8D0A-44F9F769942F}"/>
              </a:ext>
            </a:extLst>
          </p:cNvPr>
          <p:cNvSpPr txBox="1"/>
          <p:nvPr/>
        </p:nvSpPr>
        <p:spPr>
          <a:xfrm>
            <a:off x="4465461" y="3357852"/>
            <a:ext cx="3552825" cy="369332"/>
          </a:xfrm>
          <a:prstGeom prst="rect">
            <a:avLst/>
          </a:prstGeom>
          <a:noFill/>
        </p:spPr>
        <p:txBody>
          <a:bodyPr wrap="square">
            <a:spAutoFit/>
          </a:bodyPr>
          <a:lstStyle/>
          <a:p>
            <a:r>
              <a:rPr lang="es-MX" b="1" dirty="0"/>
              <a:t>Paso 2. </a:t>
            </a:r>
            <a:r>
              <a:rPr lang="es-MX" dirty="0"/>
              <a:t>Verificación del autómata</a:t>
            </a:r>
          </a:p>
        </p:txBody>
      </p:sp>
      <p:sp>
        <p:nvSpPr>
          <p:cNvPr id="22" name="CuadroTexto 21">
            <a:extLst>
              <a:ext uri="{FF2B5EF4-FFF2-40B4-BE49-F238E27FC236}">
                <a16:creationId xmlns:a16="http://schemas.microsoft.com/office/drawing/2014/main" id="{9F7CF35E-0536-06AB-F6B4-2540DE17DFD8}"/>
              </a:ext>
            </a:extLst>
          </p:cNvPr>
          <p:cNvSpPr txBox="1"/>
          <p:nvPr/>
        </p:nvSpPr>
        <p:spPr>
          <a:xfrm>
            <a:off x="8393993" y="3337302"/>
            <a:ext cx="3656542" cy="646331"/>
          </a:xfrm>
          <a:prstGeom prst="rect">
            <a:avLst/>
          </a:prstGeom>
          <a:noFill/>
        </p:spPr>
        <p:txBody>
          <a:bodyPr wrap="square">
            <a:spAutoFit/>
          </a:bodyPr>
          <a:lstStyle/>
          <a:p>
            <a:pPr>
              <a:buNone/>
            </a:pPr>
            <a:r>
              <a:rPr lang="es-MX" b="1" dirty="0"/>
              <a:t>Paso 3. </a:t>
            </a:r>
            <a:r>
              <a:rPr lang="es-MX" dirty="0"/>
              <a:t>Inicio de la </a:t>
            </a:r>
            <a:r>
              <a:rPr lang="es-MX" dirty="0" err="1"/>
              <a:t>minimizacióncon</a:t>
            </a:r>
            <a:r>
              <a:rPr lang="es-MX" dirty="0"/>
              <a:t> la opción </a:t>
            </a:r>
            <a:r>
              <a:rPr lang="es-MX" dirty="0" err="1"/>
              <a:t>Minimization</a:t>
            </a:r>
            <a:r>
              <a:rPr lang="es-MX" dirty="0"/>
              <a:t> en JFLAP.</a:t>
            </a:r>
          </a:p>
        </p:txBody>
      </p:sp>
      <p:sp>
        <p:nvSpPr>
          <p:cNvPr id="24" name="CuadroTexto 23">
            <a:extLst>
              <a:ext uri="{FF2B5EF4-FFF2-40B4-BE49-F238E27FC236}">
                <a16:creationId xmlns:a16="http://schemas.microsoft.com/office/drawing/2014/main" id="{5C9ACEBF-4421-DB95-5B71-3D869D0855A3}"/>
              </a:ext>
            </a:extLst>
          </p:cNvPr>
          <p:cNvSpPr txBox="1"/>
          <p:nvPr/>
        </p:nvSpPr>
        <p:spPr>
          <a:xfrm>
            <a:off x="521225" y="5956954"/>
            <a:ext cx="3374500" cy="369332"/>
          </a:xfrm>
          <a:prstGeom prst="rect">
            <a:avLst/>
          </a:prstGeom>
          <a:noFill/>
        </p:spPr>
        <p:txBody>
          <a:bodyPr wrap="square">
            <a:spAutoFit/>
          </a:bodyPr>
          <a:lstStyle/>
          <a:p>
            <a:r>
              <a:rPr lang="es-MX" b="1" dirty="0"/>
              <a:t>Paso 4. </a:t>
            </a:r>
            <a:r>
              <a:rPr lang="es-MX" dirty="0"/>
              <a:t>Análisis de las transiciones</a:t>
            </a:r>
          </a:p>
        </p:txBody>
      </p:sp>
      <p:sp>
        <p:nvSpPr>
          <p:cNvPr id="26" name="CuadroTexto 25">
            <a:extLst>
              <a:ext uri="{FF2B5EF4-FFF2-40B4-BE49-F238E27FC236}">
                <a16:creationId xmlns:a16="http://schemas.microsoft.com/office/drawing/2014/main" id="{20BAA802-7391-83F3-9F29-F54D867ACE1C}"/>
              </a:ext>
            </a:extLst>
          </p:cNvPr>
          <p:cNvSpPr txBox="1"/>
          <p:nvPr/>
        </p:nvSpPr>
        <p:spPr>
          <a:xfrm>
            <a:off x="8190446" y="6071634"/>
            <a:ext cx="3946530" cy="646331"/>
          </a:xfrm>
          <a:prstGeom prst="rect">
            <a:avLst/>
          </a:prstGeom>
          <a:noFill/>
        </p:spPr>
        <p:txBody>
          <a:bodyPr wrap="square">
            <a:spAutoFit/>
          </a:bodyPr>
          <a:lstStyle/>
          <a:p>
            <a:r>
              <a:rPr lang="es-MX" b="1" dirty="0"/>
              <a:t>Paso 6. </a:t>
            </a:r>
            <a:r>
              <a:rPr lang="es-MX" dirty="0"/>
              <a:t>Construcción del autómata minimizado</a:t>
            </a:r>
          </a:p>
        </p:txBody>
      </p:sp>
      <p:sp>
        <p:nvSpPr>
          <p:cNvPr id="28" name="CuadroTexto 27">
            <a:extLst>
              <a:ext uri="{FF2B5EF4-FFF2-40B4-BE49-F238E27FC236}">
                <a16:creationId xmlns:a16="http://schemas.microsoft.com/office/drawing/2014/main" id="{67660ED9-949E-088F-1827-37BD371FBEBE}"/>
              </a:ext>
            </a:extLst>
          </p:cNvPr>
          <p:cNvSpPr txBox="1"/>
          <p:nvPr/>
        </p:nvSpPr>
        <p:spPr>
          <a:xfrm>
            <a:off x="4524906" y="6071634"/>
            <a:ext cx="3036359" cy="369332"/>
          </a:xfrm>
          <a:prstGeom prst="rect">
            <a:avLst/>
          </a:prstGeom>
          <a:noFill/>
        </p:spPr>
        <p:txBody>
          <a:bodyPr wrap="square">
            <a:spAutoFit/>
          </a:bodyPr>
          <a:lstStyle/>
          <a:p>
            <a:r>
              <a:rPr lang="es-MX" b="1" dirty="0"/>
              <a:t>Paso 5. </a:t>
            </a:r>
            <a:r>
              <a:rPr lang="es-MX" dirty="0"/>
              <a:t>Agrupación de estados</a:t>
            </a:r>
          </a:p>
        </p:txBody>
      </p:sp>
      <p:sp>
        <p:nvSpPr>
          <p:cNvPr id="30" name="CuadroTexto 29">
            <a:extLst>
              <a:ext uri="{FF2B5EF4-FFF2-40B4-BE49-F238E27FC236}">
                <a16:creationId xmlns:a16="http://schemas.microsoft.com/office/drawing/2014/main" id="{761586BE-DCDE-EDB7-45C6-D56C1B49A60F}"/>
              </a:ext>
            </a:extLst>
          </p:cNvPr>
          <p:cNvSpPr txBox="1"/>
          <p:nvPr/>
        </p:nvSpPr>
        <p:spPr>
          <a:xfrm>
            <a:off x="763412" y="548998"/>
            <a:ext cx="1847850" cy="369332"/>
          </a:xfrm>
          <a:prstGeom prst="rect">
            <a:avLst/>
          </a:prstGeom>
          <a:noFill/>
        </p:spPr>
        <p:txBody>
          <a:bodyPr wrap="square">
            <a:spAutoFit/>
          </a:bodyPr>
          <a:lstStyle/>
          <a:p>
            <a:pPr marL="0" algn="l" rtl="0" eaLnBrk="1" latinLnBrk="0" hangingPunct="1">
              <a:buNone/>
            </a:pPr>
            <a:r>
              <a:rPr lang="es-MX" sz="1800" b="1" kern="1200" dirty="0">
                <a:solidFill>
                  <a:srgbClr val="000000"/>
                </a:solidFill>
                <a:effectLst/>
                <a:latin typeface="Calibri" panose="020F0502020204030204" pitchFamily="34" charset="0"/>
                <a:ea typeface="+mn-ea"/>
                <a:cs typeface="+mn-cs"/>
              </a:rPr>
              <a:t>Ejercicio 8</a:t>
            </a:r>
            <a:endParaRPr lang="es-MX" dirty="0">
              <a:effectLst/>
            </a:endParaRPr>
          </a:p>
        </p:txBody>
      </p:sp>
      <p:pic>
        <p:nvPicPr>
          <p:cNvPr id="3" name="Imagen 2">
            <a:extLst>
              <a:ext uri="{FF2B5EF4-FFF2-40B4-BE49-F238E27FC236}">
                <a16:creationId xmlns:a16="http://schemas.microsoft.com/office/drawing/2014/main" id="{620AD5BA-C40E-56A2-A9E4-814E219B359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78362" y="1214468"/>
            <a:ext cx="3366400" cy="1893600"/>
          </a:xfrm>
          <a:prstGeom prst="rect">
            <a:avLst/>
          </a:prstGeom>
        </p:spPr>
      </p:pic>
      <p:pic>
        <p:nvPicPr>
          <p:cNvPr id="6" name="Imagen 5">
            <a:extLst>
              <a:ext uri="{FF2B5EF4-FFF2-40B4-BE49-F238E27FC236}">
                <a16:creationId xmlns:a16="http://schemas.microsoft.com/office/drawing/2014/main" id="{6EC11FC4-5EB1-C08C-9D46-0D0AF79F854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65461" y="1238827"/>
            <a:ext cx="3366400" cy="1893600"/>
          </a:xfrm>
          <a:prstGeom prst="rect">
            <a:avLst/>
          </a:prstGeom>
        </p:spPr>
      </p:pic>
      <p:pic>
        <p:nvPicPr>
          <p:cNvPr id="9" name="Imagen 8">
            <a:extLst>
              <a:ext uri="{FF2B5EF4-FFF2-40B4-BE49-F238E27FC236}">
                <a16:creationId xmlns:a16="http://schemas.microsoft.com/office/drawing/2014/main" id="{15C285EC-8217-28F8-E7EA-5E13DD353B3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52560" y="1255374"/>
            <a:ext cx="3366400" cy="1893600"/>
          </a:xfrm>
          <a:prstGeom prst="rect">
            <a:avLst/>
          </a:prstGeom>
        </p:spPr>
      </p:pic>
      <p:pic>
        <p:nvPicPr>
          <p:cNvPr id="12" name="Imagen 11">
            <a:extLst>
              <a:ext uri="{FF2B5EF4-FFF2-40B4-BE49-F238E27FC236}">
                <a16:creationId xmlns:a16="http://schemas.microsoft.com/office/drawing/2014/main" id="{7DBBD287-A832-3212-D311-3F3EF2881BE5}"/>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77037" y="3767216"/>
            <a:ext cx="3366400" cy="1893600"/>
          </a:xfrm>
          <a:prstGeom prst="rect">
            <a:avLst/>
          </a:prstGeom>
        </p:spPr>
      </p:pic>
      <p:pic>
        <p:nvPicPr>
          <p:cNvPr id="14" name="Imagen 13">
            <a:extLst>
              <a:ext uri="{FF2B5EF4-FFF2-40B4-BE49-F238E27FC236}">
                <a16:creationId xmlns:a16="http://schemas.microsoft.com/office/drawing/2014/main" id="{6ECB1ED1-BDAD-DB98-1C4B-8A2C8BF6A01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465461" y="3782814"/>
            <a:ext cx="3366400" cy="1893600"/>
          </a:xfrm>
          <a:prstGeom prst="rect">
            <a:avLst/>
          </a:prstGeom>
        </p:spPr>
      </p:pic>
      <p:pic>
        <p:nvPicPr>
          <p:cNvPr id="17" name="Imagen 16">
            <a:extLst>
              <a:ext uri="{FF2B5EF4-FFF2-40B4-BE49-F238E27FC236}">
                <a16:creationId xmlns:a16="http://schemas.microsoft.com/office/drawing/2014/main" id="{A271122F-AB33-9E4C-8873-559DAB04063E}"/>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392668" y="3914775"/>
            <a:ext cx="3366400" cy="1893600"/>
          </a:xfrm>
          <a:prstGeom prst="rect">
            <a:avLst/>
          </a:prstGeom>
        </p:spPr>
      </p:pic>
    </p:spTree>
    <p:extLst>
      <p:ext uri="{BB962C8B-B14F-4D97-AF65-F5344CB8AC3E}">
        <p14:creationId xmlns:p14="http://schemas.microsoft.com/office/powerpoint/2010/main" val="21077081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66017-CA29-747B-AB2C-4A5A4A49609B}"/>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2164A08C-A695-344E-963B-56FA49DE716F}"/>
              </a:ext>
            </a:extLst>
          </p:cNvPr>
          <p:cNvSpPr txBox="1"/>
          <p:nvPr/>
        </p:nvSpPr>
        <p:spPr>
          <a:xfrm>
            <a:off x="734837" y="3339197"/>
            <a:ext cx="32099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1.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Creación del autómata</a:t>
            </a:r>
          </a:p>
        </p:txBody>
      </p:sp>
      <p:sp>
        <p:nvSpPr>
          <p:cNvPr id="20" name="CuadroTexto 19">
            <a:extLst>
              <a:ext uri="{FF2B5EF4-FFF2-40B4-BE49-F238E27FC236}">
                <a16:creationId xmlns:a16="http://schemas.microsoft.com/office/drawing/2014/main" id="{21609FBE-ECE4-5F40-8A38-1B91DD15D9A1}"/>
              </a:ext>
            </a:extLst>
          </p:cNvPr>
          <p:cNvSpPr txBox="1"/>
          <p:nvPr/>
        </p:nvSpPr>
        <p:spPr>
          <a:xfrm>
            <a:off x="4465461" y="3357852"/>
            <a:ext cx="35528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2.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Verificación del autómata</a:t>
            </a:r>
          </a:p>
        </p:txBody>
      </p:sp>
      <p:sp>
        <p:nvSpPr>
          <p:cNvPr id="22" name="CuadroTexto 21">
            <a:extLst>
              <a:ext uri="{FF2B5EF4-FFF2-40B4-BE49-F238E27FC236}">
                <a16:creationId xmlns:a16="http://schemas.microsoft.com/office/drawing/2014/main" id="{FFF54F07-9C70-E754-6350-E43086139280}"/>
              </a:ext>
            </a:extLst>
          </p:cNvPr>
          <p:cNvSpPr txBox="1"/>
          <p:nvPr/>
        </p:nvSpPr>
        <p:spPr>
          <a:xfrm>
            <a:off x="8393993" y="3337302"/>
            <a:ext cx="365654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3.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Inicio de la </a:t>
            </a:r>
            <a:r>
              <a:rPr kumimoji="0" lang="es-MX" sz="1800" b="0" i="0" u="none" strike="noStrike" kern="1200" cap="none" spc="0" normalizeH="0" baseline="0" noProof="0" dirty="0" err="1">
                <a:ln>
                  <a:noFill/>
                </a:ln>
                <a:solidFill>
                  <a:prstClr val="black"/>
                </a:solidFill>
                <a:effectLst/>
                <a:uLnTx/>
                <a:uFillTx/>
                <a:latin typeface="Calibri" panose="020F0502020204030204"/>
                <a:ea typeface="+mn-ea"/>
                <a:cs typeface="+mn-cs"/>
              </a:rPr>
              <a:t>minimizacióncon</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 la opción </a:t>
            </a:r>
            <a:r>
              <a:rPr kumimoji="0" lang="es-MX" sz="1800" b="0" i="0" u="none" strike="noStrike" kern="1200" cap="none" spc="0" normalizeH="0" baseline="0" noProof="0" dirty="0" err="1">
                <a:ln>
                  <a:noFill/>
                </a:ln>
                <a:solidFill>
                  <a:prstClr val="black"/>
                </a:solidFill>
                <a:effectLst/>
                <a:uLnTx/>
                <a:uFillTx/>
                <a:latin typeface="Calibri" panose="020F0502020204030204"/>
                <a:ea typeface="+mn-ea"/>
                <a:cs typeface="+mn-cs"/>
              </a:rPr>
              <a:t>Minimization</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 en JFLAP.</a:t>
            </a:r>
          </a:p>
        </p:txBody>
      </p:sp>
      <p:sp>
        <p:nvSpPr>
          <p:cNvPr id="24" name="CuadroTexto 23">
            <a:extLst>
              <a:ext uri="{FF2B5EF4-FFF2-40B4-BE49-F238E27FC236}">
                <a16:creationId xmlns:a16="http://schemas.microsoft.com/office/drawing/2014/main" id="{4E384938-E154-6438-34C2-55934EC9F637}"/>
              </a:ext>
            </a:extLst>
          </p:cNvPr>
          <p:cNvSpPr txBox="1"/>
          <p:nvPr/>
        </p:nvSpPr>
        <p:spPr>
          <a:xfrm>
            <a:off x="521225" y="5956954"/>
            <a:ext cx="3374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4.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Análisis de las transiciones</a:t>
            </a:r>
          </a:p>
        </p:txBody>
      </p:sp>
      <p:sp>
        <p:nvSpPr>
          <p:cNvPr id="26" name="CuadroTexto 25">
            <a:extLst>
              <a:ext uri="{FF2B5EF4-FFF2-40B4-BE49-F238E27FC236}">
                <a16:creationId xmlns:a16="http://schemas.microsoft.com/office/drawing/2014/main" id="{D274B3E5-9A39-DDCB-FC97-BC7414298A1A}"/>
              </a:ext>
            </a:extLst>
          </p:cNvPr>
          <p:cNvSpPr txBox="1"/>
          <p:nvPr/>
        </p:nvSpPr>
        <p:spPr>
          <a:xfrm>
            <a:off x="8190446" y="6071634"/>
            <a:ext cx="394653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6.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Construcción del autómata minimizado</a:t>
            </a:r>
          </a:p>
        </p:txBody>
      </p:sp>
      <p:sp>
        <p:nvSpPr>
          <p:cNvPr id="28" name="CuadroTexto 27">
            <a:extLst>
              <a:ext uri="{FF2B5EF4-FFF2-40B4-BE49-F238E27FC236}">
                <a16:creationId xmlns:a16="http://schemas.microsoft.com/office/drawing/2014/main" id="{CA3D020F-9736-781A-4A9C-576C8B5EB42B}"/>
              </a:ext>
            </a:extLst>
          </p:cNvPr>
          <p:cNvSpPr txBox="1"/>
          <p:nvPr/>
        </p:nvSpPr>
        <p:spPr>
          <a:xfrm>
            <a:off x="4524906" y="6071634"/>
            <a:ext cx="30363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5.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Agrupación de estados</a:t>
            </a:r>
          </a:p>
        </p:txBody>
      </p:sp>
      <p:sp>
        <p:nvSpPr>
          <p:cNvPr id="30" name="CuadroTexto 29">
            <a:extLst>
              <a:ext uri="{FF2B5EF4-FFF2-40B4-BE49-F238E27FC236}">
                <a16:creationId xmlns:a16="http://schemas.microsoft.com/office/drawing/2014/main" id="{410AE268-6DBD-7AE3-F9D3-56E26BA61B4A}"/>
              </a:ext>
            </a:extLst>
          </p:cNvPr>
          <p:cNvSpPr txBox="1"/>
          <p:nvPr/>
        </p:nvSpPr>
        <p:spPr>
          <a:xfrm>
            <a:off x="763412" y="548998"/>
            <a:ext cx="18478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Ejercicio </a:t>
            </a:r>
            <a:r>
              <a:rPr lang="es-MX" b="1" dirty="0">
                <a:solidFill>
                  <a:srgbClr val="000000"/>
                </a:solidFill>
                <a:latin typeface="Calibri" panose="020F0502020204030204" pitchFamily="34" charset="0"/>
              </a:rPr>
              <a:t>9</a:t>
            </a: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2CC95D57-3BE9-AD5A-A27E-6895782D86C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56599" y="1443702"/>
            <a:ext cx="3366400" cy="1893600"/>
          </a:xfrm>
          <a:prstGeom prst="rect">
            <a:avLst/>
          </a:prstGeom>
        </p:spPr>
      </p:pic>
      <p:pic>
        <p:nvPicPr>
          <p:cNvPr id="6" name="Imagen 5">
            <a:extLst>
              <a:ext uri="{FF2B5EF4-FFF2-40B4-BE49-F238E27FC236}">
                <a16:creationId xmlns:a16="http://schemas.microsoft.com/office/drawing/2014/main" id="{43906B4D-CF51-88FA-77CF-28C1100EFCF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398706" y="1464252"/>
            <a:ext cx="3366400" cy="1893600"/>
          </a:xfrm>
          <a:prstGeom prst="rect">
            <a:avLst/>
          </a:prstGeom>
        </p:spPr>
      </p:pic>
      <p:pic>
        <p:nvPicPr>
          <p:cNvPr id="9" name="Imagen 8">
            <a:extLst>
              <a:ext uri="{FF2B5EF4-FFF2-40B4-BE49-F238E27FC236}">
                <a16:creationId xmlns:a16="http://schemas.microsoft.com/office/drawing/2014/main" id="{D65E938B-C8A3-DED9-3904-91082ACC01D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371592" y="1443702"/>
            <a:ext cx="3366400" cy="1893600"/>
          </a:xfrm>
          <a:prstGeom prst="rect">
            <a:avLst/>
          </a:prstGeom>
        </p:spPr>
      </p:pic>
      <p:pic>
        <p:nvPicPr>
          <p:cNvPr id="12" name="Imagen 11">
            <a:extLst>
              <a:ext uri="{FF2B5EF4-FFF2-40B4-BE49-F238E27FC236}">
                <a16:creationId xmlns:a16="http://schemas.microsoft.com/office/drawing/2014/main" id="{43157A3E-D8EF-0102-F04D-550D2F53EB0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62773" y="4059902"/>
            <a:ext cx="3366400" cy="1893600"/>
          </a:xfrm>
          <a:prstGeom prst="rect">
            <a:avLst/>
          </a:prstGeom>
        </p:spPr>
      </p:pic>
      <p:pic>
        <p:nvPicPr>
          <p:cNvPr id="14" name="Imagen 13">
            <a:extLst>
              <a:ext uri="{FF2B5EF4-FFF2-40B4-BE49-F238E27FC236}">
                <a16:creationId xmlns:a16="http://schemas.microsoft.com/office/drawing/2014/main" id="{34620B63-CAD1-7323-91DF-60C0F80D81C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398706" y="4178034"/>
            <a:ext cx="3366400" cy="1893600"/>
          </a:xfrm>
          <a:prstGeom prst="rect">
            <a:avLst/>
          </a:prstGeom>
        </p:spPr>
      </p:pic>
      <p:pic>
        <p:nvPicPr>
          <p:cNvPr id="17" name="Imagen 16">
            <a:extLst>
              <a:ext uri="{FF2B5EF4-FFF2-40B4-BE49-F238E27FC236}">
                <a16:creationId xmlns:a16="http://schemas.microsoft.com/office/drawing/2014/main" id="{C61FA008-32A2-E8CF-2D59-BD99B5F488A2}"/>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334904" y="4178034"/>
            <a:ext cx="3366400" cy="1893600"/>
          </a:xfrm>
          <a:prstGeom prst="rect">
            <a:avLst/>
          </a:prstGeom>
        </p:spPr>
      </p:pic>
    </p:spTree>
    <p:extLst>
      <p:ext uri="{BB962C8B-B14F-4D97-AF65-F5344CB8AC3E}">
        <p14:creationId xmlns:p14="http://schemas.microsoft.com/office/powerpoint/2010/main" val="42514277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3A75-4765-F531-D677-CAC318EEABBA}"/>
            </a:ext>
          </a:extLst>
        </p:cNvPr>
        <p:cNvGrpSpPr/>
        <p:nvPr/>
      </p:nvGrpSpPr>
      <p:grpSpPr>
        <a:xfrm>
          <a:off x="0" y="0"/>
          <a:ext cx="0" cy="0"/>
          <a:chOff x="0" y="0"/>
          <a:chExt cx="0" cy="0"/>
        </a:xfrm>
      </p:grpSpPr>
      <p:sp>
        <p:nvSpPr>
          <p:cNvPr id="18" name="CuadroTexto 17">
            <a:extLst>
              <a:ext uri="{FF2B5EF4-FFF2-40B4-BE49-F238E27FC236}">
                <a16:creationId xmlns:a16="http://schemas.microsoft.com/office/drawing/2014/main" id="{37955B17-E8F2-76E6-A444-D31EA9BBA58F}"/>
              </a:ext>
            </a:extLst>
          </p:cNvPr>
          <p:cNvSpPr txBox="1"/>
          <p:nvPr/>
        </p:nvSpPr>
        <p:spPr>
          <a:xfrm>
            <a:off x="734837" y="3339197"/>
            <a:ext cx="32099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1.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Creación del autómata</a:t>
            </a:r>
          </a:p>
        </p:txBody>
      </p:sp>
      <p:sp>
        <p:nvSpPr>
          <p:cNvPr id="20" name="CuadroTexto 19">
            <a:extLst>
              <a:ext uri="{FF2B5EF4-FFF2-40B4-BE49-F238E27FC236}">
                <a16:creationId xmlns:a16="http://schemas.microsoft.com/office/drawing/2014/main" id="{AD98C702-A756-D405-6E71-0AB1810ACDAB}"/>
              </a:ext>
            </a:extLst>
          </p:cNvPr>
          <p:cNvSpPr txBox="1"/>
          <p:nvPr/>
        </p:nvSpPr>
        <p:spPr>
          <a:xfrm>
            <a:off x="4465461" y="3357852"/>
            <a:ext cx="35528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2.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Verificación del autómata</a:t>
            </a:r>
          </a:p>
        </p:txBody>
      </p:sp>
      <p:sp>
        <p:nvSpPr>
          <p:cNvPr id="22" name="CuadroTexto 21">
            <a:extLst>
              <a:ext uri="{FF2B5EF4-FFF2-40B4-BE49-F238E27FC236}">
                <a16:creationId xmlns:a16="http://schemas.microsoft.com/office/drawing/2014/main" id="{91CE7CAA-8C29-40DF-D6BB-6C300153633E}"/>
              </a:ext>
            </a:extLst>
          </p:cNvPr>
          <p:cNvSpPr txBox="1"/>
          <p:nvPr/>
        </p:nvSpPr>
        <p:spPr>
          <a:xfrm>
            <a:off x="8393993" y="3337302"/>
            <a:ext cx="365654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3.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Inicio de la </a:t>
            </a:r>
            <a:r>
              <a:rPr kumimoji="0" lang="es-MX" sz="1800" b="0" i="0" u="none" strike="noStrike" kern="1200" cap="none" spc="0" normalizeH="0" baseline="0" noProof="0" dirty="0" err="1">
                <a:ln>
                  <a:noFill/>
                </a:ln>
                <a:solidFill>
                  <a:prstClr val="black"/>
                </a:solidFill>
                <a:effectLst/>
                <a:uLnTx/>
                <a:uFillTx/>
                <a:latin typeface="Calibri" panose="020F0502020204030204"/>
                <a:ea typeface="+mn-ea"/>
                <a:cs typeface="+mn-cs"/>
              </a:rPr>
              <a:t>minimizacióncon</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 la opción </a:t>
            </a:r>
            <a:r>
              <a:rPr kumimoji="0" lang="es-MX" sz="1800" b="0" i="0" u="none" strike="noStrike" kern="1200" cap="none" spc="0" normalizeH="0" baseline="0" noProof="0" dirty="0" err="1">
                <a:ln>
                  <a:noFill/>
                </a:ln>
                <a:solidFill>
                  <a:prstClr val="black"/>
                </a:solidFill>
                <a:effectLst/>
                <a:uLnTx/>
                <a:uFillTx/>
                <a:latin typeface="Calibri" panose="020F0502020204030204"/>
                <a:ea typeface="+mn-ea"/>
                <a:cs typeface="+mn-cs"/>
              </a:rPr>
              <a:t>Minimization</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 en JFLAP.</a:t>
            </a:r>
          </a:p>
        </p:txBody>
      </p:sp>
      <p:sp>
        <p:nvSpPr>
          <p:cNvPr id="24" name="CuadroTexto 23">
            <a:extLst>
              <a:ext uri="{FF2B5EF4-FFF2-40B4-BE49-F238E27FC236}">
                <a16:creationId xmlns:a16="http://schemas.microsoft.com/office/drawing/2014/main" id="{468266FD-9651-F7D6-7774-FDFB2C21BF56}"/>
              </a:ext>
            </a:extLst>
          </p:cNvPr>
          <p:cNvSpPr txBox="1"/>
          <p:nvPr/>
        </p:nvSpPr>
        <p:spPr>
          <a:xfrm>
            <a:off x="521225" y="5956954"/>
            <a:ext cx="3374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4.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Análisis de las transiciones</a:t>
            </a:r>
          </a:p>
        </p:txBody>
      </p:sp>
      <p:sp>
        <p:nvSpPr>
          <p:cNvPr id="26" name="CuadroTexto 25">
            <a:extLst>
              <a:ext uri="{FF2B5EF4-FFF2-40B4-BE49-F238E27FC236}">
                <a16:creationId xmlns:a16="http://schemas.microsoft.com/office/drawing/2014/main" id="{146E1092-2ABE-3CB8-998C-53202A9CCB1A}"/>
              </a:ext>
            </a:extLst>
          </p:cNvPr>
          <p:cNvSpPr txBox="1"/>
          <p:nvPr/>
        </p:nvSpPr>
        <p:spPr>
          <a:xfrm>
            <a:off x="8190446" y="6071634"/>
            <a:ext cx="394653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6.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Construcción del autómata minimizado</a:t>
            </a:r>
          </a:p>
        </p:txBody>
      </p:sp>
      <p:sp>
        <p:nvSpPr>
          <p:cNvPr id="28" name="CuadroTexto 27">
            <a:extLst>
              <a:ext uri="{FF2B5EF4-FFF2-40B4-BE49-F238E27FC236}">
                <a16:creationId xmlns:a16="http://schemas.microsoft.com/office/drawing/2014/main" id="{B7210D25-6ECF-97F4-56A9-BD0C9E9A147E}"/>
              </a:ext>
            </a:extLst>
          </p:cNvPr>
          <p:cNvSpPr txBox="1"/>
          <p:nvPr/>
        </p:nvSpPr>
        <p:spPr>
          <a:xfrm>
            <a:off x="4524906" y="6071634"/>
            <a:ext cx="30363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panose="020F0502020204030204"/>
                <a:ea typeface="+mn-ea"/>
                <a:cs typeface="+mn-cs"/>
              </a:rPr>
              <a:t>Paso 5. </a:t>
            </a:r>
            <a:r>
              <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rPr>
              <a:t>Agrupación de estados</a:t>
            </a:r>
          </a:p>
        </p:txBody>
      </p:sp>
      <p:sp>
        <p:nvSpPr>
          <p:cNvPr id="30" name="CuadroTexto 29">
            <a:extLst>
              <a:ext uri="{FF2B5EF4-FFF2-40B4-BE49-F238E27FC236}">
                <a16:creationId xmlns:a16="http://schemas.microsoft.com/office/drawing/2014/main" id="{7B515E52-CAF3-586B-2BD2-C58442C03FB2}"/>
              </a:ext>
            </a:extLst>
          </p:cNvPr>
          <p:cNvSpPr txBox="1"/>
          <p:nvPr/>
        </p:nvSpPr>
        <p:spPr>
          <a:xfrm>
            <a:off x="763412" y="548998"/>
            <a:ext cx="18478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Ejercicio </a:t>
            </a:r>
            <a:r>
              <a:rPr lang="es-MX" b="1" dirty="0">
                <a:solidFill>
                  <a:srgbClr val="000000"/>
                </a:solidFill>
                <a:latin typeface="Calibri" panose="020F0502020204030204" pitchFamily="34" charset="0"/>
              </a:rPr>
              <a:t>10</a:t>
            </a: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0334C8AD-3278-C4AC-204A-7F5D43C6B61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325" y="1443702"/>
            <a:ext cx="3366400" cy="1893600"/>
          </a:xfrm>
          <a:prstGeom prst="rect">
            <a:avLst/>
          </a:prstGeom>
        </p:spPr>
      </p:pic>
      <p:pic>
        <p:nvPicPr>
          <p:cNvPr id="6" name="Imagen 5">
            <a:extLst>
              <a:ext uri="{FF2B5EF4-FFF2-40B4-BE49-F238E27FC236}">
                <a16:creationId xmlns:a16="http://schemas.microsoft.com/office/drawing/2014/main" id="{49339DB5-8B24-763C-9A59-AE08708AD6F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24906" y="1443702"/>
            <a:ext cx="3366400" cy="1893600"/>
          </a:xfrm>
          <a:prstGeom prst="rect">
            <a:avLst/>
          </a:prstGeom>
        </p:spPr>
      </p:pic>
      <p:pic>
        <p:nvPicPr>
          <p:cNvPr id="9" name="Imagen 8">
            <a:extLst>
              <a:ext uri="{FF2B5EF4-FFF2-40B4-BE49-F238E27FC236}">
                <a16:creationId xmlns:a16="http://schemas.microsoft.com/office/drawing/2014/main" id="{AE0E6702-AA6C-0A28-D53E-48D9B844B06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471450" y="1312332"/>
            <a:ext cx="3366400" cy="1893600"/>
          </a:xfrm>
          <a:prstGeom prst="rect">
            <a:avLst/>
          </a:prstGeom>
        </p:spPr>
      </p:pic>
      <p:pic>
        <p:nvPicPr>
          <p:cNvPr id="12" name="Imagen 11">
            <a:extLst>
              <a:ext uri="{FF2B5EF4-FFF2-40B4-BE49-F238E27FC236}">
                <a16:creationId xmlns:a16="http://schemas.microsoft.com/office/drawing/2014/main" id="{456A7FAF-F32D-4C9E-D55F-68D8F72AB18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29325" y="4008756"/>
            <a:ext cx="3366400" cy="1893600"/>
          </a:xfrm>
          <a:prstGeom prst="rect">
            <a:avLst/>
          </a:prstGeom>
        </p:spPr>
      </p:pic>
      <p:pic>
        <p:nvPicPr>
          <p:cNvPr id="14" name="Imagen 13">
            <a:extLst>
              <a:ext uri="{FF2B5EF4-FFF2-40B4-BE49-F238E27FC236}">
                <a16:creationId xmlns:a16="http://schemas.microsoft.com/office/drawing/2014/main" id="{EC01DC57-F976-32A4-180A-08941011C212}"/>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412800" y="4063788"/>
            <a:ext cx="3366400" cy="1893600"/>
          </a:xfrm>
          <a:prstGeom prst="rect">
            <a:avLst/>
          </a:prstGeom>
        </p:spPr>
      </p:pic>
      <p:pic>
        <p:nvPicPr>
          <p:cNvPr id="17" name="Imagen 16">
            <a:extLst>
              <a:ext uri="{FF2B5EF4-FFF2-40B4-BE49-F238E27FC236}">
                <a16:creationId xmlns:a16="http://schemas.microsoft.com/office/drawing/2014/main" id="{916C2C39-B99C-6619-652D-3D76B769022E}"/>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539064" y="4115003"/>
            <a:ext cx="3366400" cy="1893600"/>
          </a:xfrm>
          <a:prstGeom prst="rect">
            <a:avLst/>
          </a:prstGeom>
        </p:spPr>
      </p:pic>
    </p:spTree>
    <p:extLst>
      <p:ext uri="{BB962C8B-B14F-4D97-AF65-F5344CB8AC3E}">
        <p14:creationId xmlns:p14="http://schemas.microsoft.com/office/powerpoint/2010/main" val="2109474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666750" y="682624"/>
            <a:ext cx="10515600" cy="5603875"/>
          </a:xfrm>
        </p:spPr>
        <p:txBody>
          <a:bodyPr>
            <a:normAutofit fontScale="85000" lnSpcReduction="10000"/>
          </a:bodyPr>
          <a:lstStyle/>
          <a:p>
            <a:pPr marL="0" indent="0">
              <a:buNone/>
            </a:pPr>
            <a:r>
              <a:rPr lang="es-MX" sz="6300" b="1" dirty="0">
                <a:solidFill>
                  <a:schemeClr val="accent1"/>
                </a:solidFill>
                <a:latin typeface="+mj-lt"/>
              </a:rPr>
              <a:t>Conclusión</a:t>
            </a:r>
          </a:p>
          <a:p>
            <a:pPr marL="0" indent="0" algn="just">
              <a:buNone/>
            </a:pPr>
            <a:r>
              <a:rPr lang="es-MX" sz="3300" dirty="0"/>
              <a:t>La realización de los ejercicios permitió comprender de una manera práctica el funcionamiento de los autómatas finitos y su relación con los lenguajes formales. A través de la construcción de AFD y AFND se pudo observar cómo se procesa cadenas mediante estados y transiciones hasta determinar si una cadena es aceptada o rechazada.</a:t>
            </a:r>
          </a:p>
          <a:p>
            <a:pPr marL="0" indent="0" algn="just">
              <a:buNone/>
            </a:pPr>
            <a:r>
              <a:rPr lang="es-MX" sz="3300" dirty="0"/>
              <a:t>Las expresiones regulares permitió identificar cómo se pueden representar patrones de un lenguaje y cómo estos pueden transformarse en autómatas capaces de reconocer dichos patrones. </a:t>
            </a:r>
          </a:p>
          <a:p>
            <a:pPr marL="0" indent="0" algn="just">
              <a:buNone/>
            </a:pPr>
            <a:r>
              <a:rPr lang="es-MX" sz="3300" dirty="0"/>
              <a:t>De igual manera, mediante el proceso de minimización de autómatas, se pudo observar cómo es posible reducir el número de estados de un autómata sin alterar el lenguaje que reconoce, obteniendo así una representación más simplificada y eficiente del mismo.</a:t>
            </a:r>
          </a:p>
          <a:p>
            <a:pPr marL="0" indent="0">
              <a:buNone/>
            </a:pPr>
            <a:endParaRPr lang="es-MX" sz="4400" b="1" dirty="0">
              <a:solidFill>
                <a:schemeClr val="accent1"/>
              </a:solidFill>
              <a:latin typeface="+mj-lt"/>
            </a:endParaRPr>
          </a:p>
          <a:p>
            <a:pPr marL="0" indent="0">
              <a:buNone/>
            </a:pPr>
            <a:endParaRPr lang="es-MX" dirty="0"/>
          </a:p>
          <a:p>
            <a:pPr marL="0" indent="0" algn="just">
              <a:buNone/>
            </a:pPr>
            <a:endParaRPr lang="es-MX" dirty="0"/>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p:txBody>
          <a:bodyPr>
            <a:normAutofit/>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marL="0" indent="0">
              <a:buNone/>
            </a:pPr>
            <a:endParaRPr lang="es-MX" dirty="0"/>
          </a:p>
          <a:p>
            <a:pPr>
              <a:buFont typeface="Wingdings" panose="05000000000000000000" pitchFamily="2" charset="2"/>
              <a:buChar char="Ø"/>
            </a:pPr>
            <a:r>
              <a:rPr lang="es-MX" dirty="0">
                <a:hlinkClick r:id="rId2"/>
              </a:rPr>
              <a:t>https://youtu.be/4pF3KsPtDjo?si=ZlsEUkkq1kFglAkJ</a:t>
            </a:r>
            <a:endParaRPr lang="es-MX" dirty="0"/>
          </a:p>
          <a:p>
            <a:pPr>
              <a:buFont typeface="Wingdings" panose="05000000000000000000" pitchFamily="2" charset="2"/>
              <a:buChar char="Ø"/>
            </a:pPr>
            <a:r>
              <a:rPr lang="es-MX" dirty="0">
                <a:hlinkClick r:id="rId3"/>
              </a:rPr>
              <a:t>https://youtu.be/4pF3KsPtDjo?si=dhEf5rFMHV8ps07r</a:t>
            </a:r>
            <a:endParaRPr lang="es-MX" dirty="0"/>
          </a:p>
          <a:p>
            <a:pPr>
              <a:buFont typeface="Wingdings" panose="05000000000000000000" pitchFamily="2" charset="2"/>
              <a:buChar char="Ø"/>
            </a:pPr>
            <a:r>
              <a:rPr lang="es-MX" dirty="0"/>
              <a:t>LYA1 – Lenguajes y Autómatas I. Repositorio en GitHub.</a:t>
            </a:r>
            <a:br>
              <a:rPr lang="es-MX" dirty="0"/>
            </a:br>
            <a:r>
              <a:rPr lang="es-MX" dirty="0">
                <a:hlinkClick r:id="rId4">
                  <a:extLst>
                    <a:ext uri="{A12FA001-AC4F-418D-AE19-62706E023703}">
                      <ahyp:hlinkClr xmlns:ahyp="http://schemas.microsoft.com/office/drawing/2018/hyperlinkcolor" val="tx"/>
                    </a:ext>
                  </a:extLst>
                </a:hlinkClick>
              </a:rPr>
              <a:t>https://github.com/rafaelrav8770/LYA1.git</a:t>
            </a:r>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936</TotalTime>
  <Words>2272</Words>
  <Application>Microsoft Office PowerPoint</Application>
  <PresentationFormat>Panorámica</PresentationFormat>
  <Paragraphs>255</Paragraphs>
  <Slides>66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66</vt:i4>
      </vt:variant>
    </vt:vector>
  </HeadingPairs>
  <TitlesOfParts>
    <vt:vector size="71"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justificacion</vt:lpstr>
      <vt:lpstr>Construcción de AFD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Construcción de AFND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Expresiones regulares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Minimización de estados en un AF</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40</cp:revision>
  <dcterms:created xsi:type="dcterms:W3CDTF">2026-02-14T13:39:49Z</dcterms:created>
  <dcterms:modified xsi:type="dcterms:W3CDTF">2026-03-15T04:11:08Z</dcterms:modified>
</cp:coreProperties>
</file>