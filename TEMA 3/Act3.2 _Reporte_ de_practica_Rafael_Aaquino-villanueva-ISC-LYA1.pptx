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63" r:id="rId3"/>
    <p:sldId id="258" r:id="rId4"/>
    <p:sldId id="272" r:id="rId5"/>
    <p:sldId id="273" r:id="rId6"/>
    <p:sldId id="274" r:id="rId7"/>
    <p:sldId id="280" r:id="rId8"/>
    <p:sldId id="277" r:id="rId9"/>
    <p:sldId id="278" r:id="rId10"/>
    <p:sldId id="279" r:id="rId11"/>
    <p:sldId id="281" r:id="rId12"/>
    <p:sldId id="282" r:id="rId13"/>
    <p:sldId id="284" r:id="rId14"/>
    <p:sldId id="283" r:id="rId15"/>
    <p:sldId id="260" r:id="rId16"/>
    <p:sldId id="264" r:id="rId1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09/03/2026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09/03/2026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09/03/2026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09/03/2026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09/03/2026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09/03/2026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09/03/2026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09/03/2026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09/03/2026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09/03/2026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09/03/2026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09/03/2026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09/03/2026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youtu.be/8wK9Dxfrdps" TargetMode="External"/><Relationship Id="rId2" Type="http://schemas.openxmlformats.org/officeDocument/2006/relationships/hyperlink" Target="https://youtu.be/qFA1dZxhpDk" TargetMode="External"/><Relationship Id="rId1" Type="http://schemas.openxmlformats.org/officeDocument/2006/relationships/slideLayout" Target="../slideLayouts/slideLayout2.xml"/><Relationship Id="rId5" Type="http://schemas.openxmlformats.org/officeDocument/2006/relationships/hyperlink" Target="https://github.com/rafaelrav8770/LYA1.git" TargetMode="External"/><Relationship Id="rId4" Type="http://schemas.openxmlformats.org/officeDocument/2006/relationships/hyperlink" Target="https://youtu.be/UaqaXPpu76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37" b="20603"/>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627561"/>
          </a:xfrm>
          <a:prstGeom prst="rect">
            <a:avLst/>
          </a:prstGeom>
          <a:noFill/>
        </p:spPr>
        <p:txBody>
          <a:bodyPr wrap="square">
            <a:spAutoFit/>
          </a:bodyPr>
          <a:lstStyle/>
          <a:p>
            <a:pPr algn="ctr">
              <a:lnSpc>
                <a:spcPct val="107000"/>
              </a:lnSpc>
              <a:spcAft>
                <a:spcPts val="800"/>
              </a:spcAft>
              <a:buNone/>
            </a:pPr>
            <a:r>
              <a:rPr lang="es-MX" sz="1800" b="1" kern="0" dirty="0">
                <a:effectLst/>
                <a:latin typeface="Arial" panose="020B0604020202020204" pitchFamily="34" charset="0"/>
                <a:ea typeface="Arial" panose="020B0604020202020204" pitchFamily="34" charset="0"/>
                <a:cs typeface="Arial" panose="020B0604020202020204" pitchFamily="34" charset="0"/>
              </a:rPr>
              <a:t>LENGUAJES Y AUTOMATAS 1</a:t>
            </a: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3.2 –REPORTE </a:t>
            </a:r>
            <a:r>
              <a:rPr lang="es-MX" sz="2000" b="1" kern="0" dirty="0">
                <a:latin typeface="Arial" panose="020B0604020202020204" pitchFamily="34" charset="0"/>
                <a:cs typeface="Arial" panose="020B0604020202020204" pitchFamily="34" charset="0"/>
              </a:rPr>
              <a:t>DE PRACTICA </a:t>
            </a:r>
            <a:r>
              <a:rPr lang="es-MX" dirty="0"/>
              <a:t>	</a:t>
            </a: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3094276835"/>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SEXTO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489075" y="6318878"/>
            <a:ext cx="7812505" cy="1078244"/>
          </a:xfrm>
          <a:prstGeom prst="rect">
            <a:avLst/>
          </a:prstGeom>
          <a:noFill/>
        </p:spPr>
        <p:txBody>
          <a:bodyPr wrap="square">
            <a:spAutoFit/>
          </a:bodyPr>
          <a:lstStyle/>
          <a:p>
            <a:pPr algn="r">
              <a:lnSpc>
                <a:spcPct val="107000"/>
              </a:lnSpc>
              <a:spcAft>
                <a:spcPts val="800"/>
              </a:spcAft>
              <a:buNone/>
            </a:pPr>
            <a:r>
              <a:rPr lang="es-MX" sz="2000" b="1" kern="0" dirty="0">
                <a:latin typeface="Arial" panose="020B0604020202020204" pitchFamily="34" charset="0"/>
                <a:ea typeface="Times New Roman" panose="02020603050405020304" pitchFamily="18" charset="0"/>
                <a:cs typeface="Arial" panose="020B0604020202020204" pitchFamily="34" charset="0"/>
              </a:rPr>
              <a:t>31</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DE ENERO 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a:bodyPr>
          <a:lstStyle/>
          <a:p>
            <a:pPr marL="0" indent="0">
              <a:buNone/>
            </a:pPr>
            <a:r>
              <a:rPr lang="es-MX" sz="4400" b="1" kern="0" dirty="0">
                <a:solidFill>
                  <a:schemeClr val="accent1"/>
                </a:solidFill>
                <a:latin typeface="+mj-lt"/>
                <a:cs typeface="Arial" panose="020B0604020202020204" pitchFamily="34" charset="0"/>
              </a:rPr>
              <a:t>Introducción</a:t>
            </a:r>
          </a:p>
          <a:p>
            <a:pPr marL="0" indent="0">
              <a:buNone/>
            </a:pPr>
            <a:endParaRPr lang="es-MX" dirty="0"/>
          </a:p>
          <a:p>
            <a:pPr marL="0" indent="0" algn="just">
              <a:buNone/>
            </a:pPr>
            <a:r>
              <a:rPr lang="es-MX" dirty="0"/>
              <a:t>Los autómatas finitos son modelos matemáticos utilizados en la teoría de lenguajes formales para reconocer cadenas de símbolos dentro de un </a:t>
            </a:r>
            <a:r>
              <a:rPr lang="es-MX" dirty="0" err="1"/>
              <a:t>lenguaje.permiten</a:t>
            </a:r>
            <a:r>
              <a:rPr lang="es-MX" dirty="0"/>
              <a:t> representar el comportamiento de sistemas que procesan información y son fundamentales en áreas como el diseño de compiladores y el análisis de lenguajes de programación.</a:t>
            </a:r>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a:xfrm>
            <a:off x="838200" y="866775"/>
            <a:ext cx="10515600" cy="5310188"/>
          </a:xfrm>
        </p:spPr>
        <p:txBody>
          <a:bodyPr/>
          <a:lstStyle/>
          <a:p>
            <a:pPr marL="0" indent="0">
              <a:buNone/>
            </a:pPr>
            <a:r>
              <a:rPr lang="es-MX" sz="4400" b="1" dirty="0">
                <a:solidFill>
                  <a:schemeClr val="accent1"/>
                </a:solidFill>
                <a:latin typeface="+mj-lt"/>
              </a:rPr>
              <a:t>Objetivo</a:t>
            </a:r>
          </a:p>
          <a:p>
            <a:pPr marL="0" indent="0">
              <a:buNone/>
            </a:pPr>
            <a:r>
              <a:rPr lang="es-MX" dirty="0"/>
              <a:t> </a:t>
            </a:r>
          </a:p>
          <a:p>
            <a:pPr marL="0" indent="0" algn="just">
              <a:buNone/>
            </a:pPr>
            <a:r>
              <a:rPr lang="es-MX" dirty="0"/>
              <a:t>Comprender el funcionamiento de los autómatas finitos mediante el uso de la herramienta JFLAP, realizando la construcción, simulación y conversión entre autómatas finitos deterministas y no deterministas, así como la representación de expresiones regulares y la minimización de estados</a:t>
            </a:r>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0E3B70-A327-ED02-9010-A5628A3A4B63}"/>
              </a:ext>
            </a:extLst>
          </p:cNvPr>
          <p:cNvSpPr>
            <a:spLocks noGrp="1"/>
          </p:cNvSpPr>
          <p:nvPr>
            <p:ph type="title"/>
          </p:nvPr>
        </p:nvSpPr>
        <p:spPr/>
        <p:txBody>
          <a:bodyPr/>
          <a:lstStyle/>
          <a:p>
            <a:r>
              <a:rPr lang="es-MX" b="1" dirty="0" err="1">
                <a:solidFill>
                  <a:schemeClr val="accent1"/>
                </a:solidFill>
                <a:ea typeface="+mn-ea"/>
                <a:cs typeface="+mn-cs"/>
              </a:rPr>
              <a:t>Justificacion</a:t>
            </a:r>
            <a:endParaRPr lang="es-MX" b="1" dirty="0">
              <a:solidFill>
                <a:schemeClr val="accent1"/>
              </a:solidFill>
              <a:ea typeface="+mn-ea"/>
              <a:cs typeface="+mn-cs"/>
            </a:endParaRPr>
          </a:p>
        </p:txBody>
      </p:sp>
      <p:sp>
        <p:nvSpPr>
          <p:cNvPr id="3" name="Marcador de contenido 2">
            <a:extLst>
              <a:ext uri="{FF2B5EF4-FFF2-40B4-BE49-F238E27FC236}">
                <a16:creationId xmlns:a16="http://schemas.microsoft.com/office/drawing/2014/main" id="{4B557436-2CDA-C681-7FEB-DE5A04DD84E8}"/>
              </a:ext>
            </a:extLst>
          </p:cNvPr>
          <p:cNvSpPr>
            <a:spLocks noGrp="1"/>
          </p:cNvSpPr>
          <p:nvPr>
            <p:ph idx="1"/>
          </p:nvPr>
        </p:nvSpPr>
        <p:spPr/>
        <p:txBody>
          <a:bodyPr/>
          <a:lstStyle/>
          <a:p>
            <a:pPr marL="0" indent="0" algn="just">
              <a:buNone/>
            </a:pPr>
            <a:r>
              <a:rPr lang="es-MX" dirty="0"/>
              <a:t>El estudio de los autómatas finitos es importante porque permite entender cómo se reconocen y se procesan cadenas dentro de un lenguaje formal. Mediante el uso de herramientas como </a:t>
            </a:r>
            <a:r>
              <a:rPr lang="es-MX" b="1" dirty="0"/>
              <a:t>JFLAP</a:t>
            </a:r>
            <a:r>
              <a:rPr lang="es-MX" dirty="0"/>
              <a:t>, es posible observar de manera más clara cómo funcionan estos modelos, ya que permite construir y analizar autómatas de forma visual. De esta manera, la práctica ayuda a comprender mejor los conceptos como la conversión entre autómatas, el uso de expresiones regulares y la minimización de estados.</a:t>
            </a:r>
          </a:p>
          <a:p>
            <a:endParaRPr lang="es-MX" dirty="0"/>
          </a:p>
        </p:txBody>
      </p:sp>
    </p:spTree>
    <p:extLst>
      <p:ext uri="{BB962C8B-B14F-4D97-AF65-F5344CB8AC3E}">
        <p14:creationId xmlns:p14="http://schemas.microsoft.com/office/powerpoint/2010/main" val="3674245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C78BF3-DBD3-39F5-2116-CF2E70737F74}"/>
              </a:ext>
            </a:extLst>
          </p:cNvPr>
          <p:cNvSpPr>
            <a:spLocks noGrp="1"/>
          </p:cNvSpPr>
          <p:nvPr>
            <p:ph type="title"/>
          </p:nvPr>
        </p:nvSpPr>
        <p:spPr/>
        <p:txBody>
          <a:bodyPr/>
          <a:lstStyle/>
          <a:p>
            <a:r>
              <a:rPr lang="es-MX" b="1" dirty="0">
                <a:solidFill>
                  <a:schemeClr val="accent1"/>
                </a:solidFill>
              </a:rPr>
              <a:t>Práctica con la herramienta JFLAP</a:t>
            </a:r>
          </a:p>
        </p:txBody>
      </p:sp>
      <p:sp>
        <p:nvSpPr>
          <p:cNvPr id="3" name="Marcador de contenido 2">
            <a:extLst>
              <a:ext uri="{FF2B5EF4-FFF2-40B4-BE49-F238E27FC236}">
                <a16:creationId xmlns:a16="http://schemas.microsoft.com/office/drawing/2014/main" id="{3E350202-A370-4207-A596-7BEB74B302BA}"/>
              </a:ext>
            </a:extLst>
          </p:cNvPr>
          <p:cNvSpPr>
            <a:spLocks noGrp="1"/>
          </p:cNvSpPr>
          <p:nvPr>
            <p:ph idx="1"/>
          </p:nvPr>
        </p:nvSpPr>
        <p:spPr>
          <a:xfrm>
            <a:off x="838200" y="1371600"/>
            <a:ext cx="8206540" cy="4805363"/>
          </a:xfrm>
        </p:spPr>
        <p:txBody>
          <a:bodyPr>
            <a:normAutofit fontScale="92500" lnSpcReduction="20000"/>
          </a:bodyPr>
          <a:lstStyle/>
          <a:p>
            <a:pPr marL="0" indent="0" algn="just">
              <a:buNone/>
            </a:pPr>
            <a:r>
              <a:rPr lang="es-MX" dirty="0"/>
              <a:t>Para la realización de la práctica se utilizó el software </a:t>
            </a:r>
            <a:r>
              <a:rPr lang="es-MX" b="1" dirty="0"/>
              <a:t>JFLAP</a:t>
            </a:r>
            <a:r>
              <a:rPr lang="es-MX" dirty="0"/>
              <a:t>, una herramienta educativa que permite diseñar y simular autómatas finitos de manera gráfica. Esto facilita la comprensión de los conceptos relacionados con los lenguajes formales, ya que permite observar el comportamiento de los estados y las transiciones dentro de un autómata.</a:t>
            </a:r>
          </a:p>
          <a:p>
            <a:pPr marL="0" indent="0" algn="just">
              <a:buNone/>
            </a:pPr>
            <a:r>
              <a:rPr lang="es-MX" dirty="0"/>
              <a:t>En primer lugar, se ejecutó el programa JFLAP y se seleccionaron las opciones Finite </a:t>
            </a:r>
            <a:r>
              <a:rPr lang="es-MX" dirty="0" err="1"/>
              <a:t>Automaton</a:t>
            </a:r>
            <a:r>
              <a:rPr lang="es-MX" dirty="0"/>
              <a:t> y Regular </a:t>
            </a:r>
            <a:r>
              <a:rPr lang="es-MX" dirty="0" err="1"/>
              <a:t>Expression</a:t>
            </a:r>
            <a:r>
              <a:rPr lang="es-MX" dirty="0"/>
              <a:t>, las cuales permiten trabajar con autómatas finitos dentro del programa. Posteriormente, se procedió a crear los estados del autómata, definiendo el estado inicial y los estados de aceptación. Finalmente, se agregaron las transiciones correspondientes entre los estados utilizando los símbolos del alfabeto.</a:t>
            </a:r>
          </a:p>
        </p:txBody>
      </p:sp>
      <p:pic>
        <p:nvPicPr>
          <p:cNvPr id="5" name="Imagen 4">
            <a:extLst>
              <a:ext uri="{FF2B5EF4-FFF2-40B4-BE49-F238E27FC236}">
                <a16:creationId xmlns:a16="http://schemas.microsoft.com/office/drawing/2014/main" id="{3EE0B833-BF1E-973D-C545-B63DD96836FD}"/>
              </a:ext>
            </a:extLst>
          </p:cNvPr>
          <p:cNvPicPr>
            <a:picLocks noChangeAspect="1"/>
          </p:cNvPicPr>
          <p:nvPr/>
        </p:nvPicPr>
        <p:blipFill>
          <a:blip r:embed="rId2"/>
          <a:stretch>
            <a:fillRect/>
          </a:stretch>
        </p:blipFill>
        <p:spPr>
          <a:xfrm>
            <a:off x="9153525" y="1568890"/>
            <a:ext cx="2640430" cy="3982431"/>
          </a:xfrm>
          <a:prstGeom prst="rect">
            <a:avLst/>
          </a:prstGeom>
        </p:spPr>
      </p:pic>
    </p:spTree>
    <p:extLst>
      <p:ext uri="{BB962C8B-B14F-4D97-AF65-F5344CB8AC3E}">
        <p14:creationId xmlns:p14="http://schemas.microsoft.com/office/powerpoint/2010/main" val="2501819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5EC940-25B7-ABD3-8118-F7C8B3E64C91}"/>
              </a:ext>
            </a:extLst>
          </p:cNvPr>
          <p:cNvSpPr>
            <a:spLocks noGrp="1"/>
          </p:cNvSpPr>
          <p:nvPr>
            <p:ph type="title"/>
          </p:nvPr>
        </p:nvSpPr>
        <p:spPr/>
        <p:txBody>
          <a:bodyPr/>
          <a:lstStyle/>
          <a:p>
            <a:r>
              <a:rPr lang="es-MX" b="1" dirty="0">
                <a:solidFill>
                  <a:schemeClr val="accent1"/>
                </a:solidFill>
              </a:rPr>
              <a:t>Conversión de AFND a AFD</a:t>
            </a:r>
          </a:p>
        </p:txBody>
      </p:sp>
      <p:pic>
        <p:nvPicPr>
          <p:cNvPr id="5" name="Marcador de contenido 4">
            <a:extLst>
              <a:ext uri="{FF2B5EF4-FFF2-40B4-BE49-F238E27FC236}">
                <a16:creationId xmlns:a16="http://schemas.microsoft.com/office/drawing/2014/main" id="{28D08BEE-E5CE-F66F-AD1D-DB8D4EE9CF5B}"/>
              </a:ext>
            </a:extLst>
          </p:cNvPr>
          <p:cNvPicPr>
            <a:picLocks noGrp="1" noChangeAspect="1"/>
          </p:cNvPicPr>
          <p:nvPr>
            <p:ph idx="1"/>
          </p:nvPr>
        </p:nvPicPr>
        <p:blipFill>
          <a:blip r:embed="rId2"/>
          <a:stretch>
            <a:fillRect/>
          </a:stretch>
        </p:blipFill>
        <p:spPr>
          <a:xfrm>
            <a:off x="570794" y="1587500"/>
            <a:ext cx="4120444" cy="2317750"/>
          </a:xfrm>
          <a:prstGeom prst="rect">
            <a:avLst/>
          </a:prstGeom>
        </p:spPr>
      </p:pic>
      <p:sp>
        <p:nvSpPr>
          <p:cNvPr id="7" name="CuadroTexto 6">
            <a:extLst>
              <a:ext uri="{FF2B5EF4-FFF2-40B4-BE49-F238E27FC236}">
                <a16:creationId xmlns:a16="http://schemas.microsoft.com/office/drawing/2014/main" id="{C78C1469-CF8D-4E8D-2F4E-E8B4E44F61C3}"/>
              </a:ext>
            </a:extLst>
          </p:cNvPr>
          <p:cNvSpPr txBox="1"/>
          <p:nvPr/>
        </p:nvSpPr>
        <p:spPr>
          <a:xfrm>
            <a:off x="5145969" y="1752591"/>
            <a:ext cx="6096000" cy="1477328"/>
          </a:xfrm>
          <a:prstGeom prst="rect">
            <a:avLst/>
          </a:prstGeom>
          <a:noFill/>
        </p:spPr>
        <p:txBody>
          <a:bodyPr wrap="square">
            <a:spAutoFit/>
          </a:bodyPr>
          <a:lstStyle/>
          <a:p>
            <a:pPr algn="just"/>
            <a:r>
              <a:rPr lang="es-MX" dirty="0"/>
              <a:t>se realizó la conversión de un Autómata Finito No Determinista (AFND) a un Autómata Finito Determinista (AFD) utilizando la herramienta JFLAP. Para ello, primero se construyó el autómata no determinista definiendo sus estados, transiciones y estados de aceptación.</a:t>
            </a:r>
          </a:p>
        </p:txBody>
      </p:sp>
      <p:pic>
        <p:nvPicPr>
          <p:cNvPr id="8" name="Marcador de contenido 3">
            <a:extLst>
              <a:ext uri="{FF2B5EF4-FFF2-40B4-BE49-F238E27FC236}">
                <a16:creationId xmlns:a16="http://schemas.microsoft.com/office/drawing/2014/main" id="{388C2124-CCA2-1501-13A5-E6666D803C6F}"/>
              </a:ext>
            </a:extLst>
          </p:cNvPr>
          <p:cNvPicPr>
            <a:picLocks noChangeAspect="1"/>
          </p:cNvPicPr>
          <p:nvPr/>
        </p:nvPicPr>
        <p:blipFill>
          <a:blip r:embed="rId3"/>
          <a:stretch>
            <a:fillRect/>
          </a:stretch>
        </p:blipFill>
        <p:spPr>
          <a:xfrm>
            <a:off x="6990644" y="4098926"/>
            <a:ext cx="4120444" cy="2317749"/>
          </a:xfrm>
          <a:prstGeom prst="rect">
            <a:avLst/>
          </a:prstGeom>
        </p:spPr>
      </p:pic>
      <p:sp>
        <p:nvSpPr>
          <p:cNvPr id="10" name="CuadroTexto 9">
            <a:extLst>
              <a:ext uri="{FF2B5EF4-FFF2-40B4-BE49-F238E27FC236}">
                <a16:creationId xmlns:a16="http://schemas.microsoft.com/office/drawing/2014/main" id="{DD7FE1DB-0072-E45A-4303-F2A4DBD87950}"/>
              </a:ext>
            </a:extLst>
          </p:cNvPr>
          <p:cNvSpPr txBox="1"/>
          <p:nvPr/>
        </p:nvSpPr>
        <p:spPr>
          <a:xfrm>
            <a:off x="466725" y="4318337"/>
            <a:ext cx="6096000" cy="2031325"/>
          </a:xfrm>
          <a:prstGeom prst="rect">
            <a:avLst/>
          </a:prstGeom>
          <a:noFill/>
        </p:spPr>
        <p:txBody>
          <a:bodyPr wrap="square">
            <a:spAutoFit/>
          </a:bodyPr>
          <a:lstStyle/>
          <a:p>
            <a:pPr algn="just">
              <a:buNone/>
            </a:pPr>
            <a:r>
              <a:rPr lang="es-MX" dirty="0"/>
              <a:t>Una vez ya construido el AFND, se utilizó la opción de conversión disponible en el programa para generar el autómata determinista equivalente. Este proceso se basa en el método de subconjuntos, donde cada estado del AFD representa un conjunto de estados del AFND. De esta forma se obtiene un autómata determinista que reconoce el mismo lenguaje que el autómata original.</a:t>
            </a:r>
          </a:p>
        </p:txBody>
      </p:sp>
    </p:spTree>
    <p:extLst>
      <p:ext uri="{BB962C8B-B14F-4D97-AF65-F5344CB8AC3E}">
        <p14:creationId xmlns:p14="http://schemas.microsoft.com/office/powerpoint/2010/main" val="63814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5D951D-B583-8B4B-F838-D4B2BFBAF77C}"/>
              </a:ext>
            </a:extLst>
          </p:cNvPr>
          <p:cNvSpPr>
            <a:spLocks noGrp="1"/>
          </p:cNvSpPr>
          <p:nvPr>
            <p:ph type="title"/>
          </p:nvPr>
        </p:nvSpPr>
        <p:spPr/>
        <p:txBody>
          <a:bodyPr/>
          <a:lstStyle/>
          <a:p>
            <a:endParaRPr lang="es-MX"/>
          </a:p>
        </p:txBody>
      </p:sp>
      <p:pic>
        <p:nvPicPr>
          <p:cNvPr id="5" name="Marcador de contenido 4">
            <a:extLst>
              <a:ext uri="{FF2B5EF4-FFF2-40B4-BE49-F238E27FC236}">
                <a16:creationId xmlns:a16="http://schemas.microsoft.com/office/drawing/2014/main" id="{2DAC25B1-5F8E-362E-A798-C3BD054DC9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225675"/>
            <a:ext cx="4763911" cy="2679700"/>
          </a:xfrm>
          <a:prstGeom prst="rect">
            <a:avLst/>
          </a:prstGeom>
        </p:spPr>
      </p:pic>
      <p:sp>
        <p:nvSpPr>
          <p:cNvPr id="7" name="CuadroTexto 6">
            <a:extLst>
              <a:ext uri="{FF2B5EF4-FFF2-40B4-BE49-F238E27FC236}">
                <a16:creationId xmlns:a16="http://schemas.microsoft.com/office/drawing/2014/main" id="{29A2B2C7-6BAE-6AE7-C9F3-9CDDAD82A864}"/>
              </a:ext>
            </a:extLst>
          </p:cNvPr>
          <p:cNvSpPr txBox="1"/>
          <p:nvPr/>
        </p:nvSpPr>
        <p:spPr>
          <a:xfrm>
            <a:off x="5762625" y="2142262"/>
            <a:ext cx="6096000" cy="3416320"/>
          </a:xfrm>
          <a:prstGeom prst="rect">
            <a:avLst/>
          </a:prstGeom>
          <a:noFill/>
        </p:spPr>
        <p:txBody>
          <a:bodyPr wrap="square">
            <a:spAutoFit/>
          </a:bodyPr>
          <a:lstStyle/>
          <a:p>
            <a:pPr algn="just"/>
            <a:r>
              <a:rPr lang="es-MX" dirty="0"/>
              <a:t>En la figura se observa, en el lado izquierdo, el AFND inicial, donde algunos estados pueden tener más de una transición para el mismo símbolo. En el lado derecho se muestra el AFD resultante, en el cual cada estado tiene una única transición por cada símbolo del alfabeto. De esta manera se obtiene un autómata determinista que reconoce el mismo lenguaje que el autómata original.</a:t>
            </a:r>
          </a:p>
          <a:p>
            <a:pPr algn="just"/>
            <a:r>
              <a:rPr lang="es-MX" dirty="0"/>
              <a:t>Para realizar esta conversión en JFLAP, se puede utilizar la opción </a:t>
            </a:r>
            <a:r>
              <a:rPr lang="es-MX" dirty="0" err="1"/>
              <a:t>State</a:t>
            </a:r>
            <a:r>
              <a:rPr lang="es-MX" dirty="0"/>
              <a:t> </a:t>
            </a:r>
            <a:r>
              <a:rPr lang="es-MX" dirty="0" err="1"/>
              <a:t>Expander</a:t>
            </a:r>
            <a:r>
              <a:rPr lang="es-MX" dirty="0"/>
              <a:t>, la cual permite observar el proceso paso a paso al ir generando los nuevos estados. También se puede utilizar la opción Complete, que genera automáticamente el autómata determinista fina</a:t>
            </a:r>
          </a:p>
        </p:txBody>
      </p:sp>
    </p:spTree>
    <p:extLst>
      <p:ext uri="{BB962C8B-B14F-4D97-AF65-F5344CB8AC3E}">
        <p14:creationId xmlns:p14="http://schemas.microsoft.com/office/powerpoint/2010/main" val="2575320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6C8D60-3D18-3AEA-94C8-38143A5E63DF}"/>
              </a:ext>
            </a:extLst>
          </p:cNvPr>
          <p:cNvSpPr>
            <a:spLocks noGrp="1"/>
          </p:cNvSpPr>
          <p:nvPr>
            <p:ph type="title"/>
          </p:nvPr>
        </p:nvSpPr>
        <p:spPr/>
        <p:txBody>
          <a:bodyPr/>
          <a:lstStyle/>
          <a:p>
            <a:r>
              <a:rPr lang="es-MX" b="1" dirty="0">
                <a:solidFill>
                  <a:schemeClr val="accent1"/>
                </a:solidFill>
              </a:rPr>
              <a:t>Representación de expresiones regulares mediante AFND</a:t>
            </a:r>
          </a:p>
        </p:txBody>
      </p:sp>
      <p:pic>
        <p:nvPicPr>
          <p:cNvPr id="5" name="Marcador de contenido 4">
            <a:extLst>
              <a:ext uri="{FF2B5EF4-FFF2-40B4-BE49-F238E27FC236}">
                <a16:creationId xmlns:a16="http://schemas.microsoft.com/office/drawing/2014/main" id="{C033449C-A378-5D35-F84A-A4008691CE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16868"/>
            <a:ext cx="2322182" cy="3490913"/>
          </a:xfrm>
          <a:prstGeom prst="rect">
            <a:avLst/>
          </a:prstGeom>
        </p:spPr>
      </p:pic>
      <p:pic>
        <p:nvPicPr>
          <p:cNvPr id="10" name="Marcador de contenido 3">
            <a:extLst>
              <a:ext uri="{FF2B5EF4-FFF2-40B4-BE49-F238E27FC236}">
                <a16:creationId xmlns:a16="http://schemas.microsoft.com/office/drawing/2014/main" id="{F8916809-EEE9-5942-6EF3-58A90DFA20A3}"/>
              </a:ext>
            </a:extLst>
          </p:cNvPr>
          <p:cNvPicPr>
            <a:picLocks noChangeAspect="1"/>
          </p:cNvPicPr>
          <p:nvPr/>
        </p:nvPicPr>
        <p:blipFill>
          <a:blip r:embed="rId3"/>
          <a:stretch>
            <a:fillRect/>
          </a:stretch>
        </p:blipFill>
        <p:spPr>
          <a:xfrm>
            <a:off x="6762751" y="1690688"/>
            <a:ext cx="5020732" cy="2824162"/>
          </a:xfrm>
          <a:prstGeom prst="rect">
            <a:avLst/>
          </a:prstGeom>
        </p:spPr>
      </p:pic>
      <p:sp>
        <p:nvSpPr>
          <p:cNvPr id="12" name="CuadroTexto 11">
            <a:extLst>
              <a:ext uri="{FF2B5EF4-FFF2-40B4-BE49-F238E27FC236}">
                <a16:creationId xmlns:a16="http://schemas.microsoft.com/office/drawing/2014/main" id="{0F2C431D-A521-F626-6F22-468EA4A49F2B}"/>
              </a:ext>
            </a:extLst>
          </p:cNvPr>
          <p:cNvSpPr txBox="1"/>
          <p:nvPr/>
        </p:nvSpPr>
        <p:spPr>
          <a:xfrm>
            <a:off x="3294691" y="2239566"/>
            <a:ext cx="3333750" cy="2585323"/>
          </a:xfrm>
          <a:prstGeom prst="rect">
            <a:avLst/>
          </a:prstGeom>
          <a:noFill/>
        </p:spPr>
        <p:txBody>
          <a:bodyPr wrap="square">
            <a:spAutoFit/>
          </a:bodyPr>
          <a:lstStyle/>
          <a:p>
            <a:pPr algn="just">
              <a:buNone/>
            </a:pPr>
            <a:r>
              <a:rPr lang="es-MX" dirty="0"/>
              <a:t>se utilizó la opción </a:t>
            </a:r>
            <a:r>
              <a:rPr lang="es-MX" b="1" dirty="0"/>
              <a:t>Regular </a:t>
            </a:r>
            <a:r>
              <a:rPr lang="es-MX" b="1" dirty="0" err="1"/>
              <a:t>Expression</a:t>
            </a:r>
            <a:r>
              <a:rPr lang="es-MX" dirty="0"/>
              <a:t>, la cual permite representar una expresión regular mediante un autómata finito.</a:t>
            </a:r>
          </a:p>
          <a:p>
            <a:pPr algn="just">
              <a:buNone/>
            </a:pPr>
            <a:r>
              <a:rPr lang="es-MX" dirty="0"/>
              <a:t>Primero se definió una expresión regular que describe un conjunto de cadenas dentro de un lenguaje. </a:t>
            </a:r>
          </a:p>
        </p:txBody>
      </p:sp>
    </p:spTree>
    <p:extLst>
      <p:ext uri="{BB962C8B-B14F-4D97-AF65-F5344CB8AC3E}">
        <p14:creationId xmlns:p14="http://schemas.microsoft.com/office/powerpoint/2010/main" val="247363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298C3E92-4FFB-1EC2-3FE4-E8708C816413}"/>
              </a:ext>
            </a:extLst>
          </p:cNvPr>
          <p:cNvSpPr txBox="1"/>
          <p:nvPr/>
        </p:nvSpPr>
        <p:spPr>
          <a:xfrm>
            <a:off x="6096000" y="1711325"/>
            <a:ext cx="4943475" cy="3693319"/>
          </a:xfrm>
          <a:prstGeom prst="rect">
            <a:avLst/>
          </a:prstGeom>
          <a:noFill/>
        </p:spPr>
        <p:txBody>
          <a:bodyPr wrap="square">
            <a:spAutoFit/>
          </a:bodyPr>
          <a:lstStyle/>
          <a:p>
            <a:pPr algn="just"/>
            <a:r>
              <a:rPr lang="es-MX" dirty="0"/>
              <a:t>El programa generó el Autómata Finito No Determinista (AFND) correspondiente, mostrando los estados y las transiciones que permiten reconocer las cadenas definidas por la expresión regular. De esta manera fue posible observar cómo las expresiones regulares pueden representarse mediante autómatas.</a:t>
            </a:r>
          </a:p>
          <a:p>
            <a:pPr algn="just"/>
            <a:r>
              <a:rPr lang="es-MX" dirty="0"/>
              <a:t>Se utilizó la opción </a:t>
            </a:r>
            <a:r>
              <a:rPr lang="es-MX" i="1" dirty="0"/>
              <a:t>Do Step</a:t>
            </a:r>
            <a:r>
              <a:rPr lang="es-MX" dirty="0"/>
              <a:t> dentro de la herramienta JFLAP. Esta opción permite realizar la construcción del autómata paso a paso, mostrando cómo se van generando nuevos estados y transiciones.</a:t>
            </a:r>
          </a:p>
          <a:p>
            <a:pPr algn="just">
              <a:buNone/>
            </a:pPr>
            <a:endParaRPr lang="es-MX" dirty="0"/>
          </a:p>
        </p:txBody>
      </p:sp>
      <p:pic>
        <p:nvPicPr>
          <p:cNvPr id="14" name="Marcador de contenido 13">
            <a:extLst>
              <a:ext uri="{FF2B5EF4-FFF2-40B4-BE49-F238E27FC236}">
                <a16:creationId xmlns:a16="http://schemas.microsoft.com/office/drawing/2014/main" id="{EE264062-BF3A-030E-2491-3FB655090FAA}"/>
              </a:ext>
            </a:extLst>
          </p:cNvPr>
          <p:cNvPicPr>
            <a:picLocks noGrp="1" noChangeAspect="1"/>
          </p:cNvPicPr>
          <p:nvPr>
            <p:ph idx="1"/>
          </p:nvPr>
        </p:nvPicPr>
        <p:blipFill>
          <a:blip r:embed="rId2"/>
          <a:stretch>
            <a:fillRect/>
          </a:stretch>
        </p:blipFill>
        <p:spPr>
          <a:xfrm>
            <a:off x="1180394" y="577850"/>
            <a:ext cx="4406196" cy="2478486"/>
          </a:xfrm>
          <a:prstGeom prst="rect">
            <a:avLst/>
          </a:prstGeom>
        </p:spPr>
      </p:pic>
      <p:pic>
        <p:nvPicPr>
          <p:cNvPr id="17" name="Marcador de contenido 3">
            <a:extLst>
              <a:ext uri="{FF2B5EF4-FFF2-40B4-BE49-F238E27FC236}">
                <a16:creationId xmlns:a16="http://schemas.microsoft.com/office/drawing/2014/main" id="{E79D4486-8A39-CFB8-305A-5C3669FB7129}"/>
              </a:ext>
            </a:extLst>
          </p:cNvPr>
          <p:cNvPicPr>
            <a:picLocks noChangeAspect="1"/>
          </p:cNvPicPr>
          <p:nvPr/>
        </p:nvPicPr>
        <p:blipFill>
          <a:blip r:embed="rId3"/>
          <a:stretch>
            <a:fillRect/>
          </a:stretch>
        </p:blipFill>
        <p:spPr>
          <a:xfrm>
            <a:off x="1180394" y="3649721"/>
            <a:ext cx="4406196" cy="2478485"/>
          </a:xfrm>
          <a:prstGeom prst="rect">
            <a:avLst/>
          </a:prstGeom>
        </p:spPr>
      </p:pic>
    </p:spTree>
    <p:extLst>
      <p:ext uri="{BB962C8B-B14F-4D97-AF65-F5344CB8AC3E}">
        <p14:creationId xmlns:p14="http://schemas.microsoft.com/office/powerpoint/2010/main" val="3054889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Marcador de contenido 6">
            <a:extLst>
              <a:ext uri="{FF2B5EF4-FFF2-40B4-BE49-F238E27FC236}">
                <a16:creationId xmlns:a16="http://schemas.microsoft.com/office/drawing/2014/main" id="{5397FFBA-660C-5411-838F-6BD19B576E31}"/>
              </a:ext>
            </a:extLst>
          </p:cNvPr>
          <p:cNvPicPr>
            <a:picLocks noGrp="1" noChangeAspect="1"/>
          </p:cNvPicPr>
          <p:nvPr>
            <p:ph idx="1"/>
          </p:nvPr>
        </p:nvPicPr>
        <p:blipFill>
          <a:blip r:embed="rId2"/>
          <a:stretch>
            <a:fillRect/>
          </a:stretch>
        </p:blipFill>
        <p:spPr>
          <a:xfrm>
            <a:off x="838200" y="357128"/>
            <a:ext cx="7543800" cy="4243387"/>
          </a:xfrm>
          <a:prstGeom prst="rect">
            <a:avLst/>
          </a:prstGeom>
        </p:spPr>
      </p:pic>
      <p:sp>
        <p:nvSpPr>
          <p:cNvPr id="11" name="CuadroTexto 10">
            <a:extLst>
              <a:ext uri="{FF2B5EF4-FFF2-40B4-BE49-F238E27FC236}">
                <a16:creationId xmlns:a16="http://schemas.microsoft.com/office/drawing/2014/main" id="{54DE49F3-FF81-71A6-1650-FA56A3E0BBC9}"/>
              </a:ext>
            </a:extLst>
          </p:cNvPr>
          <p:cNvSpPr txBox="1"/>
          <p:nvPr/>
        </p:nvSpPr>
        <p:spPr>
          <a:xfrm>
            <a:off x="838200" y="4818013"/>
            <a:ext cx="9553575" cy="1477328"/>
          </a:xfrm>
          <a:prstGeom prst="rect">
            <a:avLst/>
          </a:prstGeom>
          <a:noFill/>
        </p:spPr>
        <p:txBody>
          <a:bodyPr wrap="square">
            <a:spAutoFit/>
          </a:bodyPr>
          <a:lstStyle/>
          <a:p>
            <a:pPr algn="just"/>
            <a:r>
              <a:rPr lang="es-MX" dirty="0"/>
              <a:t>En un inicio el autómata cuenta con pocos estados; sin embargo, al avanzar en el proceso mediante Do Step, el programa va creando nuevos estados que representan las diferentes combinaciones posibles dentro del autómata. De esta manera es posible observar cómo el autómata se construye gradualmente hasta obtener la representación completa que permite reconocer todas las cadenas del lenguaje definido por la expresión regular.</a:t>
            </a:r>
          </a:p>
        </p:txBody>
      </p:sp>
    </p:spTree>
    <p:extLst>
      <p:ext uri="{BB962C8B-B14F-4D97-AF65-F5344CB8AC3E}">
        <p14:creationId xmlns:p14="http://schemas.microsoft.com/office/powerpoint/2010/main" val="2787825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DFEC77AD-D5CB-2E2F-30FD-1E78AA936B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093" y="606425"/>
            <a:ext cx="4757523" cy="2676107"/>
          </a:xfrm>
          <a:prstGeom prst="rect">
            <a:avLst/>
          </a:prstGeom>
        </p:spPr>
      </p:pic>
      <p:sp>
        <p:nvSpPr>
          <p:cNvPr id="9" name="CuadroTexto 8">
            <a:extLst>
              <a:ext uri="{FF2B5EF4-FFF2-40B4-BE49-F238E27FC236}">
                <a16:creationId xmlns:a16="http://schemas.microsoft.com/office/drawing/2014/main" id="{6B36D0B5-A35D-3C73-6CC5-BB86A81D75D7}"/>
              </a:ext>
            </a:extLst>
          </p:cNvPr>
          <p:cNvSpPr txBox="1"/>
          <p:nvPr/>
        </p:nvSpPr>
        <p:spPr>
          <a:xfrm>
            <a:off x="5619750" y="448092"/>
            <a:ext cx="5887156" cy="5632311"/>
          </a:xfrm>
          <a:prstGeom prst="rect">
            <a:avLst/>
          </a:prstGeom>
          <a:noFill/>
        </p:spPr>
        <p:txBody>
          <a:bodyPr wrap="square">
            <a:spAutoFit/>
          </a:bodyPr>
          <a:lstStyle/>
          <a:p>
            <a:pPr algn="just"/>
            <a:r>
              <a:rPr lang="es-MX" dirty="0"/>
              <a:t>construido el Autómata Finito No Determinista (AFND) a partir de la expresión regular, se utilizó la función del menú </a:t>
            </a:r>
            <a:r>
              <a:rPr lang="es-MX" dirty="0" err="1"/>
              <a:t>Convert</a:t>
            </a:r>
            <a:r>
              <a:rPr lang="es-MX" dirty="0"/>
              <a:t>, la cual permite realizar diferentes transformaciones sobre el autómata. La opción </a:t>
            </a:r>
            <a:r>
              <a:rPr lang="es-MX" dirty="0" err="1"/>
              <a:t>Convert</a:t>
            </a:r>
            <a:r>
              <a:rPr lang="es-MX" dirty="0"/>
              <a:t> </a:t>
            </a:r>
            <a:r>
              <a:rPr lang="es-MX" dirty="0" err="1"/>
              <a:t>to</a:t>
            </a:r>
            <a:r>
              <a:rPr lang="es-MX" dirty="0"/>
              <a:t> DFA permite transformar el autómata no determinista en un Autómata Finito Determinista (AFD).</a:t>
            </a:r>
          </a:p>
          <a:p>
            <a:endParaRPr lang="es-MX" dirty="0"/>
          </a:p>
          <a:p>
            <a:endParaRPr lang="es-MX" dirty="0"/>
          </a:p>
          <a:p>
            <a:endParaRPr lang="es-MX" dirty="0"/>
          </a:p>
          <a:p>
            <a:endParaRPr lang="es-MX" dirty="0"/>
          </a:p>
          <a:p>
            <a:endParaRPr lang="es-MX" dirty="0"/>
          </a:p>
          <a:p>
            <a:endParaRPr lang="es-MX" dirty="0"/>
          </a:p>
          <a:p>
            <a:pPr algn="just"/>
            <a:r>
              <a:rPr lang="es-MX" dirty="0"/>
              <a:t>Este proceso genera un nuevo autómata donde cada estado tiene una única transición por cada símbolo del alfabeto, manteniendo el lenguaje reconocido por el autómata original.</a:t>
            </a:r>
          </a:p>
          <a:p>
            <a:pPr algn="just"/>
            <a:r>
              <a:rPr lang="es-MX" dirty="0"/>
              <a:t>De esta manera, el programa permite observar cómo un autómata inicialmente complejo puede ser transformado y analizado mediante las herramientas de conversión que ofrece JFLAP.</a:t>
            </a:r>
          </a:p>
        </p:txBody>
      </p:sp>
      <p:pic>
        <p:nvPicPr>
          <p:cNvPr id="10" name="Marcador de contenido 3">
            <a:extLst>
              <a:ext uri="{FF2B5EF4-FFF2-40B4-BE49-F238E27FC236}">
                <a16:creationId xmlns:a16="http://schemas.microsoft.com/office/drawing/2014/main" id="{9DDC4E4A-D8B6-F6C7-8F8C-E93C53915F63}"/>
              </a:ext>
            </a:extLst>
          </p:cNvPr>
          <p:cNvPicPr>
            <a:picLocks noChangeAspect="1"/>
          </p:cNvPicPr>
          <p:nvPr/>
        </p:nvPicPr>
        <p:blipFill>
          <a:blip r:embed="rId3"/>
          <a:stretch>
            <a:fillRect/>
          </a:stretch>
        </p:blipFill>
        <p:spPr>
          <a:xfrm>
            <a:off x="685094" y="3733801"/>
            <a:ext cx="4757523" cy="2676107"/>
          </a:xfrm>
          <a:prstGeom prst="rect">
            <a:avLst/>
          </a:prstGeom>
        </p:spPr>
      </p:pic>
    </p:spTree>
    <p:extLst>
      <p:ext uri="{BB962C8B-B14F-4D97-AF65-F5344CB8AC3E}">
        <p14:creationId xmlns:p14="http://schemas.microsoft.com/office/powerpoint/2010/main" val="2163082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0B3186-2652-88AA-E8E4-07438C3D258B}"/>
              </a:ext>
            </a:extLst>
          </p:cNvPr>
          <p:cNvSpPr>
            <a:spLocks noGrp="1"/>
          </p:cNvSpPr>
          <p:nvPr>
            <p:ph type="title"/>
          </p:nvPr>
        </p:nvSpPr>
        <p:spPr/>
        <p:txBody>
          <a:bodyPr/>
          <a:lstStyle/>
          <a:p>
            <a:r>
              <a:rPr lang="es-MX" b="1" dirty="0">
                <a:solidFill>
                  <a:schemeClr val="accent1"/>
                </a:solidFill>
              </a:rPr>
              <a:t>Minimización de estados en un Autómata Finito</a:t>
            </a:r>
          </a:p>
        </p:txBody>
      </p:sp>
      <p:pic>
        <p:nvPicPr>
          <p:cNvPr id="7" name="Marcador de contenido 6">
            <a:extLst>
              <a:ext uri="{FF2B5EF4-FFF2-40B4-BE49-F238E27FC236}">
                <a16:creationId xmlns:a16="http://schemas.microsoft.com/office/drawing/2014/main" id="{5C66DA77-9768-B70E-FD56-CD81D52C642F}"/>
              </a:ext>
            </a:extLst>
          </p:cNvPr>
          <p:cNvPicPr>
            <a:picLocks noGrp="1" noChangeAspect="1"/>
          </p:cNvPicPr>
          <p:nvPr>
            <p:ph idx="1"/>
          </p:nvPr>
        </p:nvPicPr>
        <p:blipFill>
          <a:blip r:embed="rId2"/>
          <a:stretch>
            <a:fillRect/>
          </a:stretch>
        </p:blipFill>
        <p:spPr>
          <a:xfrm>
            <a:off x="686152" y="1619448"/>
            <a:ext cx="4419248" cy="2485827"/>
          </a:xfrm>
          <a:prstGeom prst="rect">
            <a:avLst/>
          </a:prstGeom>
        </p:spPr>
      </p:pic>
      <p:pic>
        <p:nvPicPr>
          <p:cNvPr id="9" name="Imagen 8">
            <a:extLst>
              <a:ext uri="{FF2B5EF4-FFF2-40B4-BE49-F238E27FC236}">
                <a16:creationId xmlns:a16="http://schemas.microsoft.com/office/drawing/2014/main" id="{811BA693-CE69-9AE5-CC7C-ED9A421B67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085" y="4286250"/>
            <a:ext cx="4545190" cy="2556669"/>
          </a:xfrm>
          <a:prstGeom prst="rect">
            <a:avLst/>
          </a:prstGeom>
        </p:spPr>
      </p:pic>
      <p:sp>
        <p:nvSpPr>
          <p:cNvPr id="18" name="CuadroTexto 17">
            <a:extLst>
              <a:ext uri="{FF2B5EF4-FFF2-40B4-BE49-F238E27FC236}">
                <a16:creationId xmlns:a16="http://schemas.microsoft.com/office/drawing/2014/main" id="{E43AB833-402C-DCAF-96C0-450EFE6B4E28}"/>
              </a:ext>
            </a:extLst>
          </p:cNvPr>
          <p:cNvSpPr txBox="1"/>
          <p:nvPr/>
        </p:nvSpPr>
        <p:spPr>
          <a:xfrm>
            <a:off x="5257800" y="1690688"/>
            <a:ext cx="6096000" cy="1754326"/>
          </a:xfrm>
          <a:prstGeom prst="rect">
            <a:avLst/>
          </a:prstGeom>
          <a:noFill/>
        </p:spPr>
        <p:txBody>
          <a:bodyPr wrap="square">
            <a:spAutoFit/>
          </a:bodyPr>
          <a:lstStyle/>
          <a:p>
            <a:r>
              <a:rPr lang="es-MX" dirty="0"/>
              <a:t>Se realizó el proceso de </a:t>
            </a:r>
            <a:r>
              <a:rPr lang="es-MX" b="1" dirty="0"/>
              <a:t>minimización de un Autómata Finito Determinista (AFD)</a:t>
            </a:r>
            <a:r>
              <a:rPr lang="es-MX" dirty="0"/>
              <a:t>. La minimización consiste en reducir el número de estados de un autómata sin modificar el lenguaje que reconoce.</a:t>
            </a:r>
          </a:p>
          <a:p>
            <a:r>
              <a:rPr lang="es-MX" dirty="0"/>
              <a:t>se construyó el autómata determinista con sus respectivos estados, transiciones y estado de aceptación. </a:t>
            </a:r>
          </a:p>
        </p:txBody>
      </p:sp>
      <p:pic>
        <p:nvPicPr>
          <p:cNvPr id="21" name="Imagen 20">
            <a:extLst>
              <a:ext uri="{FF2B5EF4-FFF2-40B4-BE49-F238E27FC236}">
                <a16:creationId xmlns:a16="http://schemas.microsoft.com/office/drawing/2014/main" id="{A0F7E0DA-8CD5-A1F8-D432-31DBB080D4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0451" y="4224525"/>
            <a:ext cx="4419248" cy="2485827"/>
          </a:xfrm>
          <a:prstGeom prst="rect">
            <a:avLst/>
          </a:prstGeom>
        </p:spPr>
      </p:pic>
    </p:spTree>
    <p:extLst>
      <p:ext uri="{BB962C8B-B14F-4D97-AF65-F5344CB8AC3E}">
        <p14:creationId xmlns:p14="http://schemas.microsoft.com/office/powerpoint/2010/main" val="21562360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a:extLst>
              <a:ext uri="{FF2B5EF4-FFF2-40B4-BE49-F238E27FC236}">
                <a16:creationId xmlns:a16="http://schemas.microsoft.com/office/drawing/2014/main" id="{A3BF9E64-BF0E-EDAE-24F5-45B505FA49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5839" y="333375"/>
            <a:ext cx="3427061" cy="1927722"/>
          </a:xfrm>
          <a:prstGeom prst="rect">
            <a:avLst/>
          </a:prstGeom>
        </p:spPr>
      </p:pic>
      <p:pic>
        <p:nvPicPr>
          <p:cNvPr id="5" name="Marcador de contenido 4">
            <a:extLst>
              <a:ext uri="{FF2B5EF4-FFF2-40B4-BE49-F238E27FC236}">
                <a16:creationId xmlns:a16="http://schemas.microsoft.com/office/drawing/2014/main" id="{8DEED1B9-D10D-EEA8-4D59-1A2711BC34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839" y="2571750"/>
            <a:ext cx="3427061" cy="1927722"/>
          </a:xfrm>
          <a:prstGeom prst="rect">
            <a:avLst/>
          </a:prstGeom>
        </p:spPr>
      </p:pic>
      <p:pic>
        <p:nvPicPr>
          <p:cNvPr id="7" name="Imagen 6">
            <a:extLst>
              <a:ext uri="{FF2B5EF4-FFF2-40B4-BE49-F238E27FC236}">
                <a16:creationId xmlns:a16="http://schemas.microsoft.com/office/drawing/2014/main" id="{1C9B253E-C4D3-D1EE-FAD7-F023F46C67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5839" y="4703299"/>
            <a:ext cx="3427063" cy="1927723"/>
          </a:xfrm>
          <a:prstGeom prst="rect">
            <a:avLst/>
          </a:prstGeom>
        </p:spPr>
      </p:pic>
      <p:sp>
        <p:nvSpPr>
          <p:cNvPr id="10" name="CuadroTexto 9">
            <a:extLst>
              <a:ext uri="{FF2B5EF4-FFF2-40B4-BE49-F238E27FC236}">
                <a16:creationId xmlns:a16="http://schemas.microsoft.com/office/drawing/2014/main" id="{A5E4F165-74C9-EBD6-36AA-2D3BDB3B2851}"/>
              </a:ext>
            </a:extLst>
          </p:cNvPr>
          <p:cNvSpPr txBox="1"/>
          <p:nvPr/>
        </p:nvSpPr>
        <p:spPr>
          <a:xfrm>
            <a:off x="4752975" y="617422"/>
            <a:ext cx="6096000" cy="5355312"/>
          </a:xfrm>
          <a:prstGeom prst="rect">
            <a:avLst/>
          </a:prstGeom>
          <a:noFill/>
        </p:spPr>
        <p:txBody>
          <a:bodyPr wrap="square">
            <a:spAutoFit/>
          </a:bodyPr>
          <a:lstStyle/>
          <a:p>
            <a:pPr algn="just">
              <a:buNone/>
            </a:pPr>
            <a:r>
              <a:rPr lang="es-MX" dirty="0"/>
              <a:t>Una vez obtenido el Autómata Finito Determinista (AFD), se utilizó la opción del menú </a:t>
            </a:r>
            <a:r>
              <a:rPr lang="es-MX" dirty="0" err="1"/>
              <a:t>Convert</a:t>
            </a:r>
            <a:r>
              <a:rPr lang="es-MX" dirty="0"/>
              <a:t>- </a:t>
            </a:r>
            <a:r>
              <a:rPr lang="es-MX" dirty="0" err="1"/>
              <a:t>Minimize</a:t>
            </a:r>
            <a:r>
              <a:rPr lang="es-MX" dirty="0"/>
              <a:t> DFA para iniciar el proceso de minimización. En esta función permite analizar el autómata determinista con el objetivo de reducir el número de estados sin modificar el lenguaje.</a:t>
            </a:r>
          </a:p>
          <a:p>
            <a:pPr algn="just">
              <a:buNone/>
            </a:pPr>
            <a:endParaRPr lang="es-MX" dirty="0"/>
          </a:p>
          <a:p>
            <a:pPr algn="just">
              <a:buNone/>
            </a:pPr>
            <a:r>
              <a:rPr lang="es-MX" dirty="0"/>
              <a:t>Durante este procedimiento, el programa examina el comportamiento de cada estado frente a los símbolos del alfabeto para identificar estados equivalentes. En las imágenes se puede observar cómo el sistema va agrupando los estados que presentan el mismo comportamiento, formando conjuntos que posteriormente serán representados como un solo estado en el autómata minimizado.</a:t>
            </a:r>
          </a:p>
          <a:p>
            <a:pPr algn="just">
              <a:buNone/>
            </a:pPr>
            <a:endParaRPr lang="es-MX" dirty="0"/>
          </a:p>
          <a:p>
            <a:pPr algn="just">
              <a:buNone/>
            </a:pPr>
            <a:r>
              <a:rPr lang="es-MX" dirty="0"/>
              <a:t>el autómata minimizado, en el cual los estados equivalentes han sido agrupados. Como resultado se genera un autómata más simple y con menos estados, pero que mantiene exactamente el mismo lenguaje reconocido que el autómata determinista original.</a:t>
            </a:r>
          </a:p>
        </p:txBody>
      </p:sp>
    </p:spTree>
    <p:extLst>
      <p:ext uri="{BB962C8B-B14F-4D97-AF65-F5344CB8AC3E}">
        <p14:creationId xmlns:p14="http://schemas.microsoft.com/office/powerpoint/2010/main" val="2181713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2A5667-C912-4A4B-2B2B-C6DF75F09331}"/>
              </a:ext>
            </a:extLst>
          </p:cNvPr>
          <p:cNvSpPr>
            <a:spLocks noGrp="1"/>
          </p:cNvSpPr>
          <p:nvPr>
            <p:ph type="title"/>
          </p:nvPr>
        </p:nvSpPr>
        <p:spPr/>
        <p:txBody>
          <a:bodyPr/>
          <a:lstStyle/>
          <a:p>
            <a:r>
              <a:rPr lang="es-MX" b="1" dirty="0">
                <a:solidFill>
                  <a:schemeClr val="accent1"/>
                </a:solidFill>
              </a:rPr>
              <a:t>Resultados</a:t>
            </a:r>
          </a:p>
        </p:txBody>
      </p:sp>
      <p:sp>
        <p:nvSpPr>
          <p:cNvPr id="9" name="Marcador de contenido 8">
            <a:extLst>
              <a:ext uri="{FF2B5EF4-FFF2-40B4-BE49-F238E27FC236}">
                <a16:creationId xmlns:a16="http://schemas.microsoft.com/office/drawing/2014/main" id="{D065E4C1-493A-49A6-AB51-79B1CFC420F9}"/>
              </a:ext>
            </a:extLst>
          </p:cNvPr>
          <p:cNvSpPr>
            <a:spLocks noGrp="1"/>
          </p:cNvSpPr>
          <p:nvPr>
            <p:ph idx="1"/>
          </p:nvPr>
        </p:nvSpPr>
        <p:spPr/>
        <p:txBody>
          <a:bodyPr>
            <a:normAutofit lnSpcReduction="10000"/>
          </a:bodyPr>
          <a:lstStyle/>
          <a:p>
            <a:pPr marL="0" indent="0" algn="just">
              <a:buNone/>
            </a:pPr>
            <a:r>
              <a:rPr lang="es-MX" dirty="0"/>
              <a:t>la realización de la práctica se analiza el funcionamiento de los autómatas finitos utilizando la herramienta JFLAP. A través de los diferentes ejercicios se logró construir autómatas a partir de expresiones regulares, así como realizar la conversión de Autómatas Finitos No Deterministas (AFND) a Autómatas Finitos Deterministas (AFD).</a:t>
            </a:r>
          </a:p>
          <a:p>
            <a:pPr marL="0" indent="0" algn="just">
              <a:buNone/>
            </a:pPr>
            <a:r>
              <a:rPr lang="es-MX" dirty="0"/>
              <a:t>Asimismo, fue posible observar el proceso de generación de estados mediante herramientas como Do Step, así como la transformación de los autómatas utilizando las opciones </a:t>
            </a:r>
            <a:r>
              <a:rPr lang="es-MX" dirty="0" err="1"/>
              <a:t>Convert</a:t>
            </a:r>
            <a:r>
              <a:rPr lang="es-MX" dirty="0"/>
              <a:t> </a:t>
            </a:r>
            <a:r>
              <a:rPr lang="es-MX" dirty="0" err="1"/>
              <a:t>to</a:t>
            </a:r>
            <a:r>
              <a:rPr lang="es-MX" dirty="0"/>
              <a:t> DFA y </a:t>
            </a:r>
            <a:r>
              <a:rPr lang="es-MX" dirty="0" err="1"/>
              <a:t>Minimize</a:t>
            </a:r>
            <a:r>
              <a:rPr lang="es-MX" dirty="0"/>
              <a:t> DFA. Esto permitió comprender de manera más clara cómo los autómatas pueden representarse, transformarse y simplificarse sin alterar el lenguaje que reconocen.</a:t>
            </a:r>
          </a:p>
          <a:p>
            <a:endParaRPr lang="es-MX" dirty="0"/>
          </a:p>
        </p:txBody>
      </p:sp>
    </p:spTree>
    <p:extLst>
      <p:ext uri="{BB962C8B-B14F-4D97-AF65-F5344CB8AC3E}">
        <p14:creationId xmlns:p14="http://schemas.microsoft.com/office/powerpoint/2010/main" val="1437515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p:txBody>
          <a:bodyPr>
            <a:normAutofit fontScale="92500"/>
          </a:bodyPr>
          <a:lstStyle/>
          <a:p>
            <a:pPr marL="0" indent="0">
              <a:buNone/>
            </a:pPr>
            <a:r>
              <a:rPr lang="es-MX" sz="4400" b="1" dirty="0">
                <a:solidFill>
                  <a:schemeClr val="accent1"/>
                </a:solidFill>
                <a:latin typeface="+mj-lt"/>
              </a:rPr>
              <a:t>Conclusión</a:t>
            </a:r>
          </a:p>
          <a:p>
            <a:pPr marL="0" indent="0">
              <a:buNone/>
            </a:pPr>
            <a:endParaRPr lang="es-MX" dirty="0"/>
          </a:p>
          <a:p>
            <a:pPr marL="0" indent="0" algn="just">
              <a:buNone/>
            </a:pPr>
            <a:r>
              <a:rPr lang="es-MX" dirty="0"/>
              <a:t>La práctica permitió comprender de una manera más clara el funcionamiento de los </a:t>
            </a:r>
            <a:r>
              <a:rPr lang="es-MX" b="1" dirty="0"/>
              <a:t>autómatas finitos</a:t>
            </a:r>
            <a:r>
              <a:rPr lang="es-MX" dirty="0"/>
              <a:t> dentro de la teoría de lenguajes formales. Mediante el uso de la herramienta </a:t>
            </a:r>
            <a:r>
              <a:rPr lang="es-MX" b="1" dirty="0"/>
              <a:t>JFLAP</a:t>
            </a:r>
            <a:r>
              <a:rPr lang="es-MX" dirty="0"/>
              <a:t> fue posible construir autómatas a partir de expresiones regulares, así como analizar el proceso de conversión de </a:t>
            </a:r>
            <a:r>
              <a:rPr lang="es-MX" b="1" dirty="0"/>
              <a:t>AFND a AFD</a:t>
            </a:r>
            <a:r>
              <a:rPr lang="es-MX" dirty="0"/>
              <a:t> y la </a:t>
            </a:r>
            <a:r>
              <a:rPr lang="es-MX" b="1" dirty="0"/>
              <a:t>minimización de estados</a:t>
            </a:r>
            <a:r>
              <a:rPr lang="es-MX" dirty="0"/>
              <a:t>.</a:t>
            </a:r>
          </a:p>
          <a:p>
            <a:pPr marL="0" indent="0" algn="just">
              <a:buNone/>
            </a:pPr>
            <a:r>
              <a:rPr lang="es-MX" dirty="0"/>
              <a:t>Con estas herramientas facilitan la visualización de los diferentes procesos que intervienen en el análisis de autómatas, permitiendo  reforzar  así los conocimientos teóricos mediante su aplicación práctica.</a:t>
            </a:r>
          </a:p>
          <a:p>
            <a:pPr marL="0" indent="0" algn="just">
              <a:buNone/>
            </a:pPr>
            <a:endParaRPr lang="es-MX" dirty="0"/>
          </a:p>
          <a:p>
            <a:endParaRPr lang="es-MX" dirty="0"/>
          </a:p>
        </p:txBody>
      </p:sp>
    </p:spTree>
    <p:extLst>
      <p:ext uri="{BB962C8B-B14F-4D97-AF65-F5344CB8AC3E}">
        <p14:creationId xmlns:p14="http://schemas.microsoft.com/office/powerpoint/2010/main" val="4155922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A54FE77-291F-6D16-F325-E56C3DDE4617}"/>
              </a:ext>
            </a:extLst>
          </p:cNvPr>
          <p:cNvSpPr>
            <a:spLocks noGrp="1"/>
          </p:cNvSpPr>
          <p:nvPr>
            <p:ph idx="1"/>
          </p:nvPr>
        </p:nvSpPr>
        <p:spPr/>
        <p:txBody>
          <a:bodyPr>
            <a:normAutofit fontScale="92500" lnSpcReduction="10000"/>
          </a:bodyPr>
          <a:lstStyle/>
          <a:p>
            <a:pPr marL="0" indent="0">
              <a:buNone/>
            </a:pPr>
            <a:r>
              <a:rPr lang="en-US" sz="4400" b="1" dirty="0">
                <a:solidFill>
                  <a:schemeClr val="accent1"/>
                </a:solidFill>
                <a:latin typeface="+mj-lt"/>
              </a:rPr>
              <a:t>Fuente De Informacion</a:t>
            </a:r>
            <a:endParaRPr lang="es-MX" sz="4400" b="1" dirty="0">
              <a:solidFill>
                <a:schemeClr val="accent1"/>
              </a:solidFill>
              <a:latin typeface="+mj-lt"/>
            </a:endParaRPr>
          </a:p>
          <a:p>
            <a:pPr marL="0" indent="0">
              <a:buNone/>
            </a:pPr>
            <a:endParaRPr lang="es-MX" dirty="0"/>
          </a:p>
          <a:p>
            <a:pPr>
              <a:buFont typeface="Wingdings" panose="05000000000000000000" pitchFamily="2" charset="2"/>
              <a:buChar char="Ø"/>
            </a:pPr>
            <a:r>
              <a:rPr lang="es-MX" dirty="0"/>
              <a:t>Conversión de AFND a AFD utilizando JFLAP.</a:t>
            </a:r>
            <a:br>
              <a:rPr lang="es-MX" dirty="0"/>
            </a:br>
            <a:r>
              <a:rPr lang="es-MX" dirty="0">
                <a:hlinkClick r:id="rId2">
                  <a:extLst>
                    <a:ext uri="{A12FA001-AC4F-418D-AE19-62706E023703}">
                      <ahyp:hlinkClr xmlns:ahyp="http://schemas.microsoft.com/office/drawing/2018/hyperlinkcolor" val="tx"/>
                    </a:ext>
                  </a:extLst>
                </a:hlinkClick>
              </a:rPr>
              <a:t>https://youtu.be/qFA1dZxhpDk</a:t>
            </a:r>
            <a:endParaRPr lang="es-MX" dirty="0"/>
          </a:p>
          <a:p>
            <a:pPr>
              <a:buFont typeface="Wingdings" panose="05000000000000000000" pitchFamily="2" charset="2"/>
              <a:buChar char="Ø"/>
            </a:pPr>
            <a:r>
              <a:rPr lang="es-MX" dirty="0"/>
              <a:t>Representación de expresiones regulares mediante autómatas en JFLAP.</a:t>
            </a:r>
            <a:br>
              <a:rPr lang="es-MX" dirty="0"/>
            </a:br>
            <a:r>
              <a:rPr lang="es-MX" dirty="0">
                <a:hlinkClick r:id="rId3">
                  <a:extLst>
                    <a:ext uri="{A12FA001-AC4F-418D-AE19-62706E023703}">
                      <ahyp:hlinkClr xmlns:ahyp="http://schemas.microsoft.com/office/drawing/2018/hyperlinkcolor" val="tx"/>
                    </a:ext>
                  </a:extLst>
                </a:hlinkClick>
              </a:rPr>
              <a:t>https://youtu.be/8wK9Dxfrdps</a:t>
            </a:r>
            <a:endParaRPr lang="es-MX" dirty="0"/>
          </a:p>
          <a:p>
            <a:pPr>
              <a:buFont typeface="Wingdings" panose="05000000000000000000" pitchFamily="2" charset="2"/>
              <a:buChar char="Ø"/>
            </a:pPr>
            <a:r>
              <a:rPr lang="es-MX" dirty="0"/>
              <a:t>Minimización de autómatas finitos utilizando JFLAP.</a:t>
            </a:r>
            <a:br>
              <a:rPr lang="es-MX" dirty="0"/>
            </a:br>
            <a:r>
              <a:rPr lang="es-MX" dirty="0">
                <a:hlinkClick r:id="rId4">
                  <a:extLst>
                    <a:ext uri="{A12FA001-AC4F-418D-AE19-62706E023703}">
                      <ahyp:hlinkClr xmlns:ahyp="http://schemas.microsoft.com/office/drawing/2018/hyperlinkcolor" val="tx"/>
                    </a:ext>
                  </a:extLst>
                </a:hlinkClick>
              </a:rPr>
              <a:t>https://youtu.be/UaqaXPpu76s</a:t>
            </a:r>
            <a:endParaRPr lang="es-MX" dirty="0">
              <a:hlinkClick r:id="rId5">
                <a:extLst>
                  <a:ext uri="{A12FA001-AC4F-418D-AE19-62706E023703}">
                    <ahyp:hlinkClr xmlns:ahyp="http://schemas.microsoft.com/office/drawing/2018/hyperlinkcolor" val="tx"/>
                  </a:ext>
                </a:extLst>
              </a:hlinkClick>
            </a:endParaRPr>
          </a:p>
          <a:p>
            <a:pPr algn="just">
              <a:buFont typeface="Wingdings" panose="05000000000000000000" pitchFamily="2" charset="2"/>
              <a:buChar char="Ø"/>
            </a:pPr>
            <a:r>
              <a:rPr lang="es-MX" dirty="0"/>
              <a:t>LYA1 – Lenguajes y Autómatas I. Repositorio en GitHub.</a:t>
            </a:r>
            <a:br>
              <a:rPr lang="es-MX" dirty="0"/>
            </a:br>
            <a:r>
              <a:rPr lang="es-MX" dirty="0">
                <a:hlinkClick r:id="rId5">
                  <a:extLst>
                    <a:ext uri="{A12FA001-AC4F-418D-AE19-62706E023703}">
                      <ahyp:hlinkClr xmlns:ahyp="http://schemas.microsoft.com/office/drawing/2018/hyperlinkcolor" val="tx"/>
                    </a:ext>
                  </a:extLst>
                </a:hlinkClick>
              </a:rPr>
              <a:t>https://github.com/rafaelrav8770/LYA1.git</a:t>
            </a:r>
            <a:endParaRPr lang="es-MX" dirty="0"/>
          </a:p>
        </p:txBody>
      </p:sp>
    </p:spTree>
    <p:extLst>
      <p:ext uri="{BB962C8B-B14F-4D97-AF65-F5344CB8AC3E}">
        <p14:creationId xmlns:p14="http://schemas.microsoft.com/office/powerpoint/2010/main" val="200353600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TotalTime>
  <Words>1373</Words>
  <Application>Microsoft Office PowerPoint</Application>
  <PresentationFormat>Panorámica</PresentationFormat>
  <Paragraphs>72</Paragraphs>
  <Slides>16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Calibri</vt:lpstr>
      <vt:lpstr>Calibri Light</vt:lpstr>
      <vt:lpstr>Wingdings</vt:lpstr>
      <vt:lpstr>Tema de Office</vt:lpstr>
      <vt:lpstr>Presentación de PowerPoint</vt:lpstr>
      <vt:lpstr>Presentación de PowerPoint</vt:lpstr>
      <vt:lpstr>Presentación de PowerPoint</vt:lpstr>
      <vt:lpstr>Justificacion</vt:lpstr>
      <vt:lpstr>Práctica con la herramienta JFLAP</vt:lpstr>
      <vt:lpstr>Conversión de AFND a AFD</vt:lpstr>
      <vt:lpstr>Presentación de PowerPoint</vt:lpstr>
      <vt:lpstr>Representación de expresiones regulares mediante AFND</vt:lpstr>
      <vt:lpstr>Presentación de PowerPoint</vt:lpstr>
      <vt:lpstr>Presentación de PowerPoint</vt:lpstr>
      <vt:lpstr>Presentación de PowerPoint</vt:lpstr>
      <vt:lpstr>Minimización de estados en un Autómata Finito</vt:lpstr>
      <vt:lpstr>Presentación de PowerPoint</vt:lpstr>
      <vt:lpstr>Resultados</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13</cp:revision>
  <dcterms:created xsi:type="dcterms:W3CDTF">2026-02-14T13:39:49Z</dcterms:created>
  <dcterms:modified xsi:type="dcterms:W3CDTF">2026-03-10T02:53:07Z</dcterms:modified>
</cp:coreProperties>
</file>