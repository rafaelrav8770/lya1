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62" r:id="rId4"/>
    <p:sldId id="267" r:id="rId5"/>
    <p:sldId id="268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78" r:id="rId14"/>
    <p:sldId id="279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14/02/2026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6D08AB-61BB-EEE3-6719-CF79ED3E24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790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7" b="20603"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LENGUAJES Y AUTOMATAS 1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1.3 –BANCO DE EJERCICIOS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943100" y="607006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06</a:t>
            </a:r>
            <a:r>
              <a:rPr lang="es-MX" sz="2000" b="1" ker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FEBRERO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1BE557D-A0FC-B3DC-7988-CE5D6EE8C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960544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4AC19-6C54-FA7A-AE87-739748DE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8D01A-7046-678A-60D3-687416C4A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MX" dirty="0"/>
              <a:t>La Teoría de Lenguajes Formales se constituye en el estudio de la Ciencia de la Computación, ya que proporciona el marco matemático para describir y analizar los sistemas de procesamiento de información. se abordan conceptos esenciales como alfabeto (Σ), cadena, longitud de cadena, lenguaje formal y las operaciones fundamentales entre lenguajes.</a:t>
            </a:r>
          </a:p>
          <a:p>
            <a:pPr marL="0" indent="0" algn="just">
              <a:buNone/>
            </a:pPr>
            <a:r>
              <a:rPr lang="es-MX" dirty="0"/>
              <a:t>Un alfabeto se define como un conjunto finito y no vacío de símbolos, a partir del cual se construyen cadenas mediante combinaciones finitas de dichos elementos. El conjunto de todas las cadenas posibles sobre un alfabeto determinado se representa como Σ*, incluyendo la cadena vacía ε. Un lenguaje formal es, entonces, cualquier subconjunto de Σ*.</a:t>
            </a:r>
          </a:p>
          <a:p>
            <a:pPr marL="0" indent="0" algn="just">
              <a:buNone/>
            </a:pPr>
            <a:r>
              <a:rPr lang="es-MX" dirty="0"/>
              <a:t>El presente banco de ejercicios tiene finalidad aplicar de manera práctica estos conceptos, desarrollando ejercicios relacionados con la construcción de alfabetos, identificación y análisis de cadenas, así como operaciones fundamentales como la unión, la concatenación y la cerradura de Kleene. A través de estos ejercicios se refuerza la comprensión formal.</a:t>
            </a:r>
          </a:p>
        </p:txBody>
      </p:sp>
    </p:spTree>
    <p:extLst>
      <p:ext uri="{BB962C8B-B14F-4D97-AF65-F5344CB8AC3E}">
        <p14:creationId xmlns:p14="http://schemas.microsoft.com/office/powerpoint/2010/main" val="425968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EEC4F-F53C-F3DD-3E1E-CA3FC409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Alfabeto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A6F926-4397-3443-6032-507E29713E8B}"/>
              </a:ext>
            </a:extLst>
          </p:cNvPr>
          <p:cNvSpPr txBox="1"/>
          <p:nvPr/>
        </p:nvSpPr>
        <p:spPr>
          <a:xfrm>
            <a:off x="7581899" y="1466493"/>
            <a:ext cx="36861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Cadena:</a:t>
            </a:r>
          </a:p>
          <a:p>
            <a:pPr>
              <a:buNone/>
            </a:pPr>
            <a:r>
              <a:rPr lang="es-MX" dirty="0"/>
              <a:t>9611140754</a:t>
            </a:r>
          </a:p>
          <a:p>
            <a:pPr>
              <a:buNone/>
            </a:pPr>
            <a:r>
              <a:rPr lang="es-MX" dirty="0"/>
              <a:t>Números sin repetir:</a:t>
            </a:r>
          </a:p>
          <a:p>
            <a:pPr>
              <a:buNone/>
            </a:pPr>
            <a:r>
              <a:rPr lang="es-MX" dirty="0"/>
              <a:t>9 6 1 4 0 7 5</a:t>
            </a:r>
          </a:p>
          <a:p>
            <a:pPr>
              <a:buNone/>
            </a:pPr>
            <a:r>
              <a:rPr lang="es-MX" dirty="0"/>
              <a:t>Ordenados:</a:t>
            </a:r>
          </a:p>
          <a:p>
            <a:pPr>
              <a:buNone/>
            </a:pPr>
            <a:r>
              <a:rPr lang="es-MX" dirty="0"/>
              <a:t>0 1 4 5 6 7 9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Σ = { 0, 1, 4, 5, 6, 7, 9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E3BBF58-2D53-AA3D-A6A4-AED015455000}"/>
              </a:ext>
            </a:extLst>
          </p:cNvPr>
          <p:cNvSpPr txBox="1"/>
          <p:nvPr/>
        </p:nvSpPr>
        <p:spPr>
          <a:xfrm>
            <a:off x="752475" y="146649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Ejercicio 1</a:t>
            </a:r>
          </a:p>
          <a:p>
            <a:pPr>
              <a:buNone/>
            </a:pPr>
            <a:r>
              <a:rPr lang="pt-BR" dirty="0" err="1"/>
              <a:t>Cadena</a:t>
            </a:r>
            <a:r>
              <a:rPr lang="pt-BR" dirty="0"/>
              <a:t>:</a:t>
            </a:r>
          </a:p>
          <a:p>
            <a:pPr>
              <a:buNone/>
            </a:pPr>
            <a:r>
              <a:rPr lang="pt-BR" dirty="0"/>
              <a:t>rav_8770@hotmail.com</a:t>
            </a:r>
          </a:p>
          <a:p>
            <a:pPr>
              <a:buNone/>
            </a:pPr>
            <a:r>
              <a:rPr lang="pt-BR" dirty="0"/>
              <a:t>Símbolos:</a:t>
            </a:r>
          </a:p>
          <a:p>
            <a:pPr>
              <a:buNone/>
            </a:pPr>
            <a:r>
              <a:rPr lang="pt-BR" dirty="0"/>
              <a:t>_ . @</a:t>
            </a:r>
          </a:p>
          <a:p>
            <a:pPr>
              <a:buNone/>
            </a:pPr>
            <a:r>
              <a:rPr lang="pt-BR" dirty="0"/>
              <a:t>Ordenados:</a:t>
            </a:r>
          </a:p>
          <a:p>
            <a:pPr>
              <a:buNone/>
            </a:pPr>
            <a:r>
              <a:rPr lang="pt-BR" dirty="0"/>
              <a:t>. @ _</a:t>
            </a:r>
          </a:p>
          <a:p>
            <a:pPr>
              <a:buNone/>
            </a:pPr>
            <a:r>
              <a:rPr lang="pt-BR" dirty="0"/>
              <a:t>Números:</a:t>
            </a:r>
          </a:p>
          <a:p>
            <a:pPr>
              <a:buNone/>
            </a:pPr>
            <a:r>
              <a:rPr lang="pt-BR" dirty="0"/>
              <a:t>8 7 7 0</a:t>
            </a:r>
          </a:p>
          <a:p>
            <a:pPr>
              <a:buNone/>
            </a:pPr>
            <a:r>
              <a:rPr lang="pt-BR" dirty="0" err="1"/>
              <a:t>Sin</a:t>
            </a:r>
            <a:r>
              <a:rPr lang="pt-BR" dirty="0"/>
              <a:t> repetir y ordenados:</a:t>
            </a:r>
          </a:p>
          <a:p>
            <a:pPr>
              <a:buNone/>
            </a:pPr>
            <a:r>
              <a:rPr lang="pt-BR" dirty="0"/>
              <a:t>0 7 8</a:t>
            </a:r>
          </a:p>
          <a:p>
            <a:pPr>
              <a:buNone/>
            </a:pPr>
            <a:r>
              <a:rPr lang="pt-BR" dirty="0"/>
              <a:t>Letras minúsculas:</a:t>
            </a:r>
          </a:p>
          <a:p>
            <a:pPr>
              <a:buNone/>
            </a:pPr>
            <a:r>
              <a:rPr lang="pt-BR" dirty="0"/>
              <a:t>r a v h o t m a i l c o m</a:t>
            </a:r>
          </a:p>
          <a:p>
            <a:pPr>
              <a:buNone/>
            </a:pPr>
            <a:r>
              <a:rPr lang="pt-BR" dirty="0" err="1"/>
              <a:t>Sin</a:t>
            </a:r>
            <a:r>
              <a:rPr lang="pt-BR" dirty="0"/>
              <a:t> repetir y ordenadas:</a:t>
            </a:r>
          </a:p>
          <a:p>
            <a:pPr>
              <a:buNone/>
            </a:pPr>
            <a:r>
              <a:rPr lang="pt-BR" dirty="0"/>
              <a:t>a c h i l m o r t v</a:t>
            </a:r>
          </a:p>
          <a:p>
            <a:pPr>
              <a:buNone/>
            </a:pPr>
            <a:r>
              <a:rPr lang="pt-BR" dirty="0"/>
              <a:t>Resultado:</a:t>
            </a:r>
          </a:p>
          <a:p>
            <a:pPr>
              <a:buNone/>
            </a:pPr>
            <a:r>
              <a:rPr lang="pt-BR" dirty="0"/>
              <a:t>Σ = { ., @, _, 0, 7, 8, a, c, h, i, l, m, o, r, t, v }</a:t>
            </a:r>
          </a:p>
        </p:txBody>
      </p:sp>
    </p:spTree>
    <p:extLst>
      <p:ext uri="{BB962C8B-B14F-4D97-AF65-F5344CB8AC3E}">
        <p14:creationId xmlns:p14="http://schemas.microsoft.com/office/powerpoint/2010/main" val="4148511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D63F-13AE-2404-8DD8-ADB8C3D2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24E263F-0DB6-AAB8-CBC8-E96E68C8DC60}"/>
              </a:ext>
            </a:extLst>
          </p:cNvPr>
          <p:cNvSpPr txBox="1"/>
          <p:nvPr/>
        </p:nvSpPr>
        <p:spPr>
          <a:xfrm>
            <a:off x="752475" y="1859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Cadena:</a:t>
            </a:r>
          </a:p>
          <a:p>
            <a:pPr>
              <a:buNone/>
            </a:pPr>
            <a:r>
              <a:rPr lang="es-MX" dirty="0"/>
              <a:t>A1b2C3</a:t>
            </a:r>
          </a:p>
          <a:p>
            <a:pPr>
              <a:buNone/>
            </a:pPr>
            <a:r>
              <a:rPr lang="es-MX" dirty="0"/>
              <a:t>Números:</a:t>
            </a:r>
          </a:p>
          <a:p>
            <a:pPr>
              <a:buNone/>
            </a:pPr>
            <a:r>
              <a:rPr lang="es-MX" dirty="0"/>
              <a:t>1 2 3</a:t>
            </a:r>
          </a:p>
          <a:p>
            <a:pPr>
              <a:buNone/>
            </a:pPr>
            <a:r>
              <a:rPr lang="es-MX" dirty="0"/>
              <a:t>Letras minúsculas:</a:t>
            </a:r>
          </a:p>
          <a:p>
            <a:pPr>
              <a:buNone/>
            </a:pPr>
            <a:r>
              <a:rPr lang="es-MX" dirty="0"/>
              <a:t>b</a:t>
            </a:r>
          </a:p>
          <a:p>
            <a:pPr>
              <a:buNone/>
            </a:pPr>
            <a:r>
              <a:rPr lang="es-MX" dirty="0"/>
              <a:t>Letras mayúsculas:</a:t>
            </a:r>
          </a:p>
          <a:p>
            <a:pPr>
              <a:buNone/>
            </a:pPr>
            <a:r>
              <a:rPr lang="es-MX" dirty="0"/>
              <a:t>A C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l-GR" dirty="0"/>
              <a:t>Σ = { 1, 2, 3, </a:t>
            </a:r>
            <a:r>
              <a:rPr lang="es-MX" dirty="0"/>
              <a:t>b, A, C 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D589C2-2D14-C6F6-8770-1583614A7D74}"/>
              </a:ext>
            </a:extLst>
          </p:cNvPr>
          <p:cNvSpPr txBox="1"/>
          <p:nvPr/>
        </p:nvSpPr>
        <p:spPr>
          <a:xfrm>
            <a:off x="3800475" y="1870828"/>
            <a:ext cx="31337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Cadena:</a:t>
            </a:r>
          </a:p>
          <a:p>
            <a:pPr>
              <a:buNone/>
            </a:pPr>
            <a:r>
              <a:rPr lang="es-MX" dirty="0" err="1"/>
              <a:t>x+y-z</a:t>
            </a:r>
            <a:r>
              <a:rPr lang="es-MX" dirty="0"/>
              <a:t>=x</a:t>
            </a:r>
          </a:p>
          <a:p>
            <a:pPr>
              <a:buNone/>
            </a:pPr>
            <a:r>
              <a:rPr lang="es-MX" dirty="0"/>
              <a:t>Símbolos: </a:t>
            </a:r>
          </a:p>
          <a:p>
            <a:pPr>
              <a:buNone/>
            </a:pPr>
            <a:r>
              <a:rPr lang="es-MX" dirty="0"/>
              <a:t>+ - =</a:t>
            </a:r>
          </a:p>
          <a:p>
            <a:pPr>
              <a:buNone/>
            </a:pPr>
            <a:r>
              <a:rPr lang="es-MX" dirty="0"/>
              <a:t>Letras:</a:t>
            </a:r>
          </a:p>
          <a:p>
            <a:pPr>
              <a:buNone/>
            </a:pPr>
            <a:r>
              <a:rPr lang="es-MX" dirty="0"/>
              <a:t>x y z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Σ = { +, -, =, x, y, z 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EEBBFA-18D8-5DC6-D0CB-5F0CE1A5F5A7}"/>
              </a:ext>
            </a:extLst>
          </p:cNvPr>
          <p:cNvSpPr txBox="1"/>
          <p:nvPr/>
        </p:nvSpPr>
        <p:spPr>
          <a:xfrm>
            <a:off x="7667625" y="1859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 err="1"/>
              <a:t>Ejercicio</a:t>
            </a:r>
            <a:r>
              <a:rPr lang="pt-BR" b="1" dirty="0"/>
              <a:t> 5</a:t>
            </a:r>
          </a:p>
          <a:p>
            <a:pPr>
              <a:buNone/>
            </a:pPr>
            <a:r>
              <a:rPr lang="pt-BR" dirty="0" err="1"/>
              <a:t>Cadena</a:t>
            </a:r>
            <a:r>
              <a:rPr lang="pt-BR" dirty="0"/>
              <a:t>:</a:t>
            </a:r>
          </a:p>
          <a:p>
            <a:pPr>
              <a:buNone/>
            </a:pPr>
            <a:r>
              <a:rPr lang="pt-BR" dirty="0" err="1"/>
              <a:t>hello</a:t>
            </a:r>
            <a:endParaRPr lang="pt-BR" dirty="0"/>
          </a:p>
          <a:p>
            <a:pPr>
              <a:buNone/>
            </a:pPr>
            <a:r>
              <a:rPr lang="pt-BR" dirty="0"/>
              <a:t>Letras:</a:t>
            </a:r>
          </a:p>
          <a:p>
            <a:pPr>
              <a:buNone/>
            </a:pPr>
            <a:r>
              <a:rPr lang="pt-BR" dirty="0"/>
              <a:t>h e l </a:t>
            </a:r>
            <a:r>
              <a:rPr lang="pt-BR" dirty="0" err="1"/>
              <a:t>l</a:t>
            </a:r>
            <a:r>
              <a:rPr lang="pt-BR" dirty="0"/>
              <a:t> o</a:t>
            </a:r>
          </a:p>
          <a:p>
            <a:pPr>
              <a:buNone/>
            </a:pPr>
            <a:r>
              <a:rPr lang="pt-BR" dirty="0" err="1"/>
              <a:t>Sin</a:t>
            </a:r>
            <a:r>
              <a:rPr lang="pt-BR" dirty="0"/>
              <a:t> repetir:</a:t>
            </a:r>
          </a:p>
          <a:p>
            <a:pPr>
              <a:buNone/>
            </a:pPr>
            <a:r>
              <a:rPr lang="pt-BR" dirty="0"/>
              <a:t>h e l o</a:t>
            </a:r>
          </a:p>
          <a:p>
            <a:pPr>
              <a:buNone/>
            </a:pPr>
            <a:r>
              <a:rPr lang="pt-BR" dirty="0"/>
              <a:t>Ordenadas:</a:t>
            </a:r>
          </a:p>
          <a:p>
            <a:pPr>
              <a:buNone/>
            </a:pPr>
            <a:r>
              <a:rPr lang="pt-BR" dirty="0"/>
              <a:t>e h l o</a:t>
            </a:r>
          </a:p>
          <a:p>
            <a:pPr>
              <a:buNone/>
            </a:pPr>
            <a:r>
              <a:rPr lang="pt-BR" dirty="0"/>
              <a:t>Resultado:</a:t>
            </a:r>
          </a:p>
          <a:p>
            <a:pPr>
              <a:buNone/>
            </a:pPr>
            <a:r>
              <a:rPr lang="pt-BR" dirty="0"/>
              <a:t>Σ = { e, h, l, o }</a:t>
            </a:r>
          </a:p>
        </p:txBody>
      </p:sp>
    </p:spTree>
    <p:extLst>
      <p:ext uri="{BB962C8B-B14F-4D97-AF65-F5344CB8AC3E}">
        <p14:creationId xmlns:p14="http://schemas.microsoft.com/office/powerpoint/2010/main" val="680715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531C-C802-464F-6CED-8F4E3A62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4AB2C-9E1D-7E66-8556-D5CF571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Cadenas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9A68BD-6EFA-D0F5-7064-AB4EC4BF62B5}"/>
              </a:ext>
            </a:extLst>
          </p:cNvPr>
          <p:cNvSpPr txBox="1"/>
          <p:nvPr/>
        </p:nvSpPr>
        <p:spPr>
          <a:xfrm>
            <a:off x="990600" y="1496311"/>
            <a:ext cx="4133850" cy="4400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b="1" dirty="0"/>
              <a:t>Ejercicio 1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Σ = { a, b }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Cadenas: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b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</a:t>
            </a:r>
            <a:b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bba</a:t>
            </a:r>
            <a:b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ε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Longitud: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|a| = 1</a:t>
            </a:r>
            <a:b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|ab| = 2</a:t>
            </a:r>
            <a:b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s-MX" sz="18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bba</a:t>
            </a: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= 3</a:t>
            </a:r>
            <a:b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|ε| = 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3B01376-D224-009C-FEE1-17D65AEFFE13}"/>
              </a:ext>
            </a:extLst>
          </p:cNvPr>
          <p:cNvSpPr txBox="1"/>
          <p:nvPr/>
        </p:nvSpPr>
        <p:spPr>
          <a:xfrm>
            <a:off x="6096000" y="169068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  <a:endParaRPr lang="es-MX" dirty="0"/>
          </a:p>
          <a:p>
            <a:pPr>
              <a:buNone/>
            </a:pPr>
            <a:r>
              <a:rPr lang="el-GR" dirty="0"/>
              <a:t>Σ = { </a:t>
            </a:r>
            <a:r>
              <a:rPr lang="es-MX" dirty="0"/>
              <a:t>R, S, T, U }</a:t>
            </a:r>
          </a:p>
          <a:p>
            <a:pPr>
              <a:buNone/>
            </a:pPr>
            <a:r>
              <a:rPr lang="es-MX" dirty="0"/>
              <a:t>Cadenas:</a:t>
            </a:r>
          </a:p>
          <a:p>
            <a:pPr>
              <a:buNone/>
            </a:pPr>
            <a:r>
              <a:rPr lang="es-MX" dirty="0"/>
              <a:t>R</a:t>
            </a:r>
            <a:br>
              <a:rPr lang="es-MX" dirty="0"/>
            </a:br>
            <a:r>
              <a:rPr lang="es-MX" dirty="0"/>
              <a:t>ST</a:t>
            </a:r>
            <a:br>
              <a:rPr lang="es-MX" dirty="0"/>
            </a:br>
            <a:r>
              <a:rPr lang="es-MX" dirty="0"/>
              <a:t>RSTU</a:t>
            </a:r>
            <a:br>
              <a:rPr lang="es-MX" dirty="0"/>
            </a:br>
            <a:r>
              <a:rPr lang="es-MX" dirty="0"/>
              <a:t>TSUR</a:t>
            </a:r>
            <a:br>
              <a:rPr lang="es-MX" dirty="0"/>
            </a:br>
            <a:r>
              <a:rPr lang="el-GR" dirty="0"/>
              <a:t>ε</a:t>
            </a:r>
          </a:p>
          <a:p>
            <a:pPr>
              <a:buNone/>
            </a:pPr>
            <a:r>
              <a:rPr lang="es-MX" dirty="0"/>
              <a:t>Longitud:</a:t>
            </a:r>
          </a:p>
          <a:p>
            <a:pPr>
              <a:buNone/>
            </a:pPr>
            <a:r>
              <a:rPr lang="es-MX" dirty="0"/>
              <a:t>|R| = 1</a:t>
            </a:r>
            <a:br>
              <a:rPr lang="es-MX" dirty="0"/>
            </a:br>
            <a:r>
              <a:rPr lang="es-MX" dirty="0"/>
              <a:t>|ST| = 2</a:t>
            </a:r>
            <a:br>
              <a:rPr lang="es-MX" dirty="0"/>
            </a:br>
            <a:r>
              <a:rPr lang="es-MX" dirty="0"/>
              <a:t>|RSTU| = 4</a:t>
            </a:r>
            <a:br>
              <a:rPr lang="es-MX" dirty="0"/>
            </a:br>
            <a:r>
              <a:rPr lang="es-MX" dirty="0"/>
              <a:t>|TSUR| = 4</a:t>
            </a:r>
            <a:br>
              <a:rPr lang="es-MX" dirty="0"/>
            </a:br>
            <a:r>
              <a:rPr lang="es-MX" dirty="0"/>
              <a:t>|</a:t>
            </a:r>
            <a:r>
              <a:rPr lang="el-GR" dirty="0"/>
              <a:t>ε| = 0</a:t>
            </a:r>
          </a:p>
        </p:txBody>
      </p:sp>
    </p:spTree>
    <p:extLst>
      <p:ext uri="{BB962C8B-B14F-4D97-AF65-F5344CB8AC3E}">
        <p14:creationId xmlns:p14="http://schemas.microsoft.com/office/powerpoint/2010/main" val="345392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401E-223C-4D8E-DF89-E858451A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FBB9F0-E958-7226-7E3D-5B4A7385E3D2}"/>
              </a:ext>
            </a:extLst>
          </p:cNvPr>
          <p:cNvSpPr txBox="1"/>
          <p:nvPr/>
        </p:nvSpPr>
        <p:spPr>
          <a:xfrm>
            <a:off x="838200" y="1854190"/>
            <a:ext cx="2133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  <a:endParaRPr lang="es-MX" dirty="0"/>
          </a:p>
          <a:p>
            <a:pPr>
              <a:buNone/>
            </a:pPr>
            <a:r>
              <a:rPr lang="el-GR" dirty="0"/>
              <a:t>Σ = { 0, 1 }</a:t>
            </a:r>
          </a:p>
          <a:p>
            <a:pPr>
              <a:buNone/>
            </a:pPr>
            <a:r>
              <a:rPr lang="es-MX" dirty="0"/>
              <a:t>Cadenas:</a:t>
            </a:r>
          </a:p>
          <a:p>
            <a:pPr>
              <a:buNone/>
            </a:pPr>
            <a:r>
              <a:rPr lang="es-MX" dirty="0"/>
              <a:t>0</a:t>
            </a:r>
            <a:br>
              <a:rPr lang="es-MX" dirty="0"/>
            </a:br>
            <a:r>
              <a:rPr lang="es-MX" dirty="0"/>
              <a:t>10</a:t>
            </a:r>
            <a:br>
              <a:rPr lang="es-MX" dirty="0"/>
            </a:br>
            <a:r>
              <a:rPr lang="es-MX" dirty="0"/>
              <a:t>011</a:t>
            </a:r>
            <a:br>
              <a:rPr lang="es-MX" dirty="0"/>
            </a:br>
            <a:r>
              <a:rPr lang="el-GR" dirty="0"/>
              <a:t>ε</a:t>
            </a:r>
          </a:p>
          <a:p>
            <a:pPr>
              <a:buNone/>
            </a:pPr>
            <a:r>
              <a:rPr lang="es-MX" dirty="0"/>
              <a:t>Longitud:</a:t>
            </a:r>
          </a:p>
          <a:p>
            <a:pPr>
              <a:buNone/>
            </a:pPr>
            <a:r>
              <a:rPr lang="es-MX" dirty="0"/>
              <a:t>|0| = 1</a:t>
            </a:r>
            <a:br>
              <a:rPr lang="es-MX" dirty="0"/>
            </a:br>
            <a:r>
              <a:rPr lang="es-MX" dirty="0"/>
              <a:t>|10| = 2</a:t>
            </a:r>
            <a:br>
              <a:rPr lang="es-MX" dirty="0"/>
            </a:br>
            <a:r>
              <a:rPr lang="es-MX" dirty="0"/>
              <a:t>|011| = 3</a:t>
            </a:r>
            <a:br>
              <a:rPr lang="es-MX" dirty="0"/>
            </a:br>
            <a:r>
              <a:rPr lang="es-MX" dirty="0"/>
              <a:t>|</a:t>
            </a:r>
            <a:r>
              <a:rPr lang="el-GR" dirty="0"/>
              <a:t>ε| = 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DC87B-AE8B-976D-8207-99C8BCD2859E}"/>
              </a:ext>
            </a:extLst>
          </p:cNvPr>
          <p:cNvSpPr txBox="1"/>
          <p:nvPr/>
        </p:nvSpPr>
        <p:spPr>
          <a:xfrm>
            <a:off x="4238625" y="1854190"/>
            <a:ext cx="27622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  <a:endParaRPr lang="es-MX" dirty="0"/>
          </a:p>
          <a:p>
            <a:pPr>
              <a:buNone/>
            </a:pPr>
            <a:r>
              <a:rPr lang="el-GR" dirty="0"/>
              <a:t>Σ = { </a:t>
            </a:r>
            <a:r>
              <a:rPr lang="es-MX" dirty="0"/>
              <a:t>A, B, 1, 2 }</a:t>
            </a:r>
          </a:p>
          <a:p>
            <a:pPr>
              <a:buNone/>
            </a:pPr>
            <a:r>
              <a:rPr lang="es-MX" dirty="0"/>
              <a:t>Cadenas:</a:t>
            </a:r>
          </a:p>
          <a:p>
            <a:pPr>
              <a:buNone/>
            </a:pPr>
            <a:r>
              <a:rPr lang="es-MX" dirty="0"/>
              <a:t>A</a:t>
            </a:r>
            <a:br>
              <a:rPr lang="es-MX" dirty="0"/>
            </a:br>
            <a:r>
              <a:rPr lang="es-MX" dirty="0"/>
              <a:t>B1</a:t>
            </a:r>
            <a:br>
              <a:rPr lang="es-MX" dirty="0"/>
            </a:br>
            <a:r>
              <a:rPr lang="es-MX" dirty="0"/>
              <a:t>12A</a:t>
            </a:r>
            <a:br>
              <a:rPr lang="es-MX" dirty="0"/>
            </a:br>
            <a:r>
              <a:rPr lang="es-MX" dirty="0"/>
              <a:t>AB21</a:t>
            </a:r>
            <a:br>
              <a:rPr lang="es-MX" dirty="0"/>
            </a:br>
            <a:r>
              <a:rPr lang="el-GR" dirty="0"/>
              <a:t>ε</a:t>
            </a:r>
          </a:p>
          <a:p>
            <a:pPr>
              <a:buNone/>
            </a:pPr>
            <a:r>
              <a:rPr lang="es-MX" dirty="0"/>
              <a:t>Longitud:</a:t>
            </a:r>
          </a:p>
          <a:p>
            <a:pPr>
              <a:buNone/>
            </a:pPr>
            <a:r>
              <a:rPr lang="es-MX" dirty="0"/>
              <a:t>|A| = 1</a:t>
            </a:r>
            <a:br>
              <a:rPr lang="es-MX" dirty="0"/>
            </a:br>
            <a:r>
              <a:rPr lang="es-MX" dirty="0"/>
              <a:t>|B1| = 2</a:t>
            </a:r>
            <a:br>
              <a:rPr lang="es-MX" dirty="0"/>
            </a:br>
            <a:r>
              <a:rPr lang="es-MX" dirty="0"/>
              <a:t>|12A| = 3</a:t>
            </a:r>
            <a:br>
              <a:rPr lang="es-MX" dirty="0"/>
            </a:br>
            <a:r>
              <a:rPr lang="es-MX" dirty="0"/>
              <a:t>|AB21| = 4</a:t>
            </a:r>
            <a:br>
              <a:rPr lang="es-MX" dirty="0"/>
            </a:br>
            <a:r>
              <a:rPr lang="es-MX" dirty="0"/>
              <a:t>|</a:t>
            </a:r>
            <a:r>
              <a:rPr lang="el-GR" dirty="0"/>
              <a:t>ε| = 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7DDC8F-40DE-7DAD-9332-B0E2DF7E308A}"/>
              </a:ext>
            </a:extLst>
          </p:cNvPr>
          <p:cNvSpPr txBox="1"/>
          <p:nvPr/>
        </p:nvSpPr>
        <p:spPr>
          <a:xfrm>
            <a:off x="8115300" y="889843"/>
            <a:ext cx="32385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l-GR" dirty="0"/>
              <a:t>Σ = { </a:t>
            </a:r>
            <a:r>
              <a:rPr lang="es-MX" dirty="0"/>
              <a:t>p, q, 3, 4 }</a:t>
            </a:r>
          </a:p>
          <a:p>
            <a:pPr>
              <a:buNone/>
            </a:pPr>
            <a:r>
              <a:rPr lang="es-MX" dirty="0"/>
              <a:t>Cadenas:</a:t>
            </a:r>
          </a:p>
          <a:p>
            <a:pPr>
              <a:buNone/>
            </a:pPr>
            <a:r>
              <a:rPr lang="es-MX" dirty="0"/>
              <a:t>p</a:t>
            </a:r>
            <a:br>
              <a:rPr lang="es-MX" dirty="0"/>
            </a:br>
            <a:r>
              <a:rPr lang="es-MX" dirty="0"/>
              <a:t>q3</a:t>
            </a:r>
            <a:br>
              <a:rPr lang="es-MX" dirty="0"/>
            </a:br>
            <a:r>
              <a:rPr lang="es-MX" dirty="0"/>
              <a:t>34p</a:t>
            </a:r>
            <a:br>
              <a:rPr lang="es-MX" dirty="0"/>
            </a:br>
            <a:r>
              <a:rPr lang="es-MX" dirty="0"/>
              <a:t>pq43</a:t>
            </a:r>
            <a:br>
              <a:rPr lang="es-MX" dirty="0"/>
            </a:br>
            <a:r>
              <a:rPr lang="es-MX" dirty="0"/>
              <a:t>p3q4p</a:t>
            </a:r>
            <a:br>
              <a:rPr lang="es-MX" dirty="0"/>
            </a:br>
            <a:r>
              <a:rPr lang="es-MX" dirty="0"/>
              <a:t>qp34pq</a:t>
            </a:r>
            <a:br>
              <a:rPr lang="es-MX" dirty="0"/>
            </a:br>
            <a:r>
              <a:rPr lang="el-GR" dirty="0"/>
              <a:t>ε</a:t>
            </a:r>
          </a:p>
          <a:p>
            <a:pPr>
              <a:buNone/>
            </a:pPr>
            <a:r>
              <a:rPr lang="es-MX" dirty="0"/>
              <a:t>Longitud:</a:t>
            </a:r>
          </a:p>
          <a:p>
            <a:pPr>
              <a:buNone/>
            </a:pPr>
            <a:r>
              <a:rPr lang="es-MX" dirty="0"/>
              <a:t>|p| = 1</a:t>
            </a:r>
            <a:br>
              <a:rPr lang="es-MX" dirty="0"/>
            </a:br>
            <a:r>
              <a:rPr lang="es-MX" dirty="0"/>
              <a:t>|q3| = 2</a:t>
            </a:r>
            <a:br>
              <a:rPr lang="es-MX" dirty="0"/>
            </a:br>
            <a:r>
              <a:rPr lang="es-MX" dirty="0"/>
              <a:t>|34p| = 3</a:t>
            </a:r>
            <a:br>
              <a:rPr lang="es-MX" dirty="0"/>
            </a:br>
            <a:r>
              <a:rPr lang="es-MX" dirty="0"/>
              <a:t>|pq43| = 4</a:t>
            </a:r>
            <a:br>
              <a:rPr lang="es-MX" dirty="0"/>
            </a:br>
            <a:r>
              <a:rPr lang="es-MX" dirty="0"/>
              <a:t>|p3q4p| = 5</a:t>
            </a:r>
            <a:br>
              <a:rPr lang="es-MX" dirty="0"/>
            </a:br>
            <a:r>
              <a:rPr lang="es-MX" dirty="0"/>
              <a:t>|qp34pq| = 6</a:t>
            </a:r>
            <a:br>
              <a:rPr lang="es-MX" dirty="0"/>
            </a:br>
            <a:r>
              <a:rPr lang="es-MX" dirty="0"/>
              <a:t>|</a:t>
            </a:r>
            <a:r>
              <a:rPr lang="el-GR" dirty="0"/>
              <a:t>ε| = 0</a:t>
            </a:r>
          </a:p>
        </p:txBody>
      </p:sp>
    </p:spTree>
    <p:extLst>
      <p:ext uri="{BB962C8B-B14F-4D97-AF65-F5344CB8AC3E}">
        <p14:creationId xmlns:p14="http://schemas.microsoft.com/office/powerpoint/2010/main" val="86678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4585-DE57-BCF0-FAF7-B79C261F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AB926-BC34-CD1C-AFC4-45B45A7A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de concatenación de cadenas</a:t>
            </a:r>
            <a:endParaRPr lang="es-MX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8554CB9-7EA1-0A61-563E-CAD125903894}"/>
                  </a:ext>
                </a:extLst>
              </p:cNvPr>
              <p:cNvSpPr txBox="1"/>
              <p:nvPr/>
            </p:nvSpPr>
            <p:spPr>
              <a:xfrm>
                <a:off x="1009650" y="1844665"/>
                <a:ext cx="3876675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i="1" dirty="0">
                    <a:latin typeface="Calibri (Cuerpo)"/>
                  </a:rPr>
                  <a:t>Ejercicio 1</a:t>
                </a:r>
                <a:endParaRPr lang="es-MX" b="1" dirty="0">
                  <a:latin typeface="Calibri (Cuerpo)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Sea el alfabeto: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pt-BR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Cadenas: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el</m:t>
                      </m:r>
                    </m:oMath>
                  </m:oMathPara>
                </a14:m>
                <a:endParaRPr lang="es-MX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eon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come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Concatenación: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el · </a:t>
                </a:r>
                <a:r>
                  <a:rPr lang="es-MX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leon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 · come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Resultado: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elleoncome</m:t>
                      </m:r>
                    </m:oMath>
                  </m:oMathPara>
                </a14:m>
                <a:endParaRPr lang="es-MX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8554CB9-7EA1-0A61-563E-CAD125903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1844665"/>
                <a:ext cx="3876675" cy="3416320"/>
              </a:xfrm>
              <a:prstGeom prst="rect">
                <a:avLst/>
              </a:prstGeom>
              <a:blipFill>
                <a:blip r:embed="rId2"/>
                <a:stretch>
                  <a:fillRect l="-1415" t="-10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E7CC304-179E-ABD8-6529-6C2738784E45}"/>
                  </a:ext>
                </a:extLst>
              </p:cNvPr>
              <p:cNvSpPr txBox="1"/>
              <p:nvPr/>
            </p:nvSpPr>
            <p:spPr>
              <a:xfrm>
                <a:off x="4486275" y="1844665"/>
                <a:ext cx="35052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dirty="0"/>
                  <a:t>Ejercicio 2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Sea el alfabeto: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z</m:t>
                      </m:r>
                      <m:r>
                        <m:rPr>
                          <m:nor/>
                        </m:rPr>
                        <a:rPr lang="es-MX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Cadenas: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abc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def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xyz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Concatenación: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abc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 · </a:t>
                </a:r>
                <a:r>
                  <a:rPr lang="es-MX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def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 · </a:t>
                </a:r>
                <a:r>
                  <a:rPr lang="es-MX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xyz</a:t>
                </a:r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Resultado: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abcdefxyz</m:t>
                      </m:r>
                    </m:oMath>
                  </m:oMathPara>
                </a14:m>
                <a:endParaRPr lang="es-MX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E7CC304-179E-ABD8-6529-6C2738784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275" y="1844665"/>
                <a:ext cx="3505200" cy="3416320"/>
              </a:xfrm>
              <a:prstGeom prst="rect">
                <a:avLst/>
              </a:prstGeom>
              <a:blipFill>
                <a:blip r:embed="rId3"/>
                <a:stretch>
                  <a:fillRect l="-1565" t="-1071" b="-7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ABC613-5B3B-25EF-B89D-8800EB1CB434}"/>
                  </a:ext>
                </a:extLst>
              </p:cNvPr>
              <p:cNvSpPr txBox="1"/>
              <p:nvPr/>
            </p:nvSpPr>
            <p:spPr>
              <a:xfrm>
                <a:off x="8220077" y="1844665"/>
                <a:ext cx="371475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dirty="0"/>
                  <a:t>Ejercicio 3</a:t>
                </a:r>
                <a:endParaRPr lang="es-MX" dirty="0"/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Sea el alfabeto:</a:t>
                </a:r>
              </a:p>
              <a:p>
                <a:pPr>
                  <a:buNone/>
                </a:pPr>
                <a:r>
                  <a:rPr lang="el-GR" dirty="0">
                    <a:latin typeface="Arial" panose="020B0604020202020204" pitchFamily="34" charset="0"/>
                    <a:cs typeface="Arial" panose="020B0604020202020204" pitchFamily="34" charset="0"/>
                  </a:rPr>
                  <a:t>Σ = { 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c, a, r, d, o, 4, 5, 6 }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Cadenas: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MX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car</m:t>
                    </m:r>
                  </m:oMath>
                </a14:m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b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ar-AE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456</m:t>
                    </m:r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do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Concatenación</a:t>
                </a:r>
                <a:r>
                  <a:rPr lang="es-MX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car · 456 · do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Resultado: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car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456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do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9ABC613-5B3B-25EF-B89D-8800EB1CB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077" y="1844665"/>
                <a:ext cx="3714750" cy="3416320"/>
              </a:xfrm>
              <a:prstGeom prst="rect">
                <a:avLst/>
              </a:prstGeom>
              <a:blipFill>
                <a:blip r:embed="rId4"/>
                <a:stretch>
                  <a:fillRect l="-1311" t="-10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3852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68EC-9CB1-3879-7594-EFBC9A263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AB7C991-7D1A-3E76-B303-B6740EF9458C}"/>
                  </a:ext>
                </a:extLst>
              </p:cNvPr>
              <p:cNvSpPr txBox="1"/>
              <p:nvPr/>
            </p:nvSpPr>
            <p:spPr>
              <a:xfrm>
                <a:off x="1333500" y="2006590"/>
                <a:ext cx="34671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dirty="0"/>
                  <a:t>Ejercicio 4</a:t>
                </a:r>
                <a:endParaRPr lang="es-MX" dirty="0"/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Sea el alfabeto:</a:t>
                </a:r>
              </a:p>
              <a:p>
                <a:pPr>
                  <a:buNone/>
                </a:pPr>
                <a:r>
                  <a:rPr lang="el-GR" dirty="0">
                    <a:latin typeface="Arial" panose="020B0604020202020204" pitchFamily="34" charset="0"/>
                    <a:cs typeface="Arial" panose="020B0604020202020204" pitchFamily="34" charset="0"/>
                  </a:rPr>
                  <a:t>Σ = { 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X, Y, Z, 1, 2 }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Cadenas: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MX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s-MX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b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MX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YZ</m:t>
                    </m:r>
                  </m:oMath>
                </a14:m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b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ar-AE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X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Concatenación: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w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YZ · X1 · 2X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Resultado: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YZX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12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X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AB7C991-7D1A-3E76-B303-B6740EF9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" y="2006590"/>
                <a:ext cx="3467100" cy="3416320"/>
              </a:xfrm>
              <a:prstGeom prst="rect">
                <a:avLst/>
              </a:prstGeom>
              <a:blipFill>
                <a:blip r:embed="rId2"/>
                <a:stretch>
                  <a:fillRect l="-1582" t="-8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B6F0CCD-2A28-61F6-D432-B7747A5CB024}"/>
                  </a:ext>
                </a:extLst>
              </p:cNvPr>
              <p:cNvSpPr txBox="1"/>
              <p:nvPr/>
            </p:nvSpPr>
            <p:spPr>
              <a:xfrm>
                <a:off x="5715000" y="2006590"/>
                <a:ext cx="60960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b="1" dirty="0"/>
                  <a:t>Ejercicio 5</a:t>
                </a:r>
                <a:endParaRPr lang="es-MX" dirty="0"/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Sea el alfabeto:</a:t>
                </a:r>
              </a:p>
              <a:p>
                <a:pPr>
                  <a:buNone/>
                </a:pPr>
                <a:r>
                  <a:rPr lang="el-GR" dirty="0">
                    <a:latin typeface="Arial" panose="020B0604020202020204" pitchFamily="34" charset="0"/>
                    <a:cs typeface="Arial" panose="020B0604020202020204" pitchFamily="34" charset="0"/>
                  </a:rPr>
                  <a:t>Σ = { 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G, a, m, e, o, v, r, 8, 7, 9, 0 }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Cadenas: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MX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Game</m:t>
                    </m:r>
                  </m:oMath>
                </a14:m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b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AE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ar-AE" b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8790</m:t>
                    </m:r>
                  </m:oMath>
                </a14:m>
                <a: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  <a:t>  </a:t>
                </a:r>
                <a:br>
                  <a:rPr lang="ar-AE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over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Concatenación: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s-MX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Game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 · </a:t>
                </a:r>
                <a:r>
                  <a:rPr lang="es-MX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 · 8790</a:t>
                </a:r>
              </a:p>
              <a:p>
                <a:pPr>
                  <a:buNone/>
                </a:pPr>
                <a:r>
                  <a:rPr lang="es-MX" dirty="0">
                    <a:latin typeface="Arial" panose="020B0604020202020204" pitchFamily="34" charset="0"/>
                    <a:cs typeface="Arial" panose="020B0604020202020204" pitchFamily="34" charset="0"/>
                  </a:rPr>
                  <a:t>Resultado: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ar-AE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Gameover</m:t>
                      </m:r>
                      <m:r>
                        <m:rPr>
                          <m:nor/>
                        </m:rPr>
                        <a:rPr lang="es-MX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8790</m:t>
                      </m:r>
                    </m:oMath>
                  </m:oMathPara>
                </a14:m>
                <a:endParaRPr lang="es-MX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B6F0CCD-2A28-61F6-D432-B7747A5CB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006590"/>
                <a:ext cx="6096000" cy="3416320"/>
              </a:xfrm>
              <a:prstGeom prst="rect">
                <a:avLst/>
              </a:prstGeom>
              <a:blipFill>
                <a:blip r:embed="rId3"/>
                <a:stretch>
                  <a:fillRect l="-900" t="-8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299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F5F12-0E5E-589D-A5E8-C027E43D3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D3852-8012-A8AA-5A39-221B55DF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de unión de lenguajes</a:t>
            </a:r>
            <a:endParaRPr lang="es-MX" dirty="0">
              <a:solidFill>
                <a:schemeClr val="accent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12F074-0DA8-EA1C-8BBB-4088BD21554D}"/>
              </a:ext>
            </a:extLst>
          </p:cNvPr>
          <p:cNvSpPr txBox="1"/>
          <p:nvPr/>
        </p:nvSpPr>
        <p:spPr>
          <a:xfrm>
            <a:off x="1047750" y="2121664"/>
            <a:ext cx="36766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l-GR" dirty="0"/>
              <a:t>Σ = { </a:t>
            </a:r>
            <a:r>
              <a:rPr lang="es-MX" dirty="0"/>
              <a:t>a, b }</a:t>
            </a:r>
          </a:p>
          <a:p>
            <a:pPr>
              <a:buNone/>
            </a:pPr>
            <a:r>
              <a:rPr lang="es-MX" dirty="0"/>
              <a:t>Lenguajes:</a:t>
            </a:r>
            <a:br>
              <a:rPr lang="es-MX" dirty="0"/>
            </a:br>
            <a:r>
              <a:rPr lang="es-MX" dirty="0"/>
              <a:t>L₁ = { a, ab }</a:t>
            </a:r>
            <a:br>
              <a:rPr lang="es-MX" dirty="0"/>
            </a:br>
            <a:r>
              <a:rPr lang="es-MX" dirty="0"/>
              <a:t>L₂ = { b, </a:t>
            </a:r>
            <a:r>
              <a:rPr lang="es-MX" dirty="0" err="1"/>
              <a:t>bb</a:t>
            </a:r>
            <a:r>
              <a:rPr lang="es-MX" dirty="0"/>
              <a:t> }</a:t>
            </a:r>
          </a:p>
          <a:p>
            <a:pPr>
              <a:buNone/>
            </a:pPr>
            <a:r>
              <a:rPr lang="es-MX" dirty="0"/>
              <a:t>Unión:</a:t>
            </a:r>
            <a:br>
              <a:rPr lang="es-MX" dirty="0"/>
            </a:b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L₁ ∪ L₂ = { a, ab, b, </a:t>
            </a:r>
            <a:r>
              <a:rPr lang="es-MX" dirty="0" err="1"/>
              <a:t>bb</a:t>
            </a:r>
            <a:r>
              <a:rPr lang="es-MX" dirty="0"/>
              <a:t> 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7D975C-E233-0568-D05C-590E394BCF1D}"/>
              </a:ext>
            </a:extLst>
          </p:cNvPr>
          <p:cNvSpPr txBox="1"/>
          <p:nvPr/>
        </p:nvSpPr>
        <p:spPr>
          <a:xfrm>
            <a:off x="4724400" y="2121664"/>
            <a:ext cx="27051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l-GR" dirty="0"/>
              <a:t>Σ = { 0, 1 }</a:t>
            </a:r>
          </a:p>
          <a:p>
            <a:pPr>
              <a:buNone/>
            </a:pPr>
            <a:r>
              <a:rPr lang="es-MX" dirty="0"/>
              <a:t>Lenguajes:</a:t>
            </a:r>
            <a:br>
              <a:rPr lang="es-MX" dirty="0"/>
            </a:br>
            <a:r>
              <a:rPr lang="es-MX" dirty="0"/>
              <a:t>L₁ = { 0, 01 }</a:t>
            </a:r>
            <a:br>
              <a:rPr lang="es-MX" dirty="0"/>
            </a:br>
            <a:r>
              <a:rPr lang="es-MX" dirty="0"/>
              <a:t>L₂ = { 1, 10 }</a:t>
            </a:r>
          </a:p>
          <a:p>
            <a:pPr>
              <a:buNone/>
            </a:pPr>
            <a:r>
              <a:rPr lang="es-MX" dirty="0"/>
              <a:t>Unión:</a:t>
            </a:r>
            <a:br>
              <a:rPr lang="es-MX" dirty="0"/>
            </a:b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L₁ ∪ L₂ = { 0, 01, 1, 10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2C7B415-C321-1C0D-4D0C-EAB4DF7F1457}"/>
              </a:ext>
            </a:extLst>
          </p:cNvPr>
          <p:cNvSpPr txBox="1"/>
          <p:nvPr/>
        </p:nvSpPr>
        <p:spPr>
          <a:xfrm>
            <a:off x="8039100" y="2121664"/>
            <a:ext cx="25622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l-GR" dirty="0"/>
              <a:t>Σ = { </a:t>
            </a:r>
            <a:r>
              <a:rPr lang="es-MX" dirty="0"/>
              <a:t>X, Y }</a:t>
            </a:r>
          </a:p>
          <a:p>
            <a:pPr>
              <a:buNone/>
            </a:pPr>
            <a:r>
              <a:rPr lang="es-MX" dirty="0"/>
              <a:t>Lenguajes:</a:t>
            </a:r>
            <a:br>
              <a:rPr lang="es-MX" dirty="0"/>
            </a:br>
            <a:r>
              <a:rPr lang="es-MX" dirty="0"/>
              <a:t>L₁ = { X, XY }</a:t>
            </a:r>
            <a:br>
              <a:rPr lang="es-MX" dirty="0"/>
            </a:br>
            <a:r>
              <a:rPr lang="es-MX" dirty="0"/>
              <a:t>L₂ = { Y, YX }</a:t>
            </a:r>
          </a:p>
          <a:p>
            <a:pPr>
              <a:buNone/>
            </a:pPr>
            <a:r>
              <a:rPr lang="es-MX" dirty="0"/>
              <a:t>Unión:</a:t>
            </a:r>
            <a:br>
              <a:rPr lang="es-MX" dirty="0"/>
            </a:b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L₁ ∪ L₂ = { X, XY, Y, YX }</a:t>
            </a:r>
          </a:p>
        </p:txBody>
      </p:sp>
    </p:spTree>
    <p:extLst>
      <p:ext uri="{BB962C8B-B14F-4D97-AF65-F5344CB8AC3E}">
        <p14:creationId xmlns:p14="http://schemas.microsoft.com/office/powerpoint/2010/main" val="2877654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E8E4-E1CE-80A9-DFFC-265129746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D1F832B-A25F-B37A-DDD6-72735161246A}"/>
              </a:ext>
            </a:extLst>
          </p:cNvPr>
          <p:cNvSpPr txBox="1"/>
          <p:nvPr/>
        </p:nvSpPr>
        <p:spPr>
          <a:xfrm>
            <a:off x="1200150" y="2235964"/>
            <a:ext cx="39528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s-MX" dirty="0"/>
              <a:t>Σ = { 1, 2, A }</a:t>
            </a:r>
          </a:p>
          <a:p>
            <a:pPr>
              <a:buNone/>
            </a:pPr>
            <a:r>
              <a:rPr lang="es-MX" dirty="0"/>
              <a:t>Lenguajes:</a:t>
            </a:r>
            <a:br>
              <a:rPr lang="es-MX" dirty="0"/>
            </a:br>
            <a:r>
              <a:rPr lang="es-MX" dirty="0"/>
              <a:t>L₁ = { 1A, 2A }</a:t>
            </a:r>
            <a:br>
              <a:rPr lang="es-MX" dirty="0"/>
            </a:br>
            <a:r>
              <a:rPr lang="es-MX" dirty="0"/>
              <a:t>L₂ = { A1, A2 }</a:t>
            </a:r>
          </a:p>
          <a:p>
            <a:pPr>
              <a:buNone/>
            </a:pPr>
            <a:r>
              <a:rPr lang="es-MX" dirty="0"/>
              <a:t>Unión:</a:t>
            </a:r>
            <a:br>
              <a:rPr lang="es-MX" dirty="0"/>
            </a:b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L₁ ∪ L₂ = { 1A, 2A, A1, A2 }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498369-2E61-2330-50C3-29431369CE1D}"/>
              </a:ext>
            </a:extLst>
          </p:cNvPr>
          <p:cNvSpPr txBox="1"/>
          <p:nvPr/>
        </p:nvSpPr>
        <p:spPr>
          <a:xfrm>
            <a:off x="6096000" y="216928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l-GR" dirty="0"/>
              <a:t>Σ = { </a:t>
            </a:r>
            <a:r>
              <a:rPr lang="es-MX" dirty="0"/>
              <a:t>m, n }</a:t>
            </a:r>
          </a:p>
          <a:p>
            <a:pPr>
              <a:buNone/>
            </a:pPr>
            <a:r>
              <a:rPr lang="es-MX" dirty="0"/>
              <a:t>Lenguajes:</a:t>
            </a:r>
            <a:br>
              <a:rPr lang="es-MX" dirty="0"/>
            </a:br>
            <a:r>
              <a:rPr lang="es-MX" dirty="0"/>
              <a:t>L₁ = { m, </a:t>
            </a:r>
            <a:r>
              <a:rPr lang="es-MX" dirty="0" err="1"/>
              <a:t>mn</a:t>
            </a:r>
            <a:r>
              <a:rPr lang="es-MX" dirty="0"/>
              <a:t> }</a:t>
            </a:r>
            <a:br>
              <a:rPr lang="es-MX" dirty="0"/>
            </a:br>
            <a:r>
              <a:rPr lang="es-MX" dirty="0"/>
              <a:t>L₂ = { n, nm }</a:t>
            </a:r>
          </a:p>
          <a:p>
            <a:pPr>
              <a:buNone/>
            </a:pPr>
            <a:r>
              <a:rPr lang="es-MX" dirty="0"/>
              <a:t>Unión:</a:t>
            </a:r>
            <a:br>
              <a:rPr lang="es-MX" dirty="0"/>
            </a:br>
            <a:r>
              <a:rPr lang="es-MX" dirty="0"/>
              <a:t>L₁ ∪ L₂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L₁ ∪ L₂ = { m, </a:t>
            </a:r>
            <a:r>
              <a:rPr lang="es-MX" dirty="0" err="1"/>
              <a:t>mn</a:t>
            </a:r>
            <a:r>
              <a:rPr lang="es-MX" dirty="0"/>
              <a:t>, n, nm }</a:t>
            </a:r>
          </a:p>
        </p:txBody>
      </p:sp>
    </p:spTree>
    <p:extLst>
      <p:ext uri="{BB962C8B-B14F-4D97-AF65-F5344CB8AC3E}">
        <p14:creationId xmlns:p14="http://schemas.microsoft.com/office/powerpoint/2010/main" val="1744453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6BFA-4D8F-86D0-958B-C2E3B463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2598C-226A-B971-E887-935C707A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Ejercicio de Cerradura de </a:t>
            </a:r>
            <a:r>
              <a:rPr lang="es-MX" b="1" dirty="0" err="1">
                <a:solidFill>
                  <a:schemeClr val="accent1"/>
                </a:solidFill>
              </a:rPr>
              <a:t>kleene</a:t>
            </a:r>
            <a:r>
              <a:rPr lang="es-MX" b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CD48A0-3FBE-14E7-0248-16695BBADC43}"/>
              </a:ext>
            </a:extLst>
          </p:cNvPr>
          <p:cNvSpPr txBox="1"/>
          <p:nvPr/>
        </p:nvSpPr>
        <p:spPr>
          <a:xfrm>
            <a:off x="990600" y="2336364"/>
            <a:ext cx="5105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1</a:t>
            </a:r>
          </a:p>
          <a:p>
            <a:pPr>
              <a:buNone/>
            </a:pPr>
            <a:r>
              <a:rPr lang="es-MX" dirty="0"/>
              <a:t>Sea el alfabeto:</a:t>
            </a:r>
          </a:p>
          <a:p>
            <a:pPr>
              <a:buNone/>
            </a:pPr>
            <a:r>
              <a:rPr lang="el-GR" dirty="0"/>
              <a:t>Σ = { </a:t>
            </a:r>
            <a:r>
              <a:rPr lang="es-MX" dirty="0"/>
              <a:t>a, b }</a:t>
            </a:r>
          </a:p>
          <a:p>
            <a:pPr>
              <a:buNone/>
            </a:pPr>
            <a:r>
              <a:rPr lang="es-MX" dirty="0"/>
              <a:t>Lenguaje:</a:t>
            </a:r>
          </a:p>
          <a:p>
            <a:pPr>
              <a:buNone/>
            </a:pPr>
            <a:r>
              <a:rPr lang="es-MX" dirty="0"/>
              <a:t>L = { a, b }</a:t>
            </a:r>
          </a:p>
          <a:p>
            <a:pPr>
              <a:buNone/>
            </a:pPr>
            <a:r>
              <a:rPr lang="es-MX" dirty="0"/>
              <a:t>Cerradura:</a:t>
            </a:r>
          </a:p>
          <a:p>
            <a:pPr>
              <a:buNone/>
            </a:pP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</a:p>
          <a:p>
            <a:pPr>
              <a:buNone/>
            </a:pPr>
            <a:r>
              <a:rPr lang="es-MX" dirty="0"/>
              <a:t>L* = { </a:t>
            </a:r>
            <a:r>
              <a:rPr lang="el-GR" dirty="0"/>
              <a:t>ε, </a:t>
            </a:r>
            <a:r>
              <a:rPr lang="es-MX" dirty="0"/>
              <a:t>a, b, </a:t>
            </a:r>
            <a:r>
              <a:rPr lang="es-MX" dirty="0" err="1"/>
              <a:t>aa</a:t>
            </a:r>
            <a:r>
              <a:rPr lang="es-MX" dirty="0"/>
              <a:t>, ab, </a:t>
            </a:r>
            <a:r>
              <a:rPr lang="es-MX" dirty="0" err="1"/>
              <a:t>ba</a:t>
            </a:r>
            <a:r>
              <a:rPr lang="es-MX" dirty="0"/>
              <a:t>, </a:t>
            </a:r>
            <a:r>
              <a:rPr lang="es-MX" dirty="0" err="1"/>
              <a:t>bb</a:t>
            </a:r>
            <a:r>
              <a:rPr lang="es-MX" dirty="0"/>
              <a:t>, </a:t>
            </a:r>
            <a:r>
              <a:rPr lang="es-MX" dirty="0" err="1"/>
              <a:t>aaa</a:t>
            </a:r>
            <a:r>
              <a:rPr lang="es-MX" dirty="0"/>
              <a:t>, </a:t>
            </a:r>
            <a:r>
              <a:rPr lang="es-MX" dirty="0" err="1"/>
              <a:t>aab</a:t>
            </a:r>
            <a:r>
              <a:rPr lang="es-MX" dirty="0"/>
              <a:t>, aba, </a:t>
            </a:r>
            <a:r>
              <a:rPr lang="es-MX" dirty="0" err="1"/>
              <a:t>abb</a:t>
            </a:r>
            <a:r>
              <a:rPr lang="es-MX" dirty="0"/>
              <a:t>, ... 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D763C8-2FE9-6C69-C01A-CED1D765B9AD}"/>
              </a:ext>
            </a:extLst>
          </p:cNvPr>
          <p:cNvSpPr txBox="1"/>
          <p:nvPr/>
        </p:nvSpPr>
        <p:spPr>
          <a:xfrm>
            <a:off x="6553200" y="233636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2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s-MX" dirty="0"/>
              <a:t>Σ = { 0, 1 }</a:t>
            </a:r>
          </a:p>
          <a:p>
            <a:pPr>
              <a:buNone/>
            </a:pPr>
            <a:r>
              <a:rPr lang="es-MX" dirty="0"/>
              <a:t>Lenguaje:</a:t>
            </a:r>
            <a:br>
              <a:rPr lang="es-MX" dirty="0"/>
            </a:br>
            <a:r>
              <a:rPr lang="es-MX" dirty="0"/>
              <a:t>L = { 0 }</a:t>
            </a:r>
          </a:p>
          <a:p>
            <a:pPr>
              <a:buNone/>
            </a:pPr>
            <a:r>
              <a:rPr lang="es-MX" dirty="0"/>
              <a:t>Cerradura:</a:t>
            </a:r>
            <a:br>
              <a:rPr lang="es-MX" dirty="0"/>
            </a:b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L* = { ε, 0, 00, 000, 0000, ... }</a:t>
            </a:r>
          </a:p>
        </p:txBody>
      </p:sp>
    </p:spTree>
    <p:extLst>
      <p:ext uri="{BB962C8B-B14F-4D97-AF65-F5344CB8AC3E}">
        <p14:creationId xmlns:p14="http://schemas.microsoft.com/office/powerpoint/2010/main" val="811796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F5A6-2E32-5714-2700-7C155394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5F7DAB4-4251-1081-5C09-8394A0E5D4F9}"/>
              </a:ext>
            </a:extLst>
          </p:cNvPr>
          <p:cNvSpPr txBox="1"/>
          <p:nvPr/>
        </p:nvSpPr>
        <p:spPr>
          <a:xfrm>
            <a:off x="714375" y="2488764"/>
            <a:ext cx="36957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3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s-MX" dirty="0"/>
              <a:t>Σ = { x, y }</a:t>
            </a:r>
          </a:p>
          <a:p>
            <a:pPr>
              <a:buNone/>
            </a:pPr>
            <a:r>
              <a:rPr lang="es-MX" dirty="0"/>
              <a:t>Lenguaje:</a:t>
            </a:r>
            <a:br>
              <a:rPr lang="es-MX" dirty="0"/>
            </a:br>
            <a:r>
              <a:rPr lang="es-MX" dirty="0"/>
              <a:t>L = { x, y }</a:t>
            </a:r>
          </a:p>
          <a:p>
            <a:pPr>
              <a:buNone/>
            </a:pPr>
            <a:r>
              <a:rPr lang="es-MX" dirty="0"/>
              <a:t>Cerradura:</a:t>
            </a:r>
            <a:br>
              <a:rPr lang="es-MX" dirty="0"/>
            </a:b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L* = { ε, x, y, </a:t>
            </a:r>
            <a:r>
              <a:rPr lang="es-MX" dirty="0" err="1"/>
              <a:t>xx</a:t>
            </a:r>
            <a:r>
              <a:rPr lang="es-MX" dirty="0"/>
              <a:t>, </a:t>
            </a:r>
            <a:r>
              <a:rPr lang="es-MX" dirty="0" err="1"/>
              <a:t>xy</a:t>
            </a:r>
            <a:r>
              <a:rPr lang="es-MX" dirty="0"/>
              <a:t>, </a:t>
            </a:r>
            <a:r>
              <a:rPr lang="es-MX" dirty="0" err="1"/>
              <a:t>yx</a:t>
            </a:r>
            <a:r>
              <a:rPr lang="es-MX" dirty="0"/>
              <a:t>, </a:t>
            </a:r>
            <a:r>
              <a:rPr lang="es-MX" dirty="0" err="1"/>
              <a:t>yy</a:t>
            </a:r>
            <a:r>
              <a:rPr lang="es-MX" dirty="0"/>
              <a:t>, </a:t>
            </a:r>
            <a:r>
              <a:rPr lang="es-MX" dirty="0" err="1"/>
              <a:t>xxx</a:t>
            </a:r>
            <a:r>
              <a:rPr lang="es-MX" dirty="0"/>
              <a:t>, </a:t>
            </a:r>
            <a:r>
              <a:rPr lang="es-MX" dirty="0" err="1"/>
              <a:t>xxy</a:t>
            </a:r>
            <a:r>
              <a:rPr lang="es-MX" dirty="0"/>
              <a:t>, ...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4F32AE1-D681-4113-CD54-CCA07C6F709E}"/>
              </a:ext>
            </a:extLst>
          </p:cNvPr>
          <p:cNvSpPr txBox="1"/>
          <p:nvPr/>
        </p:nvSpPr>
        <p:spPr>
          <a:xfrm>
            <a:off x="4572000" y="2488764"/>
            <a:ext cx="34480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4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l-GR" dirty="0"/>
              <a:t>Σ = { </a:t>
            </a:r>
            <a:r>
              <a:rPr lang="es-MX" dirty="0"/>
              <a:t>m, n }</a:t>
            </a:r>
          </a:p>
          <a:p>
            <a:pPr>
              <a:buNone/>
            </a:pPr>
            <a:r>
              <a:rPr lang="es-MX" dirty="0"/>
              <a:t>Lenguaje:</a:t>
            </a:r>
            <a:br>
              <a:rPr lang="es-MX" dirty="0"/>
            </a:br>
            <a:r>
              <a:rPr lang="es-MX" dirty="0"/>
              <a:t>L = { </a:t>
            </a:r>
            <a:r>
              <a:rPr lang="es-MX" dirty="0" err="1"/>
              <a:t>mn</a:t>
            </a:r>
            <a:r>
              <a:rPr lang="es-MX" dirty="0"/>
              <a:t> }</a:t>
            </a:r>
          </a:p>
          <a:p>
            <a:pPr>
              <a:buNone/>
            </a:pPr>
            <a:r>
              <a:rPr lang="es-MX" dirty="0"/>
              <a:t>Cerradura:</a:t>
            </a:r>
            <a:br>
              <a:rPr lang="es-MX" dirty="0"/>
            </a:b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L* = { </a:t>
            </a:r>
            <a:r>
              <a:rPr lang="el-GR" dirty="0"/>
              <a:t>ε, </a:t>
            </a:r>
            <a:r>
              <a:rPr lang="es-MX" dirty="0" err="1"/>
              <a:t>mn</a:t>
            </a:r>
            <a:r>
              <a:rPr lang="es-MX" dirty="0"/>
              <a:t>, </a:t>
            </a:r>
            <a:r>
              <a:rPr lang="es-MX" dirty="0" err="1"/>
              <a:t>mnmn</a:t>
            </a:r>
            <a:r>
              <a:rPr lang="es-MX" dirty="0"/>
              <a:t>, </a:t>
            </a:r>
            <a:r>
              <a:rPr lang="es-MX" dirty="0" err="1"/>
              <a:t>mnmnmn</a:t>
            </a:r>
            <a:r>
              <a:rPr lang="es-MX" dirty="0"/>
              <a:t>, ... }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CC772EB-6302-693D-AA44-F4D1DE540238}"/>
              </a:ext>
            </a:extLst>
          </p:cNvPr>
          <p:cNvSpPr txBox="1"/>
          <p:nvPr/>
        </p:nvSpPr>
        <p:spPr>
          <a:xfrm>
            <a:off x="8001000" y="2488764"/>
            <a:ext cx="43338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Ejercicio 5</a:t>
            </a:r>
          </a:p>
          <a:p>
            <a:pPr>
              <a:buNone/>
            </a:pPr>
            <a:r>
              <a:rPr lang="es-MX" dirty="0"/>
              <a:t>Sea el alfabeto:</a:t>
            </a:r>
            <a:br>
              <a:rPr lang="es-MX" dirty="0"/>
            </a:br>
            <a:r>
              <a:rPr lang="es-MX" dirty="0"/>
              <a:t>Σ = { 1, 2 }</a:t>
            </a:r>
          </a:p>
          <a:p>
            <a:pPr>
              <a:buNone/>
            </a:pPr>
            <a:r>
              <a:rPr lang="es-MX" dirty="0"/>
              <a:t>Lenguaje:</a:t>
            </a:r>
            <a:br>
              <a:rPr lang="es-MX" dirty="0"/>
            </a:br>
            <a:r>
              <a:rPr lang="es-MX" dirty="0"/>
              <a:t>L = { 12, 21 }</a:t>
            </a:r>
          </a:p>
          <a:p>
            <a:pPr>
              <a:buNone/>
            </a:pPr>
            <a:r>
              <a:rPr lang="es-MX" dirty="0"/>
              <a:t>Cerradura:</a:t>
            </a:r>
            <a:br>
              <a:rPr lang="es-MX" dirty="0"/>
            </a:br>
            <a:r>
              <a:rPr lang="es-MX" dirty="0"/>
              <a:t>L*</a:t>
            </a:r>
          </a:p>
          <a:p>
            <a:pPr>
              <a:buNone/>
            </a:pPr>
            <a:r>
              <a:rPr lang="es-MX" dirty="0"/>
              <a:t>Resultado:</a:t>
            </a:r>
            <a:br>
              <a:rPr lang="es-MX" dirty="0"/>
            </a:br>
            <a:r>
              <a:rPr lang="es-MX" dirty="0"/>
              <a:t>L* = { ε, 12, 21, 1212, 1221, 2112, 2121, ... }</a:t>
            </a:r>
          </a:p>
        </p:txBody>
      </p:sp>
    </p:spTree>
    <p:extLst>
      <p:ext uri="{BB962C8B-B14F-4D97-AF65-F5344CB8AC3E}">
        <p14:creationId xmlns:p14="http://schemas.microsoft.com/office/powerpoint/2010/main" val="178359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F2BB8-B1CE-DBE3-4104-D684C92D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Conclusión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C733A6-E1FC-67A9-F203-439790AA8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desarrollo de este banco de ejercicios permitió conocer mejor los conceptos fundamentales mediante la aplicación directa de sus definiciones formales. </a:t>
            </a:r>
          </a:p>
          <a:p>
            <a:pPr marL="0" indent="0" algn="just">
              <a:buNone/>
            </a:pPr>
            <a:r>
              <a:rPr lang="es-MX" dirty="0"/>
              <a:t>Asimismo, se </a:t>
            </a:r>
            <a:r>
              <a:rPr lang="es-MX" dirty="0" err="1"/>
              <a:t>realizaronn</a:t>
            </a:r>
            <a:r>
              <a:rPr lang="es-MX" dirty="0"/>
              <a:t> operaciones esenciales como la unión de lenguajes, la concatenación y la cerradura de Kleene, comprendiendo su impacto en la generación de nuevas cadenas dentro de Σ*. Con esta  práctica  fortalece la comprensión estructural de los lenguajes formales, estableciendo los fundamentos necesarios para su comprensión.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4947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BE12FA-7905-6EBE-E05C-179517BEC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Fuente De Informacion</a:t>
            </a:r>
            <a:endParaRPr lang="es-MX" b="1" dirty="0"/>
          </a:p>
          <a:p>
            <a:pPr marL="0" indent="0">
              <a:buNone/>
            </a:pPr>
            <a:endParaRPr lang="es-MX" dirty="0"/>
          </a:p>
          <a:p>
            <a:pPr lvl="0"/>
            <a:r>
              <a:rPr lang="es-MX" dirty="0" err="1"/>
              <a:t>Hopcroft</a:t>
            </a:r>
            <a:r>
              <a:rPr lang="es-MX" dirty="0"/>
              <a:t>, J. E., </a:t>
            </a:r>
            <a:r>
              <a:rPr lang="es-MX" dirty="0" err="1"/>
              <a:t>Motwani</a:t>
            </a:r>
            <a:r>
              <a:rPr lang="es-MX" dirty="0"/>
              <a:t>, R., &amp; Ullman, J. D.. </a:t>
            </a:r>
            <a:r>
              <a:rPr lang="es-MX" i="1" dirty="0"/>
              <a:t>Introducción a la teoría de autómatas, lenguajes y computación</a:t>
            </a:r>
            <a:r>
              <a:rPr lang="es-MX" dirty="0"/>
              <a:t> (</a:t>
            </a:r>
            <a:r>
              <a:rPr lang="es-MX" dirty="0" err="1"/>
              <a:t>pdf</a:t>
            </a:r>
            <a:r>
              <a:rPr lang="es-MX" dirty="0"/>
              <a:t>).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323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1715</Words>
  <Application>Microsoft Office PowerPoint</Application>
  <PresentationFormat>Panorámica</PresentationFormat>
  <Paragraphs>227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(Cuerpo)</vt:lpstr>
      <vt:lpstr>Calibri Light</vt:lpstr>
      <vt:lpstr>Cambria Math</vt:lpstr>
      <vt:lpstr>Tema de Office</vt:lpstr>
      <vt:lpstr>Presentación de PowerPoint</vt:lpstr>
      <vt:lpstr>introducción</vt:lpstr>
      <vt:lpstr>Ejercicio Alfabeto</vt:lpstr>
      <vt:lpstr>Presentación de PowerPoint</vt:lpstr>
      <vt:lpstr>Ejercicio Cadenas</vt:lpstr>
      <vt:lpstr>Presentación de PowerPoint</vt:lpstr>
      <vt:lpstr>Ejercicio de concatenación de cadenas</vt:lpstr>
      <vt:lpstr>Presentación de PowerPoint</vt:lpstr>
      <vt:lpstr>Ejercicio de unión de lenguajes</vt:lpstr>
      <vt:lpstr>Presentación de PowerPoint</vt:lpstr>
      <vt:lpstr>Ejercicio de Cerradura de kleene </vt:lpstr>
      <vt:lpstr>Presentación de PowerPoint</vt:lpstr>
      <vt:lpstr>Conclusión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13</cp:revision>
  <dcterms:created xsi:type="dcterms:W3CDTF">2026-02-14T13:39:49Z</dcterms:created>
  <dcterms:modified xsi:type="dcterms:W3CDTF">2026-02-14T21:47:40Z</dcterms:modified>
</cp:coreProperties>
</file>