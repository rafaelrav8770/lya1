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3" r:id="rId3"/>
    <p:sldId id="258" r:id="rId4"/>
    <p:sldId id="272" r:id="rId5"/>
    <p:sldId id="259" r:id="rId6"/>
    <p:sldId id="271" r:id="rId7"/>
    <p:sldId id="265" r:id="rId8"/>
    <p:sldId id="266" r:id="rId9"/>
    <p:sldId id="267" r:id="rId10"/>
    <p:sldId id="268" r:id="rId11"/>
    <p:sldId id="269" r:id="rId12"/>
    <p:sldId id="260" r:id="rId13"/>
    <p:sldId id="264" r:id="rId1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03/03/2026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03/03/2026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03/03/2026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rafaelrav8770/LYA1.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37" b="20603"/>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95648"/>
          </a:xfrm>
          <a:prstGeom prst="rect">
            <a:avLst/>
          </a:prstGeom>
          <a:noFill/>
        </p:spPr>
        <p:txBody>
          <a:bodyPr wrap="square">
            <a:spAutoFit/>
          </a:bodyPr>
          <a:lstStyle/>
          <a:p>
            <a:pPr algn="ctr">
              <a:lnSpc>
                <a:spcPct val="107000"/>
              </a:lnSpc>
              <a:spcAft>
                <a:spcPts val="800"/>
              </a:spcAft>
              <a:buNone/>
            </a:pPr>
            <a:r>
              <a:rPr lang="es-MX" sz="1800" b="1" kern="0" dirty="0">
                <a:effectLst/>
                <a:latin typeface="Arial" panose="020B0604020202020204" pitchFamily="34" charset="0"/>
                <a:ea typeface="Arial" panose="020B0604020202020204" pitchFamily="34" charset="0"/>
                <a:cs typeface="Arial" panose="020B0604020202020204" pitchFamily="34" charset="0"/>
              </a:rPr>
              <a:t>LENGUAJES Y AUTOMATAS 1</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2.2 –REPORTE DE PRACTICA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489075" y="6318878"/>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31</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ENERO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4400" b="1" kern="0" dirty="0">
                <a:solidFill>
                  <a:schemeClr val="accent1"/>
                </a:solidFill>
                <a:latin typeface="+mj-lt"/>
                <a:cs typeface="Arial" panose="020B0604020202020204" pitchFamily="34" charset="0"/>
              </a:rPr>
              <a:t>Introducción</a:t>
            </a:r>
          </a:p>
          <a:p>
            <a:pPr marL="0" indent="0">
              <a:buNone/>
            </a:pPr>
            <a:endParaRPr lang="es-MX" dirty="0"/>
          </a:p>
          <a:p>
            <a:pPr marL="0" indent="0" algn="just">
              <a:buNone/>
            </a:pPr>
            <a:r>
              <a:rPr lang="es-MX" dirty="0"/>
              <a:t>Las expresiones regulares constituyen un formalismo matemático utilizado para describir patrones dentro de los lenguajes formales. En el contexto de la teoría de lenguajes y autómatas, permiten representar de manera precisa conjuntos de cadenas definidos sobre un alfabeto finito. los lenguajes regulares y pueden ser reconocidas mediante autómatas finitos, lo que las convierte en una herramienta fundamental en áreas como el diseño de compiladores, el análisis léxico y la validación de datos.</a:t>
            </a:r>
          </a:p>
          <a:p>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866775"/>
            <a:ext cx="10515600" cy="5310188"/>
          </a:xfrm>
        </p:spPr>
        <p:txBody>
          <a:bodyPr/>
          <a:lstStyle/>
          <a:p>
            <a:pPr marL="0" indent="0">
              <a:buNone/>
            </a:pPr>
            <a:r>
              <a:rPr lang="es-MX" sz="4400" b="1" dirty="0">
                <a:solidFill>
                  <a:schemeClr val="accent1"/>
                </a:solidFill>
                <a:latin typeface="+mj-lt"/>
              </a:rPr>
              <a:t>Objetivo</a:t>
            </a:r>
          </a:p>
          <a:p>
            <a:pPr marL="0" indent="0">
              <a:buNone/>
            </a:pPr>
            <a:r>
              <a:rPr lang="es-MX" dirty="0"/>
              <a:t> </a:t>
            </a:r>
          </a:p>
          <a:p>
            <a:pPr marL="0" indent="0" algn="just">
              <a:buNone/>
            </a:pPr>
            <a:r>
              <a:rPr lang="es-MX" dirty="0"/>
              <a:t>Aplicar la definición formal de las expresiones regulares mediante el diseño, construcción y validación de patrones que permitan reconocer cadenas específicas dentro de un lenguaje regular, utilizando operaciones formales como unión, concatenación y cerradura de Kleene.</a:t>
            </a:r>
          </a:p>
          <a:p>
            <a:endParaRPr lang="es-MX" dirty="0"/>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1E0BE8-C789-4151-0FA7-AFC6BEB835EB}"/>
              </a:ext>
            </a:extLst>
          </p:cNvPr>
          <p:cNvSpPr>
            <a:spLocks noGrp="1"/>
          </p:cNvSpPr>
          <p:nvPr>
            <p:ph type="title"/>
          </p:nvPr>
        </p:nvSpPr>
        <p:spPr/>
        <p:txBody>
          <a:bodyPr/>
          <a:lstStyle/>
          <a:p>
            <a:r>
              <a:rPr lang="es-MX" b="1" dirty="0" err="1">
                <a:solidFill>
                  <a:schemeClr val="accent1"/>
                </a:solidFill>
              </a:rPr>
              <a:t>Justificacion</a:t>
            </a:r>
            <a:endParaRPr lang="es-MX" dirty="0"/>
          </a:p>
        </p:txBody>
      </p:sp>
      <p:sp>
        <p:nvSpPr>
          <p:cNvPr id="3" name="Marcador de contenido 2">
            <a:extLst>
              <a:ext uri="{FF2B5EF4-FFF2-40B4-BE49-F238E27FC236}">
                <a16:creationId xmlns:a16="http://schemas.microsoft.com/office/drawing/2014/main" id="{3B243DF1-C68E-1FEA-52D1-91411652D8F2}"/>
              </a:ext>
            </a:extLst>
          </p:cNvPr>
          <p:cNvSpPr>
            <a:spLocks noGrp="1"/>
          </p:cNvSpPr>
          <p:nvPr>
            <p:ph idx="1"/>
          </p:nvPr>
        </p:nvSpPr>
        <p:spPr/>
        <p:txBody>
          <a:bodyPr>
            <a:normAutofit/>
          </a:bodyPr>
          <a:lstStyle/>
          <a:p>
            <a:pPr marL="0" indent="0" algn="just">
              <a:buNone/>
            </a:pPr>
            <a:r>
              <a:rPr lang="es-MX" dirty="0"/>
              <a:t>La forma en que realicé este trabajo se debe a que busqué presentar la información de manera clara, ordenada y comprensible, siguiendo una estructura lógica que facilitara el entendimiento del tema. se incluyo una introducción para contextualizar el tema de las expresiones regulares se </a:t>
            </a:r>
            <a:r>
              <a:rPr lang="es-MX" dirty="0" err="1"/>
              <a:t>definío</a:t>
            </a:r>
            <a:r>
              <a:rPr lang="es-MX" dirty="0"/>
              <a:t> un objetivo que orientara el desarrollo de la actividad y después desarrollo el marco teórico donde se explican los conceptos fundamentales, las operaciones y sus propiedades. Lo cual Esto me permitió organizar el contenido de forma progresiva, pasando de la teoría a ejemplos que ayudan a comprender mejor cada concepto.</a:t>
            </a:r>
          </a:p>
          <a:p>
            <a:endParaRPr lang="es-MX" dirty="0"/>
          </a:p>
        </p:txBody>
      </p:sp>
    </p:spTree>
    <p:extLst>
      <p:ext uri="{BB962C8B-B14F-4D97-AF65-F5344CB8AC3E}">
        <p14:creationId xmlns:p14="http://schemas.microsoft.com/office/powerpoint/2010/main" val="4174842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E469B54-451A-A53E-BED8-A43706F6FA16}"/>
              </a:ext>
            </a:extLst>
          </p:cNvPr>
          <p:cNvSpPr>
            <a:spLocks noGrp="1"/>
          </p:cNvSpPr>
          <p:nvPr>
            <p:ph idx="1"/>
          </p:nvPr>
        </p:nvSpPr>
        <p:spPr>
          <a:xfrm>
            <a:off x="838200" y="590550"/>
            <a:ext cx="10515600" cy="5586413"/>
          </a:xfrm>
        </p:spPr>
        <p:txBody>
          <a:bodyPr>
            <a:normAutofit fontScale="70000" lnSpcReduction="20000"/>
          </a:bodyPr>
          <a:lstStyle/>
          <a:p>
            <a:pPr marL="0" indent="0">
              <a:buNone/>
            </a:pPr>
            <a:r>
              <a:rPr lang="es-MX" sz="4800" b="1" dirty="0">
                <a:solidFill>
                  <a:schemeClr val="accent1"/>
                </a:solidFill>
                <a:latin typeface="+mj-lt"/>
              </a:rPr>
              <a:t>Marco </a:t>
            </a:r>
            <a:r>
              <a:rPr lang="es-MX" sz="4800" b="1" dirty="0" err="1">
                <a:solidFill>
                  <a:schemeClr val="accent1"/>
                </a:solidFill>
                <a:latin typeface="+mj-lt"/>
              </a:rPr>
              <a:t>Teorico</a:t>
            </a:r>
            <a:endParaRPr lang="es-MX" sz="4800" b="1" dirty="0">
              <a:solidFill>
                <a:schemeClr val="accent1"/>
              </a:solidFill>
              <a:latin typeface="+mj-lt"/>
            </a:endParaRPr>
          </a:p>
          <a:p>
            <a:pPr marL="0" indent="0">
              <a:buNone/>
            </a:pPr>
            <a:r>
              <a:rPr lang="es-MX" dirty="0"/>
              <a:t> </a:t>
            </a:r>
          </a:p>
          <a:p>
            <a:pPr marL="0" indent="0" algn="just">
              <a:buNone/>
            </a:pPr>
            <a:r>
              <a:rPr lang="es-MX" dirty="0"/>
              <a:t>Las expresiones regulares constituyen un formalismo matemático utilizado para describir lenguajes regulares definidos sobre un alfabeto finito. Se construyen de manera recursiva a partir de elementos básicos y operaciones formales que permiten generar conjuntos de cadenas.</a:t>
            </a:r>
          </a:p>
          <a:p>
            <a:pPr marL="0" indent="0" algn="just">
              <a:buNone/>
            </a:pPr>
            <a:r>
              <a:rPr lang="es-MX" dirty="0"/>
              <a:t>Formalmente, una expresión regular puede construirse a partir de:</a:t>
            </a:r>
          </a:p>
          <a:p>
            <a:pPr algn="just"/>
            <a:r>
              <a:rPr lang="es-MX" dirty="0"/>
              <a:t>El conjunto vacío (∅)</a:t>
            </a:r>
          </a:p>
          <a:p>
            <a:pPr algn="just"/>
            <a:r>
              <a:rPr lang="es-MX" dirty="0"/>
              <a:t>La cadena vacía (ε)</a:t>
            </a:r>
          </a:p>
          <a:p>
            <a:pPr algn="just"/>
            <a:r>
              <a:rPr lang="es-MX" dirty="0"/>
              <a:t>Los símbolos de un alfabeto Σ</a:t>
            </a:r>
          </a:p>
          <a:p>
            <a:pPr marL="0" indent="0" algn="just">
              <a:buNone/>
            </a:pPr>
            <a:r>
              <a:rPr lang="es-MX" dirty="0"/>
              <a:t>A partir de estos elementos, se aplican las operaciones fundamentales que estructuran las expresiones regulares:</a:t>
            </a:r>
          </a:p>
          <a:p>
            <a:pPr algn="just"/>
            <a:r>
              <a:rPr lang="es-MX" b="1" dirty="0"/>
              <a:t>Unión (|):</a:t>
            </a:r>
            <a:r>
              <a:rPr lang="es-MX" dirty="0"/>
              <a:t> permite combinar dos lenguajes.</a:t>
            </a:r>
          </a:p>
          <a:p>
            <a:pPr algn="just"/>
            <a:r>
              <a:rPr lang="es-MX" b="1" dirty="0"/>
              <a:t>Concatenación:</a:t>
            </a:r>
            <a:r>
              <a:rPr lang="es-MX" dirty="0"/>
              <a:t> une secuencias de símbolos o lenguajes.</a:t>
            </a:r>
          </a:p>
          <a:p>
            <a:pPr algn="just"/>
            <a:r>
              <a:rPr lang="es-MX" b="1" dirty="0"/>
              <a:t>Cerradura de Kleene (*):</a:t>
            </a:r>
            <a:r>
              <a:rPr lang="es-MX" dirty="0"/>
              <a:t> genera cero o más repeticiones de un patrón.</a:t>
            </a:r>
          </a:p>
          <a:p>
            <a:pPr marL="0" indent="0" algn="just">
              <a:buNone/>
            </a:pPr>
            <a:r>
              <a:rPr lang="es-MX" dirty="0"/>
              <a:t>Desde el punto de vista formal, las expresiones regulares son equivalentes a los autómatas finitos, lo que implica que todo lenguaje representado mediante una expresión regular puede ser reconocido por un autómata finito determinista o no determinista.</a:t>
            </a:r>
          </a:p>
          <a:p>
            <a:endParaRPr lang="es-MX" dirty="0"/>
          </a:p>
        </p:txBody>
      </p:sp>
    </p:spTree>
    <p:extLst>
      <p:ext uri="{BB962C8B-B14F-4D97-AF65-F5344CB8AC3E}">
        <p14:creationId xmlns:p14="http://schemas.microsoft.com/office/powerpoint/2010/main" val="2664243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19B0CC-5FA2-540F-54F5-7CA74A93FC6E}"/>
              </a:ext>
            </a:extLst>
          </p:cNvPr>
          <p:cNvSpPr>
            <a:spLocks noGrp="1"/>
          </p:cNvSpPr>
          <p:nvPr>
            <p:ph type="title"/>
          </p:nvPr>
        </p:nvSpPr>
        <p:spPr/>
        <p:txBody>
          <a:bodyPr/>
          <a:lstStyle/>
          <a:p>
            <a:r>
              <a:rPr lang="es-MX" dirty="0"/>
              <a:t>Propiedades de las Operaciones</a:t>
            </a:r>
          </a:p>
        </p:txBody>
      </p:sp>
      <p:sp>
        <p:nvSpPr>
          <p:cNvPr id="3" name="Marcador de contenido 2">
            <a:extLst>
              <a:ext uri="{FF2B5EF4-FFF2-40B4-BE49-F238E27FC236}">
                <a16:creationId xmlns:a16="http://schemas.microsoft.com/office/drawing/2014/main" id="{573E868E-6D97-81D6-E5C8-71E1145CD4CE}"/>
              </a:ext>
            </a:extLst>
          </p:cNvPr>
          <p:cNvSpPr>
            <a:spLocks noGrp="1"/>
          </p:cNvSpPr>
          <p:nvPr>
            <p:ph idx="1"/>
          </p:nvPr>
        </p:nvSpPr>
        <p:spPr>
          <a:xfrm>
            <a:off x="838200" y="1825625"/>
            <a:ext cx="10515600" cy="4565650"/>
          </a:xfrm>
        </p:spPr>
        <p:txBody>
          <a:bodyPr>
            <a:normAutofit fontScale="92500" lnSpcReduction="10000"/>
          </a:bodyPr>
          <a:lstStyle/>
          <a:p>
            <a:pPr marL="0" indent="0">
              <a:buNone/>
            </a:pPr>
            <a:r>
              <a:rPr lang="es-MX" b="1" dirty="0"/>
              <a:t>Propiedades de la Unión (∪)</a:t>
            </a:r>
          </a:p>
          <a:p>
            <a:pPr marL="0" indent="0">
              <a:buNone/>
            </a:pPr>
            <a:r>
              <a:rPr lang="es-MX" dirty="0"/>
              <a:t> Asociativa → (L₁ ∪ L₂) ∪ L₃ = L₁ ∪ (L₂ ∪ L₃)</a:t>
            </a:r>
            <a:br>
              <a:rPr lang="es-MX" dirty="0"/>
            </a:br>
            <a:r>
              <a:rPr lang="es-MX" dirty="0"/>
              <a:t> Conmutativa → L₁ ∪ L₂ = L₂ ∪ L₁</a:t>
            </a:r>
            <a:br>
              <a:rPr lang="es-MX" dirty="0"/>
            </a:br>
            <a:r>
              <a:rPr lang="es-MX" dirty="0"/>
              <a:t> Elemento neutro → L ∪ ∅ = L</a:t>
            </a:r>
          </a:p>
          <a:p>
            <a:pPr marL="0" indent="0">
              <a:buNone/>
            </a:pPr>
            <a:r>
              <a:rPr lang="es-MX" b="1" dirty="0"/>
              <a:t> Propiedades de la Concatenación</a:t>
            </a:r>
          </a:p>
          <a:p>
            <a:pPr marL="0" indent="0">
              <a:buNone/>
            </a:pPr>
            <a:r>
              <a:rPr lang="es-MX" dirty="0"/>
              <a:t> Asociativa → (L₁L₂)L₃ = L₁(L₂L₃)</a:t>
            </a:r>
            <a:br>
              <a:rPr lang="es-MX" dirty="0"/>
            </a:br>
            <a:r>
              <a:rPr lang="es-MX" dirty="0"/>
              <a:t> No es conmutativa → L₁L₂ ≠ L₂L₁</a:t>
            </a:r>
            <a:br>
              <a:rPr lang="es-MX" dirty="0"/>
            </a:br>
            <a:r>
              <a:rPr lang="es-MX" dirty="0"/>
              <a:t> Elemento neutro → L</a:t>
            </a:r>
            <a:r>
              <a:rPr lang="el-GR" dirty="0"/>
              <a:t>ε = ε</a:t>
            </a:r>
            <a:r>
              <a:rPr lang="es-MX" dirty="0"/>
              <a:t>L = L</a:t>
            </a:r>
          </a:p>
          <a:p>
            <a:pPr marL="0" indent="0">
              <a:buNone/>
            </a:pPr>
            <a:r>
              <a:rPr lang="es-MX" b="1" dirty="0"/>
              <a:t>Propiedades del Cierre de Kleene</a:t>
            </a:r>
          </a:p>
          <a:p>
            <a:pPr marL="0" indent="0">
              <a:buNone/>
            </a:pPr>
            <a:r>
              <a:rPr lang="es-MX" dirty="0"/>
              <a:t> </a:t>
            </a:r>
            <a:r>
              <a:rPr lang="el-GR" dirty="0"/>
              <a:t>ε ∈ </a:t>
            </a:r>
            <a:r>
              <a:rPr lang="es-MX" dirty="0"/>
              <a:t>L*</a:t>
            </a:r>
            <a:br>
              <a:rPr lang="es-MX" dirty="0"/>
            </a:br>
            <a:r>
              <a:rPr lang="es-MX" dirty="0"/>
              <a:t> L* = {</a:t>
            </a:r>
            <a:r>
              <a:rPr lang="el-GR" dirty="0"/>
              <a:t>ε, </a:t>
            </a:r>
            <a:r>
              <a:rPr lang="es-MX" dirty="0"/>
              <a:t>L, LL, LLL, …}</a:t>
            </a:r>
            <a:br>
              <a:rPr lang="es-MX" dirty="0"/>
            </a:br>
            <a:r>
              <a:rPr lang="es-MX" dirty="0"/>
              <a:t> Permite generar un lenguaje infinito a partir de uno finito</a:t>
            </a:r>
          </a:p>
          <a:p>
            <a:endParaRPr lang="es-MX" dirty="0"/>
          </a:p>
        </p:txBody>
      </p:sp>
    </p:spTree>
    <p:extLst>
      <p:ext uri="{BB962C8B-B14F-4D97-AF65-F5344CB8AC3E}">
        <p14:creationId xmlns:p14="http://schemas.microsoft.com/office/powerpoint/2010/main" val="473659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2C351C-53AA-E224-FCA4-63AF2922BCBA}"/>
              </a:ext>
            </a:extLst>
          </p:cNvPr>
          <p:cNvSpPr>
            <a:spLocks noGrp="1"/>
          </p:cNvSpPr>
          <p:nvPr>
            <p:ph type="title"/>
          </p:nvPr>
        </p:nvSpPr>
        <p:spPr>
          <a:xfrm>
            <a:off x="838200" y="365126"/>
            <a:ext cx="10515600" cy="520700"/>
          </a:xfrm>
        </p:spPr>
        <p:txBody>
          <a:bodyPr>
            <a:normAutofit fontScale="90000"/>
          </a:bodyPr>
          <a:lstStyle/>
          <a:p>
            <a:r>
              <a:rPr lang="es-MX" dirty="0"/>
              <a:t> </a:t>
            </a:r>
          </a:p>
        </p:txBody>
      </p:sp>
      <p:sp>
        <p:nvSpPr>
          <p:cNvPr id="3" name="Marcador de contenido 2">
            <a:extLst>
              <a:ext uri="{FF2B5EF4-FFF2-40B4-BE49-F238E27FC236}">
                <a16:creationId xmlns:a16="http://schemas.microsoft.com/office/drawing/2014/main" id="{D422CF44-9C00-D8B2-3BF0-A89628821AD9}"/>
              </a:ext>
            </a:extLst>
          </p:cNvPr>
          <p:cNvSpPr>
            <a:spLocks noGrp="1"/>
          </p:cNvSpPr>
          <p:nvPr>
            <p:ph idx="1"/>
          </p:nvPr>
        </p:nvSpPr>
        <p:spPr>
          <a:xfrm>
            <a:off x="838200" y="1253331"/>
            <a:ext cx="10515600" cy="5023644"/>
          </a:xfrm>
        </p:spPr>
        <p:txBody>
          <a:bodyPr>
            <a:normAutofit lnSpcReduction="10000"/>
          </a:bodyPr>
          <a:lstStyle/>
          <a:p>
            <a:pPr marL="0" indent="0">
              <a:buNone/>
            </a:pPr>
            <a:r>
              <a:rPr lang="es-MX" sz="4400" b="1" dirty="0">
                <a:solidFill>
                  <a:schemeClr val="accent1"/>
                </a:solidFill>
                <a:latin typeface="+mj-lt"/>
              </a:rPr>
              <a:t>Unión</a:t>
            </a:r>
          </a:p>
          <a:p>
            <a:pPr marL="0" indent="0">
              <a:buNone/>
            </a:pPr>
            <a:r>
              <a:rPr lang="es-MX" dirty="0"/>
              <a:t>La unión de dos lenguajes L₁ y L₂ es el conjunto de todas las cadenas que pertenecen a L₁ o a L₂.</a:t>
            </a:r>
          </a:p>
          <a:p>
            <a:pPr marL="0" indent="0">
              <a:buNone/>
            </a:pPr>
            <a:r>
              <a:rPr lang="es-MX" dirty="0"/>
              <a:t>Sea:</a:t>
            </a:r>
          </a:p>
          <a:p>
            <a:pPr marL="0" indent="0">
              <a:buNone/>
            </a:pPr>
            <a:r>
              <a:rPr lang="es-MX" dirty="0"/>
              <a:t>L₁ = {a, b}</a:t>
            </a:r>
            <a:br>
              <a:rPr lang="es-MX" dirty="0"/>
            </a:br>
            <a:r>
              <a:rPr lang="es-MX" dirty="0"/>
              <a:t>L₂ = {b, c}</a:t>
            </a:r>
          </a:p>
          <a:p>
            <a:pPr marL="0" indent="0">
              <a:buNone/>
            </a:pPr>
            <a:r>
              <a:rPr lang="es-MX" dirty="0"/>
              <a:t>Entonces:</a:t>
            </a:r>
          </a:p>
          <a:p>
            <a:pPr marL="0" indent="0">
              <a:buNone/>
            </a:pPr>
            <a:r>
              <a:rPr lang="es-MX" dirty="0"/>
              <a:t>L₁ ∪ L₂ = {a, b, c}</a:t>
            </a:r>
          </a:p>
          <a:p>
            <a:pPr marL="0" indent="0">
              <a:buNone/>
            </a:pPr>
            <a:r>
              <a:rPr lang="es-MX" dirty="0"/>
              <a:t>Propiedad:</a:t>
            </a:r>
          </a:p>
          <a:p>
            <a:pPr marL="0" indent="0">
              <a:buNone/>
            </a:pPr>
            <a:r>
              <a:rPr lang="es-MX" dirty="0"/>
              <a:t>L₁ ∪ L₂ = L₂ ∪ L₁</a:t>
            </a:r>
          </a:p>
          <a:p>
            <a:endParaRPr lang="es-MX" dirty="0"/>
          </a:p>
        </p:txBody>
      </p:sp>
    </p:spTree>
    <p:extLst>
      <p:ext uri="{BB962C8B-B14F-4D97-AF65-F5344CB8AC3E}">
        <p14:creationId xmlns:p14="http://schemas.microsoft.com/office/powerpoint/2010/main" val="1461875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C59046-C68A-077C-0BD7-5B52E7727E79}"/>
              </a:ext>
            </a:extLst>
          </p:cNvPr>
          <p:cNvSpPr>
            <a:spLocks noGrp="1"/>
          </p:cNvSpPr>
          <p:nvPr>
            <p:ph type="title"/>
          </p:nvPr>
        </p:nvSpPr>
        <p:spPr/>
        <p:txBody>
          <a:bodyPr/>
          <a:lstStyle/>
          <a:p>
            <a:r>
              <a:rPr lang="es-MX" b="1" dirty="0">
                <a:solidFill>
                  <a:schemeClr val="accent1"/>
                </a:solidFill>
                <a:ea typeface="+mn-ea"/>
                <a:cs typeface="+mn-cs"/>
              </a:rPr>
              <a:t>Concatenación</a:t>
            </a:r>
            <a:br>
              <a:rPr lang="es-MX" b="1" dirty="0"/>
            </a:br>
            <a:endParaRPr lang="es-MX" dirty="0"/>
          </a:p>
        </p:txBody>
      </p:sp>
      <p:sp>
        <p:nvSpPr>
          <p:cNvPr id="3" name="Marcador de contenido 2">
            <a:extLst>
              <a:ext uri="{FF2B5EF4-FFF2-40B4-BE49-F238E27FC236}">
                <a16:creationId xmlns:a16="http://schemas.microsoft.com/office/drawing/2014/main" id="{7BC12F61-8061-A104-0A37-D5EEA196F64D}"/>
              </a:ext>
            </a:extLst>
          </p:cNvPr>
          <p:cNvSpPr>
            <a:spLocks noGrp="1"/>
          </p:cNvSpPr>
          <p:nvPr>
            <p:ph idx="1"/>
          </p:nvPr>
        </p:nvSpPr>
        <p:spPr/>
        <p:txBody>
          <a:bodyPr>
            <a:normAutofit fontScale="85000" lnSpcReduction="20000"/>
          </a:bodyPr>
          <a:lstStyle/>
          <a:p>
            <a:pPr marL="0" indent="0">
              <a:buNone/>
            </a:pPr>
            <a:r>
              <a:rPr lang="es-MX" dirty="0"/>
              <a:t>La concatenación de dos lenguajes L₁ y L₂ consiste en formar nuevas cadenas tomando una cadena de L₁ seguida de una cadena de L₂.</a:t>
            </a:r>
          </a:p>
          <a:p>
            <a:pPr marL="0" indent="0">
              <a:buNone/>
            </a:pPr>
            <a:r>
              <a:rPr lang="es-MX" dirty="0"/>
              <a:t>Sea:</a:t>
            </a:r>
          </a:p>
          <a:p>
            <a:pPr marL="0" indent="0">
              <a:buNone/>
            </a:pPr>
            <a:r>
              <a:rPr lang="es-MX" dirty="0"/>
              <a:t>L₁ = {a, b}</a:t>
            </a:r>
            <a:br>
              <a:rPr lang="es-MX" dirty="0"/>
            </a:br>
            <a:r>
              <a:rPr lang="es-MX" dirty="0"/>
              <a:t>L₂ = {0,1}</a:t>
            </a:r>
          </a:p>
          <a:p>
            <a:pPr marL="0" indent="0">
              <a:buNone/>
            </a:pPr>
            <a:r>
              <a:rPr lang="es-MX" dirty="0"/>
              <a:t>Entonces:</a:t>
            </a:r>
          </a:p>
          <a:p>
            <a:pPr marL="0" indent="0">
              <a:buNone/>
            </a:pPr>
            <a:r>
              <a:rPr lang="es-MX" dirty="0"/>
              <a:t>L₁L₂ = {a0, a1, b0, b1}</a:t>
            </a:r>
          </a:p>
          <a:p>
            <a:pPr marL="0" indent="0">
              <a:buNone/>
            </a:pPr>
            <a:r>
              <a:rPr lang="es-MX" dirty="0"/>
              <a:t>Si se invierte el orden:</a:t>
            </a:r>
          </a:p>
          <a:p>
            <a:pPr marL="0" indent="0">
              <a:buNone/>
            </a:pPr>
            <a:r>
              <a:rPr lang="es-MX" dirty="0"/>
              <a:t>L₂L₁ = {0a, 0b, 1a, 1b}</a:t>
            </a:r>
          </a:p>
          <a:p>
            <a:pPr marL="0" indent="0">
              <a:buNone/>
            </a:pPr>
            <a:r>
              <a:rPr lang="es-MX" dirty="0"/>
              <a:t>Se observa que:</a:t>
            </a:r>
          </a:p>
          <a:p>
            <a:pPr marL="0" indent="0">
              <a:buNone/>
            </a:pPr>
            <a:r>
              <a:rPr lang="es-MX" dirty="0"/>
              <a:t>L₁L₂ ≠ L₂L₁</a:t>
            </a:r>
          </a:p>
          <a:p>
            <a:pPr marL="0" indent="0">
              <a:buNone/>
            </a:pPr>
            <a:r>
              <a:rPr lang="es-MX" dirty="0"/>
              <a:t>Por lo tanto, la concatenación no es conmutativa.</a:t>
            </a:r>
          </a:p>
          <a:p>
            <a:endParaRPr lang="es-MX" dirty="0"/>
          </a:p>
        </p:txBody>
      </p:sp>
    </p:spTree>
    <p:extLst>
      <p:ext uri="{BB962C8B-B14F-4D97-AF65-F5344CB8AC3E}">
        <p14:creationId xmlns:p14="http://schemas.microsoft.com/office/powerpoint/2010/main" val="1659117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8E917F-FBAC-DA7A-2C21-B27BA1A971F9}"/>
              </a:ext>
            </a:extLst>
          </p:cNvPr>
          <p:cNvSpPr>
            <a:spLocks noGrp="1"/>
          </p:cNvSpPr>
          <p:nvPr>
            <p:ph type="title"/>
          </p:nvPr>
        </p:nvSpPr>
        <p:spPr/>
        <p:txBody>
          <a:bodyPr/>
          <a:lstStyle/>
          <a:p>
            <a:r>
              <a:rPr lang="es-MX" b="1" dirty="0">
                <a:solidFill>
                  <a:schemeClr val="accent1"/>
                </a:solidFill>
                <a:ea typeface="+mn-ea"/>
                <a:cs typeface="+mn-cs"/>
              </a:rPr>
              <a:t>Cerradura de Kleene</a:t>
            </a:r>
          </a:p>
        </p:txBody>
      </p:sp>
      <p:sp>
        <p:nvSpPr>
          <p:cNvPr id="3" name="Marcador de contenido 2">
            <a:extLst>
              <a:ext uri="{FF2B5EF4-FFF2-40B4-BE49-F238E27FC236}">
                <a16:creationId xmlns:a16="http://schemas.microsoft.com/office/drawing/2014/main" id="{9DA1492B-1E35-C353-F026-8B5C543E5E6F}"/>
              </a:ext>
            </a:extLst>
          </p:cNvPr>
          <p:cNvSpPr>
            <a:spLocks noGrp="1"/>
          </p:cNvSpPr>
          <p:nvPr>
            <p:ph idx="1"/>
          </p:nvPr>
        </p:nvSpPr>
        <p:spPr/>
        <p:txBody>
          <a:bodyPr>
            <a:normAutofit fontScale="85000" lnSpcReduction="20000"/>
          </a:bodyPr>
          <a:lstStyle/>
          <a:p>
            <a:pPr marL="0" indent="0">
              <a:buNone/>
            </a:pPr>
            <a:r>
              <a:rPr lang="es-MX" dirty="0"/>
              <a:t>La cerradura de Kleene de un lenguaje L, denotada como L*, genera todas las posibles repeticiones finitas de las cadenas de L, incluyendo la cadena vacía.</a:t>
            </a:r>
          </a:p>
          <a:p>
            <a:pPr marL="0" indent="0">
              <a:buNone/>
            </a:pPr>
            <a:r>
              <a:rPr lang="es-MX" dirty="0"/>
              <a:t>Sea:</a:t>
            </a:r>
          </a:p>
          <a:p>
            <a:pPr marL="0" indent="0">
              <a:buNone/>
            </a:pPr>
            <a:r>
              <a:rPr lang="es-MX" dirty="0"/>
              <a:t>L = {a}</a:t>
            </a:r>
          </a:p>
          <a:p>
            <a:pPr marL="0" indent="0">
              <a:buNone/>
            </a:pPr>
            <a:r>
              <a:rPr lang="es-MX" dirty="0"/>
              <a:t>Entonces:</a:t>
            </a:r>
          </a:p>
          <a:p>
            <a:pPr marL="0" indent="0">
              <a:buNone/>
            </a:pPr>
            <a:r>
              <a:rPr lang="es-MX" dirty="0"/>
              <a:t>L* = {ε, a, </a:t>
            </a:r>
            <a:r>
              <a:rPr lang="es-MX" dirty="0" err="1"/>
              <a:t>aa</a:t>
            </a:r>
            <a:r>
              <a:rPr lang="es-MX" dirty="0"/>
              <a:t>, </a:t>
            </a:r>
            <a:r>
              <a:rPr lang="es-MX" dirty="0" err="1"/>
              <a:t>aaa</a:t>
            </a:r>
            <a:r>
              <a:rPr lang="es-MX" dirty="0"/>
              <a:t>, </a:t>
            </a:r>
            <a:r>
              <a:rPr lang="es-MX" dirty="0" err="1"/>
              <a:t>aaaa</a:t>
            </a:r>
            <a:r>
              <a:rPr lang="es-MX" dirty="0"/>
              <a:t>, …}</a:t>
            </a:r>
          </a:p>
          <a:p>
            <a:pPr marL="0" indent="0">
              <a:buNone/>
            </a:pPr>
            <a:r>
              <a:rPr lang="es-MX" dirty="0"/>
              <a:t>Se observa que:</a:t>
            </a:r>
          </a:p>
          <a:p>
            <a:pPr marL="0" indent="0">
              <a:buNone/>
            </a:pPr>
            <a:r>
              <a:rPr lang="es-MX" dirty="0"/>
              <a:t>L⁰ = {ε}</a:t>
            </a:r>
            <a:br>
              <a:rPr lang="es-MX" dirty="0"/>
            </a:br>
            <a:r>
              <a:rPr lang="es-MX" dirty="0"/>
              <a:t>L¹ = {a}</a:t>
            </a:r>
            <a:br>
              <a:rPr lang="es-MX" dirty="0"/>
            </a:br>
            <a:r>
              <a:rPr lang="es-MX" dirty="0"/>
              <a:t>L² = {</a:t>
            </a:r>
            <a:r>
              <a:rPr lang="es-MX" dirty="0" err="1"/>
              <a:t>aa</a:t>
            </a:r>
            <a:r>
              <a:rPr lang="es-MX" dirty="0"/>
              <a:t>}</a:t>
            </a:r>
            <a:br>
              <a:rPr lang="es-MX" dirty="0"/>
            </a:br>
            <a:r>
              <a:rPr lang="es-MX" dirty="0"/>
              <a:t>L³ = {</a:t>
            </a:r>
            <a:r>
              <a:rPr lang="es-MX" dirty="0" err="1"/>
              <a:t>aaa</a:t>
            </a:r>
            <a:r>
              <a:rPr lang="es-MX" dirty="0"/>
              <a:t>}</a:t>
            </a:r>
          </a:p>
          <a:p>
            <a:pPr marL="0" indent="0">
              <a:buNone/>
            </a:pPr>
            <a:r>
              <a:rPr lang="es-MX" dirty="0"/>
              <a:t>La cerradura permite generar un lenguaje infinito a partir de un conjunto finito.</a:t>
            </a:r>
          </a:p>
          <a:p>
            <a:endParaRPr lang="es-MX" dirty="0"/>
          </a:p>
        </p:txBody>
      </p:sp>
    </p:spTree>
    <p:extLst>
      <p:ext uri="{BB962C8B-B14F-4D97-AF65-F5344CB8AC3E}">
        <p14:creationId xmlns:p14="http://schemas.microsoft.com/office/powerpoint/2010/main" val="2405492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594751-FB82-9565-9C2A-06803A3BCF7B}"/>
              </a:ext>
            </a:extLst>
          </p:cNvPr>
          <p:cNvSpPr>
            <a:spLocks noGrp="1"/>
          </p:cNvSpPr>
          <p:nvPr>
            <p:ph type="title"/>
          </p:nvPr>
        </p:nvSpPr>
        <p:spPr/>
        <p:txBody>
          <a:bodyPr/>
          <a:lstStyle/>
          <a:p>
            <a:r>
              <a:rPr lang="es-MX" b="1" dirty="0">
                <a:solidFill>
                  <a:schemeClr val="accent1"/>
                </a:solidFill>
                <a:ea typeface="+mn-ea"/>
                <a:cs typeface="+mn-cs"/>
              </a:rPr>
              <a:t>Aplicación en Expresiones Regulares</a:t>
            </a:r>
            <a:br>
              <a:rPr lang="es-MX" b="1" dirty="0"/>
            </a:br>
            <a:endParaRPr lang="es-MX" dirty="0"/>
          </a:p>
        </p:txBody>
      </p:sp>
      <p:sp>
        <p:nvSpPr>
          <p:cNvPr id="3" name="Marcador de contenido 2">
            <a:extLst>
              <a:ext uri="{FF2B5EF4-FFF2-40B4-BE49-F238E27FC236}">
                <a16:creationId xmlns:a16="http://schemas.microsoft.com/office/drawing/2014/main" id="{9A3DC00C-A69C-42C0-9309-694BD037E098}"/>
              </a:ext>
            </a:extLst>
          </p:cNvPr>
          <p:cNvSpPr>
            <a:spLocks noGrp="1"/>
          </p:cNvSpPr>
          <p:nvPr>
            <p:ph idx="1"/>
          </p:nvPr>
        </p:nvSpPr>
        <p:spPr/>
        <p:txBody>
          <a:bodyPr>
            <a:normAutofit fontScale="85000" lnSpcReduction="20000"/>
          </a:bodyPr>
          <a:lstStyle/>
          <a:p>
            <a:pPr marL="0" indent="0">
              <a:buNone/>
            </a:pPr>
            <a:r>
              <a:rPr lang="es-MX" dirty="0"/>
              <a:t>Ejemplo </a:t>
            </a:r>
          </a:p>
          <a:p>
            <a:pPr marL="0" indent="0">
              <a:buNone/>
            </a:pPr>
            <a:r>
              <a:rPr lang="es-MX" dirty="0"/>
              <a:t>Expresión regular:</a:t>
            </a:r>
          </a:p>
          <a:p>
            <a:pPr marL="0" indent="0">
              <a:buNone/>
            </a:pPr>
            <a:r>
              <a:rPr lang="es-MX" dirty="0"/>
              <a:t>(</a:t>
            </a:r>
            <a:r>
              <a:rPr lang="es-MX" dirty="0" err="1"/>
              <a:t>a|b</a:t>
            </a:r>
            <a:r>
              <a:rPr lang="es-MX" dirty="0"/>
              <a:t>)*</a:t>
            </a:r>
          </a:p>
          <a:p>
            <a:pPr marL="0" indent="0">
              <a:buNone/>
            </a:pPr>
            <a:r>
              <a:rPr lang="es-MX" dirty="0"/>
              <a:t>Se representa todas las cadenas formadas por el alfabeto Σ = {</a:t>
            </a:r>
            <a:r>
              <a:rPr lang="es-MX" dirty="0" err="1"/>
              <a:t>a,b</a:t>
            </a:r>
            <a:r>
              <a:rPr lang="es-MX" dirty="0"/>
              <a:t>}, incluyendo ε.</a:t>
            </a:r>
          </a:p>
          <a:p>
            <a:pPr marL="0" indent="0">
              <a:buNone/>
            </a:pPr>
            <a:r>
              <a:rPr lang="es-MX" dirty="0"/>
              <a:t>Ejemplos</a:t>
            </a:r>
          </a:p>
          <a:p>
            <a:pPr marL="0" indent="0">
              <a:buNone/>
            </a:pPr>
            <a:r>
              <a:rPr lang="es-MX" dirty="0"/>
              <a:t>ε</a:t>
            </a:r>
            <a:br>
              <a:rPr lang="es-MX" dirty="0"/>
            </a:br>
            <a:r>
              <a:rPr lang="es-MX" dirty="0"/>
              <a:t>a</a:t>
            </a:r>
            <a:br>
              <a:rPr lang="es-MX" dirty="0"/>
            </a:br>
            <a:r>
              <a:rPr lang="es-MX" dirty="0"/>
              <a:t>ab</a:t>
            </a:r>
            <a:br>
              <a:rPr lang="es-MX" dirty="0"/>
            </a:br>
            <a:r>
              <a:rPr lang="es-MX" dirty="0" err="1"/>
              <a:t>bbaa</a:t>
            </a:r>
            <a:endParaRPr lang="es-MX" dirty="0"/>
          </a:p>
          <a:p>
            <a:r>
              <a:rPr lang="es-MX" dirty="0"/>
              <a:t>Pero no acepta:</a:t>
            </a:r>
          </a:p>
          <a:p>
            <a:r>
              <a:rPr lang="es-MX" dirty="0" err="1"/>
              <a:t>abc</a:t>
            </a:r>
            <a:r>
              <a:rPr lang="es-MX" dirty="0"/>
              <a:t> (porque c no pertenece al alfabeto {</a:t>
            </a:r>
            <a:r>
              <a:rPr lang="es-MX" dirty="0" err="1"/>
              <a:t>a,b</a:t>
            </a:r>
            <a:r>
              <a:rPr lang="es-MX" dirty="0"/>
              <a:t>})</a:t>
            </a:r>
          </a:p>
          <a:p>
            <a:r>
              <a:rPr lang="es-MX" dirty="0"/>
              <a:t>1ab (porque 1 no pertenece al alfabeto)</a:t>
            </a:r>
          </a:p>
          <a:p>
            <a:endParaRPr lang="es-MX" dirty="0"/>
          </a:p>
        </p:txBody>
      </p:sp>
    </p:spTree>
    <p:extLst>
      <p:ext uri="{BB962C8B-B14F-4D97-AF65-F5344CB8AC3E}">
        <p14:creationId xmlns:p14="http://schemas.microsoft.com/office/powerpoint/2010/main" val="2745194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B8FF46-586B-6F3B-C4F2-7D4EC2B2568B}"/>
              </a:ext>
            </a:extLst>
          </p:cNvPr>
          <p:cNvSpPr>
            <a:spLocks noGrp="1"/>
          </p:cNvSpPr>
          <p:nvPr>
            <p:ph type="title"/>
          </p:nvPr>
        </p:nvSpPr>
        <p:spPr/>
        <p:txBody>
          <a:bodyPr>
            <a:normAutofit fontScale="90000"/>
          </a:bodyPr>
          <a:lstStyle/>
          <a:p>
            <a:pPr algn="ctr"/>
            <a:r>
              <a:rPr lang="es-MX" sz="4900" b="1" dirty="0">
                <a:solidFill>
                  <a:schemeClr val="accent1"/>
                </a:solidFill>
                <a:ea typeface="+mn-ea"/>
                <a:cs typeface="+mn-cs"/>
              </a:rPr>
              <a:t>Relación entre </a:t>
            </a:r>
            <a:br>
              <a:rPr lang="es-MX" sz="4900" b="1" dirty="0">
                <a:solidFill>
                  <a:schemeClr val="accent1"/>
                </a:solidFill>
                <a:ea typeface="+mn-ea"/>
                <a:cs typeface="+mn-cs"/>
              </a:rPr>
            </a:br>
            <a:r>
              <a:rPr lang="es-MX" sz="4900" b="1" dirty="0">
                <a:solidFill>
                  <a:schemeClr val="accent1"/>
                </a:solidFill>
                <a:ea typeface="+mn-ea"/>
                <a:cs typeface="+mn-cs"/>
              </a:rPr>
              <a:t>Expresiones Regulares y Autómatas</a:t>
            </a:r>
            <a:br>
              <a:rPr lang="es-MX" b="1" dirty="0"/>
            </a:br>
            <a:endParaRPr lang="es-MX" dirty="0"/>
          </a:p>
        </p:txBody>
      </p:sp>
      <p:sp>
        <p:nvSpPr>
          <p:cNvPr id="3" name="Marcador de contenido 2">
            <a:extLst>
              <a:ext uri="{FF2B5EF4-FFF2-40B4-BE49-F238E27FC236}">
                <a16:creationId xmlns:a16="http://schemas.microsoft.com/office/drawing/2014/main" id="{A976C8A8-B391-16CE-B597-6A1AF919DFA6}"/>
              </a:ext>
            </a:extLst>
          </p:cNvPr>
          <p:cNvSpPr>
            <a:spLocks noGrp="1"/>
          </p:cNvSpPr>
          <p:nvPr>
            <p:ph idx="1"/>
          </p:nvPr>
        </p:nvSpPr>
        <p:spPr/>
        <p:txBody>
          <a:bodyPr>
            <a:normAutofit/>
          </a:bodyPr>
          <a:lstStyle/>
          <a:p>
            <a:pPr marL="0" indent="0">
              <a:buNone/>
            </a:pPr>
            <a:r>
              <a:rPr lang="es-MX" dirty="0"/>
              <a:t>Todo lenguaje regular puede: </a:t>
            </a:r>
          </a:p>
          <a:p>
            <a:pPr marL="0" indent="0">
              <a:buNone/>
            </a:pPr>
            <a:r>
              <a:rPr lang="es-MX" dirty="0"/>
              <a:t>Representarse mediante una expresión regular (ER).</a:t>
            </a:r>
            <a:br>
              <a:rPr lang="es-MX" dirty="0"/>
            </a:br>
            <a:r>
              <a:rPr lang="es-MX" dirty="0"/>
              <a:t>Reconocerse mediante un Autómata Finito Determinista (AFD).</a:t>
            </a:r>
            <a:br>
              <a:rPr lang="es-MX" dirty="0"/>
            </a:br>
            <a:r>
              <a:rPr lang="es-MX" dirty="0"/>
              <a:t>Reconocerse mediante un Autómata Finito No Determinista (AFND).</a:t>
            </a:r>
          </a:p>
          <a:p>
            <a:pPr marL="0" indent="0">
              <a:buNone/>
            </a:pPr>
            <a:r>
              <a:rPr lang="es-MX" dirty="0"/>
              <a:t>Existe equivalencia formal entre:</a:t>
            </a:r>
          </a:p>
          <a:p>
            <a:pPr marL="0" indent="0">
              <a:buNone/>
            </a:pPr>
            <a:r>
              <a:rPr lang="es-MX" dirty="0"/>
              <a:t>ER ⇄ AFN ⇄ AFD</a:t>
            </a:r>
          </a:p>
          <a:p>
            <a:pPr marL="0" indent="0">
              <a:buNone/>
            </a:pPr>
            <a:r>
              <a:rPr lang="es-MX" dirty="0"/>
              <a:t>Esto demuestra que las expresiones regulares y los autómatas finitos describen exactamente la misma clase de lenguajes:</a:t>
            </a:r>
            <a:br>
              <a:rPr lang="es-MX" dirty="0"/>
            </a:br>
            <a:r>
              <a:rPr lang="es-MX" dirty="0"/>
              <a:t>Los lenguajes regulares.</a:t>
            </a:r>
          </a:p>
          <a:p>
            <a:endParaRPr lang="es-MX" dirty="0"/>
          </a:p>
        </p:txBody>
      </p:sp>
    </p:spTree>
    <p:extLst>
      <p:ext uri="{BB962C8B-B14F-4D97-AF65-F5344CB8AC3E}">
        <p14:creationId xmlns:p14="http://schemas.microsoft.com/office/powerpoint/2010/main" val="1471010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p:txBody>
          <a:bodyPr>
            <a:normAutofit/>
          </a:bodyPr>
          <a:lstStyle/>
          <a:p>
            <a:pPr marL="0" indent="0">
              <a:buNone/>
            </a:pPr>
            <a:r>
              <a:rPr lang="es-MX" sz="4400" b="1" dirty="0">
                <a:solidFill>
                  <a:schemeClr val="accent1"/>
                </a:solidFill>
                <a:latin typeface="+mj-lt"/>
              </a:rPr>
              <a:t>Conclusión</a:t>
            </a:r>
          </a:p>
          <a:p>
            <a:pPr marL="0" indent="0">
              <a:buNone/>
            </a:pPr>
            <a:endParaRPr lang="es-MX" dirty="0"/>
          </a:p>
          <a:p>
            <a:pPr marL="0" indent="0" algn="just">
              <a:buNone/>
            </a:pPr>
            <a:r>
              <a:rPr lang="es-MX" dirty="0"/>
              <a:t>La práctica y el estudio permitió aplicar los conceptos fundamentales de la teoría de lenguajes formales mediante la resolución de ejercicios formales. Se comprobó que las operaciones sobre lenguajes constituyen la base estructural para la construcción de expresiones regulares y su equivalencia con autómatas </a:t>
            </a:r>
            <a:r>
              <a:rPr lang="es-MX" dirty="0" err="1"/>
              <a:t>finitos.también</a:t>
            </a:r>
            <a:r>
              <a:rPr lang="es-MX" dirty="0"/>
              <a:t> poseen aplicaciones prácticas en el diseño de compiladores, validación de entradas y análisis léxico.</a:t>
            </a:r>
          </a:p>
          <a:p>
            <a:endParaRPr lang="es-MX" dirty="0"/>
          </a:p>
        </p:txBody>
      </p:sp>
    </p:spTree>
    <p:extLst>
      <p:ext uri="{BB962C8B-B14F-4D97-AF65-F5344CB8AC3E}">
        <p14:creationId xmlns:p14="http://schemas.microsoft.com/office/powerpoint/2010/main" val="4155922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A54FE77-291F-6D16-F325-E56C3DDE4617}"/>
              </a:ext>
            </a:extLst>
          </p:cNvPr>
          <p:cNvSpPr>
            <a:spLocks noGrp="1"/>
          </p:cNvSpPr>
          <p:nvPr>
            <p:ph idx="1"/>
          </p:nvPr>
        </p:nvSpPr>
        <p:spPr/>
        <p:txBody>
          <a:bodyPr>
            <a:normAutofit lnSpcReduction="10000"/>
          </a:bodyPr>
          <a:lstStyle/>
          <a:p>
            <a:pPr marL="0" indent="0">
              <a:buNone/>
            </a:pPr>
            <a:r>
              <a:rPr lang="en-US" sz="4400" b="1" dirty="0">
                <a:solidFill>
                  <a:schemeClr val="accent1"/>
                </a:solidFill>
                <a:latin typeface="+mj-lt"/>
              </a:rPr>
              <a:t>Fuente De Informacion</a:t>
            </a:r>
            <a:endParaRPr lang="es-MX" sz="4400" b="1" dirty="0">
              <a:solidFill>
                <a:schemeClr val="accent1"/>
              </a:solidFill>
              <a:latin typeface="+mj-lt"/>
            </a:endParaRPr>
          </a:p>
          <a:p>
            <a:pPr marL="0" indent="0">
              <a:buNone/>
            </a:pPr>
            <a:endParaRPr lang="es-MX" dirty="0"/>
          </a:p>
          <a:p>
            <a:pPr algn="just">
              <a:buFont typeface="Wingdings" panose="05000000000000000000" pitchFamily="2" charset="2"/>
              <a:buChar char="Ø"/>
            </a:pPr>
            <a:r>
              <a:rPr lang="es-MX" dirty="0" err="1"/>
              <a:t>Hopcroft</a:t>
            </a:r>
            <a:r>
              <a:rPr lang="es-MX" dirty="0"/>
              <a:t>, J. E., </a:t>
            </a:r>
            <a:r>
              <a:rPr lang="es-MX" dirty="0" err="1"/>
              <a:t>Motwani</a:t>
            </a:r>
            <a:r>
              <a:rPr lang="es-MX" dirty="0"/>
              <a:t>, R., &amp; Ullman, J. D. (2007). </a:t>
            </a:r>
            <a:r>
              <a:rPr lang="es-MX" dirty="0" err="1"/>
              <a:t>Introduction</a:t>
            </a:r>
            <a:r>
              <a:rPr lang="es-MX" dirty="0"/>
              <a:t> </a:t>
            </a:r>
            <a:r>
              <a:rPr lang="es-MX" dirty="0" err="1"/>
              <a:t>to</a:t>
            </a:r>
            <a:r>
              <a:rPr lang="es-MX" dirty="0"/>
              <a:t> </a:t>
            </a:r>
            <a:r>
              <a:rPr lang="es-MX" dirty="0" err="1"/>
              <a:t>Automata</a:t>
            </a:r>
            <a:r>
              <a:rPr lang="es-MX" dirty="0"/>
              <a:t> </a:t>
            </a:r>
            <a:r>
              <a:rPr lang="es-MX" dirty="0" err="1"/>
              <a:t>Theory</a:t>
            </a:r>
            <a:r>
              <a:rPr lang="es-MX" dirty="0"/>
              <a:t>, </a:t>
            </a:r>
            <a:r>
              <a:rPr lang="es-MX" dirty="0" err="1"/>
              <a:t>Languages</a:t>
            </a:r>
            <a:r>
              <a:rPr lang="es-MX" dirty="0"/>
              <a:t>, and </a:t>
            </a:r>
            <a:r>
              <a:rPr lang="es-MX" dirty="0" err="1"/>
              <a:t>Computation</a:t>
            </a:r>
            <a:r>
              <a:rPr lang="es-MX" dirty="0"/>
              <a:t>. Pearson. (Capítulo 3: Expresiones regulares).</a:t>
            </a:r>
          </a:p>
          <a:p>
            <a:pPr algn="just">
              <a:buFont typeface="Wingdings" panose="05000000000000000000" pitchFamily="2" charset="2"/>
              <a:buChar char="Ø"/>
            </a:pPr>
            <a:r>
              <a:rPr lang="es-MX" dirty="0"/>
              <a:t>Jurado Málaga, E. (2008). Teoría de Autómatas y Lenguajes Formales. Universidad de Extremadura. (Tema 3: Expresiones y gramáticas regulares).</a:t>
            </a:r>
          </a:p>
          <a:p>
            <a:r>
              <a:rPr lang="es-MX" dirty="0"/>
              <a:t>LYA1 – Lenguajes y Autómatas I. Repositorio en GitHub.</a:t>
            </a:r>
            <a:br>
              <a:rPr lang="es-MX" dirty="0"/>
            </a:br>
            <a:r>
              <a:rPr lang="es-MX" dirty="0">
                <a:hlinkClick r:id="rId2"/>
              </a:rPr>
              <a:t>https://github.com/rafaelrav8770/LYA1.git</a:t>
            </a:r>
            <a:endParaRPr lang="es-MX" dirty="0"/>
          </a:p>
        </p:txBody>
      </p:sp>
    </p:spTree>
    <p:extLst>
      <p:ext uri="{BB962C8B-B14F-4D97-AF65-F5344CB8AC3E}">
        <p14:creationId xmlns:p14="http://schemas.microsoft.com/office/powerpoint/2010/main" val="20035360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1166</Words>
  <Application>Microsoft Office PowerPoint</Application>
  <PresentationFormat>Panorámica</PresentationFormat>
  <Paragraphs>99</Paragraphs>
  <Slides>13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Arial</vt:lpstr>
      <vt:lpstr>Calibri</vt:lpstr>
      <vt:lpstr>Calibri Light</vt:lpstr>
      <vt:lpstr>Wingdings</vt:lpstr>
      <vt:lpstr>Tema de Office</vt:lpstr>
      <vt:lpstr>Presentación de PowerPoint</vt:lpstr>
      <vt:lpstr>Presentación de PowerPoint</vt:lpstr>
      <vt:lpstr>Presentación de PowerPoint</vt:lpstr>
      <vt:lpstr>Justificacion</vt:lpstr>
      <vt:lpstr>Presentación de PowerPoint</vt:lpstr>
      <vt:lpstr>Propiedades de las Operaciones</vt:lpstr>
      <vt:lpstr> </vt:lpstr>
      <vt:lpstr>Concatenación </vt:lpstr>
      <vt:lpstr>Cerradura de Kleene</vt:lpstr>
      <vt:lpstr>Aplicación en Expresiones Regulares </vt:lpstr>
      <vt:lpstr>Relación entre  Expresiones Regulares y Autómatas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12</cp:revision>
  <dcterms:created xsi:type="dcterms:W3CDTF">2026-02-14T13:39:49Z</dcterms:created>
  <dcterms:modified xsi:type="dcterms:W3CDTF">2026-03-04T04:22:52Z</dcterms:modified>
</cp:coreProperties>
</file>