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56" r:id="rId2"/>
    <p:sldId id="277" r:id="rId3"/>
    <p:sldId id="280" r:id="rId4"/>
    <p:sldId id="281" r:id="rId5"/>
    <p:sldId id="262" r:id="rId6"/>
    <p:sldId id="267" r:id="rId7"/>
    <p:sldId id="268" r:id="rId8"/>
    <p:sldId id="269" r:id="rId9"/>
    <p:sldId id="271" r:id="rId10"/>
    <p:sldId id="272" r:id="rId11"/>
    <p:sldId id="278" r:id="rId12"/>
    <p:sldId id="279" r:id="rId13"/>
  </p:sldIdLst>
  <p:sldSz cx="12192000" cy="6858000"/>
  <p:notesSz cx="6858000" cy="91440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80" d="100"/>
          <a:sy n="80" d="100"/>
        </p:scale>
        <p:origin x="782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E8B5F02-D1F5-4A8C-9E16-879D2FAAE6D2}" type="datetimeFigureOut">
              <a:rPr lang="es-MX" smtClean="0"/>
              <a:t>14/03/2026</a:t>
            </a:fld>
            <a:endParaRPr lang="es-MX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MX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D08E338-237A-4FD6-91E8-AE3330CCA9C3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6514339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2797A6B-C8A5-A893-2EB4-EAD802D176B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2E9E8D3-983C-1FBA-F097-D58F78BA921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0900B84-F10B-751B-5908-FC18C6422C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44A13C-A177-47DD-903A-D74B08377F6A}" type="datetimeFigureOut">
              <a:rPr lang="es-MX" smtClean="0"/>
              <a:t>14/03/2026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9A144F6-9197-16C1-A989-50C7A0E496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6DBAAEB-1ABF-E979-BAC2-66927C69E8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C0401-0789-4F42-8B4F-18107AD06626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8272842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C953055-0E2B-CB93-6D72-F6BFE456BA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C4E3AF4-F79F-763A-9DAF-C6C175A55F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8555DC5-3E01-56E7-631E-04D4A904C3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44A13C-A177-47DD-903A-D74B08377F6A}" type="datetimeFigureOut">
              <a:rPr lang="es-MX" smtClean="0"/>
              <a:t>14/03/2026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5B53975-0403-0D44-401F-71EA01B217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63A586F-F27C-248A-D498-ADFFEFE936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C0401-0789-4F42-8B4F-18107AD06626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0642903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8E57E10-4726-7D0A-E1F8-93439BFF20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7C9CE40-9232-9AC4-A9C6-59A9B84731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81E2653-A3E2-493F-59D0-04D925E189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44A13C-A177-47DD-903A-D74B08377F6A}" type="datetimeFigureOut">
              <a:rPr lang="es-MX" smtClean="0"/>
              <a:t>14/03/2026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ADFD983-ED4E-38A6-DCD5-DB9EF6346A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D502D16-37E0-4D0D-5BB7-68A3BDB4C6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C0401-0789-4F42-8B4F-18107AD06626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0220891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C60EA5F-E2E9-67F7-E292-C84FCB6FE5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F13239D-44F0-8AD1-FF8A-D79A0CA8177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3769FD3F-356E-6F60-6A25-56717337FB9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917C736D-F3D7-D82B-BB73-E65F46C18C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44A13C-A177-47DD-903A-D74B08377F6A}" type="datetimeFigureOut">
              <a:rPr lang="es-MX" smtClean="0"/>
              <a:t>14/03/2026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C692062B-BCCF-C2B2-D017-588DE12297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D0151BE1-2995-E957-66B3-46B9B16082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C0401-0789-4F42-8B4F-18107AD06626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3249257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81DADCE-63AC-54B1-31D4-48CC1F8280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BE131CC-B953-9DA0-84D7-342F7661F7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D1ADC272-3617-466E-F6F0-16A81075165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6FDDCA87-61A0-8976-E9D1-03EDE6E1143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350B0352-2822-B688-0216-B6F8FB988F7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DA0D192A-B4AB-FABE-D934-62F9F766DA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44A13C-A177-47DD-903A-D74B08377F6A}" type="datetimeFigureOut">
              <a:rPr lang="es-MX" smtClean="0"/>
              <a:t>14/03/2026</a:t>
            </a:fld>
            <a:endParaRPr lang="es-MX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144D7369-D1D8-1689-1054-CDA2898646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538CB792-19CD-5761-B36C-DC7CC94594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C0401-0789-4F42-8B4F-18107AD06626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8315431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43624A4-077D-5486-B7D9-11FE3E1CD1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8C9D86B5-34D8-63DA-CA5E-EB64FC37BE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44A13C-A177-47DD-903A-D74B08377F6A}" type="datetimeFigureOut">
              <a:rPr lang="es-MX" smtClean="0"/>
              <a:t>14/03/2026</a:t>
            </a:fld>
            <a:endParaRPr lang="es-MX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9F1CB502-05EE-237F-2E29-626516E35C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254E0509-4D7E-FE6F-A441-3510269013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C0401-0789-4F42-8B4F-18107AD06626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9341986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13D2BB40-084A-590A-568A-4FBC55A7A4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44A13C-A177-47DD-903A-D74B08377F6A}" type="datetimeFigureOut">
              <a:rPr lang="es-MX" smtClean="0"/>
              <a:t>14/03/2026</a:t>
            </a:fld>
            <a:endParaRPr lang="es-MX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1031945B-3C8A-CC04-90CF-86A6FB9266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0554383D-C3B6-AF0C-D3F1-2DB73EE04B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C0401-0789-4F42-8B4F-18107AD06626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3353909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C207E4E-5A62-92CA-7ACA-D3C6DC7B51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843F851-D00D-6093-A986-6C5F35C56C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A96ECEE2-9260-2C2E-BC65-C11DE6DFFFA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196AE17B-F1FD-90D4-9A7D-49AAC564DE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44A13C-A177-47DD-903A-D74B08377F6A}" type="datetimeFigureOut">
              <a:rPr lang="es-MX" smtClean="0"/>
              <a:t>14/03/2026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561728C9-30AA-559A-CB48-C6B8663133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CCF8E15D-A90F-EA63-7DF9-46C7810DE3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C0401-0789-4F42-8B4F-18107AD06626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6893188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E2DD758-F948-B2A7-DC08-B687F91B8D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A1C892A9-AD64-6F7D-FEE0-967756CA2CD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MX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1D238B53-DBF4-A3CB-9E1A-386EDC4987F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B7447764-59A7-8823-1D1A-CF02217FD7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44A13C-A177-47DD-903A-D74B08377F6A}" type="datetimeFigureOut">
              <a:rPr lang="es-MX" smtClean="0"/>
              <a:t>14/03/2026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80A3D35F-6746-D59D-FB36-01BA85D388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765FE247-F7A5-5BF6-7419-4D0C9940C5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C0401-0789-4F42-8B4F-18107AD06626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493462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23FDA35-B0B4-E787-3D72-F031788E9A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E0F0C38B-FF72-ABBA-A9A3-57F2D48A308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21F98C5-01BB-732B-11CB-7FADA28975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44A13C-A177-47DD-903A-D74B08377F6A}" type="datetimeFigureOut">
              <a:rPr lang="es-MX" smtClean="0"/>
              <a:t>14/03/2026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09513AF-E2D8-C50D-31BA-5F9705122F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26C0206-8F5E-04A4-613D-6EC2B5984F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C0401-0789-4F42-8B4F-18107AD06626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1663017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5FF840C8-6BFA-8DB5-04D9-2FFF606B96A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483C22F2-C176-59C9-19E7-C3A94CBB29F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612D9B4-8F58-BE69-EF19-A521A08A9F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44A13C-A177-47DD-903A-D74B08377F6A}" type="datetimeFigureOut">
              <a:rPr lang="es-MX" smtClean="0"/>
              <a:t>14/03/2026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DB5D75A-9186-AC95-3F60-D715E515C1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FF889DC-3AEB-704A-0884-C0B1EAD821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C0401-0789-4F42-8B4F-18107AD06626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3761727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C9D456B8-F474-DC21-CA32-71136C73E1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5776B21C-E071-F827-CAB6-8D305BED3A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CD4E7BC-1E44-2D21-548A-97F953824FB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744A13C-A177-47DD-903A-D74B08377F6A}" type="datetimeFigureOut">
              <a:rPr lang="es-MX" smtClean="0"/>
              <a:t>14/03/2026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D6E618A-2674-067F-A9B5-F000F8046AE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F06479D-49A2-2EF0-B936-306AEE0B0EF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BDC0401-0789-4F42-8B4F-18107AD06626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8322534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MX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rafaelrav8770/LYA1.git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6A6D08AB-61BB-EEE3-6719-CF79ED3E246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lum bright="70000" contrast="-7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  <a14:imgEffect>
                      <a14:colorTemperature colorTemp="4700"/>
                    </a14:imgEffect>
                    <a14:imgEffect>
                      <a14:saturation sat="33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72790" y="510540"/>
            <a:ext cx="5303520" cy="5836920"/>
          </a:xfrm>
          <a:prstGeom prst="rect">
            <a:avLst/>
          </a:prstGeom>
          <a:noFill/>
        </p:spPr>
      </p:pic>
      <p:pic>
        <p:nvPicPr>
          <p:cNvPr id="11" name="Imagen 10" descr="Logotipo&#10;&#10;Descripción generada automáticamente">
            <a:extLst>
              <a:ext uri="{FF2B5EF4-FFF2-40B4-BE49-F238E27FC236}">
                <a16:creationId xmlns:a16="http://schemas.microsoft.com/office/drawing/2014/main" id="{76F1C2F9-DDFC-CBF2-E48A-E64DE4A37DF6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5905" y="46990"/>
            <a:ext cx="2301875" cy="1016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503E3447-738B-D8B1-B47D-8EBA647E114F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537" b="20603"/>
          <a:stretch/>
        </p:blipFill>
        <p:spPr bwMode="auto">
          <a:xfrm>
            <a:off x="277495" y="46990"/>
            <a:ext cx="1516380" cy="1089660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14" name="CuadroTexto 13">
            <a:extLst>
              <a:ext uri="{FF2B5EF4-FFF2-40B4-BE49-F238E27FC236}">
                <a16:creationId xmlns:a16="http://schemas.microsoft.com/office/drawing/2014/main" id="{29E7C584-C5C9-2730-50A7-5B38CB386E43}"/>
              </a:ext>
            </a:extLst>
          </p:cNvPr>
          <p:cNvSpPr txBox="1"/>
          <p:nvPr/>
        </p:nvSpPr>
        <p:spPr>
          <a:xfrm>
            <a:off x="1943100" y="374015"/>
            <a:ext cx="7124700" cy="7991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  <a:buNone/>
            </a:pPr>
            <a:r>
              <a:rPr lang="es-MX" sz="2000" b="1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TECNOLÓGICO NACIONAL DE MÉXICO</a:t>
            </a:r>
            <a:endParaRPr lang="es-MX" sz="1600" kern="100" dirty="0"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07000"/>
              </a:lnSpc>
              <a:spcAft>
                <a:spcPts val="800"/>
              </a:spcAft>
              <a:buNone/>
            </a:pPr>
            <a:r>
              <a:rPr lang="es-MX" sz="1800" b="1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UNIDAD ACADÉMICA VENUSTIANO CARRANZA</a:t>
            </a:r>
            <a:endParaRPr lang="es-MX" sz="1600" kern="100" dirty="0"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A4A9E771-2CE9-85CC-E1A4-169697077E49}"/>
              </a:ext>
            </a:extLst>
          </p:cNvPr>
          <p:cNvSpPr txBox="1"/>
          <p:nvPr/>
        </p:nvSpPr>
        <p:spPr>
          <a:xfrm>
            <a:off x="2550694" y="1329363"/>
            <a:ext cx="6096000" cy="367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1800" b="1" kern="0" dirty="0"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“</a:t>
            </a:r>
            <a:r>
              <a:rPr lang="es-MX" sz="1800" b="1" kern="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INGENIERÍA EN SISTEMAS COMPUTACIONALES</a:t>
            </a:r>
            <a:r>
              <a:rPr lang="en-US" sz="1800" b="1" kern="0" dirty="0"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”</a:t>
            </a:r>
            <a:endParaRPr lang="es-MX" sz="1800" kern="100" dirty="0"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1FA8327A-BF41-1978-27AD-7942D85077F5}"/>
              </a:ext>
            </a:extLst>
          </p:cNvPr>
          <p:cNvSpPr txBox="1"/>
          <p:nvPr/>
        </p:nvSpPr>
        <p:spPr>
          <a:xfrm>
            <a:off x="2550694" y="1824715"/>
            <a:ext cx="6096000" cy="1195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  <a:buNone/>
            </a:pPr>
            <a:r>
              <a:rPr lang="es-MX" sz="1800" b="1" kern="0" dirty="0"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LENGUAJES Y AUTOMATAS 1</a:t>
            </a:r>
            <a:r>
              <a:rPr lang="en-US" sz="1800" b="1" kern="0" dirty="0"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  </a:t>
            </a:r>
            <a:endParaRPr lang="es-MX" sz="2000" kern="100" dirty="0"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1800" b="1" kern="0" dirty="0"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ACTIVIDAD  </a:t>
            </a:r>
            <a:endParaRPr lang="es-MX" sz="2000" kern="100" dirty="0"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07000"/>
              </a:lnSpc>
              <a:spcAft>
                <a:spcPts val="800"/>
              </a:spcAft>
              <a:buNone/>
            </a:pPr>
            <a:r>
              <a:rPr lang="es-MX" sz="2000" b="1" kern="0" dirty="0"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ACTIVIDAD 2.3 –BANCO DE EJERCICIOS </a:t>
            </a:r>
            <a:endParaRPr lang="es-MX" sz="2000" kern="100" dirty="0"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1" name="CuadroTexto 20">
            <a:extLst>
              <a:ext uri="{FF2B5EF4-FFF2-40B4-BE49-F238E27FC236}">
                <a16:creationId xmlns:a16="http://schemas.microsoft.com/office/drawing/2014/main" id="{2BBA4D31-60C9-991B-3D34-3585F8C8348E}"/>
              </a:ext>
            </a:extLst>
          </p:cNvPr>
          <p:cNvSpPr txBox="1"/>
          <p:nvPr/>
        </p:nvSpPr>
        <p:spPr>
          <a:xfrm>
            <a:off x="4010525" y="3048181"/>
            <a:ext cx="2983833" cy="11651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1800" b="1" kern="0" dirty="0"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PRESENTA</a:t>
            </a:r>
            <a:endParaRPr lang="es-MX" sz="2000" kern="100" dirty="0"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1800" b="1" kern="0" dirty="0"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 </a:t>
            </a:r>
            <a:endParaRPr lang="es-MX" sz="2000" kern="100" dirty="0"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1800" b="1" kern="0" dirty="0"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 </a:t>
            </a:r>
            <a:endParaRPr lang="es-MX" sz="2000" kern="100" dirty="0"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D2284A4D-D83A-881E-63B3-639ACAB1ACB4}"/>
              </a:ext>
            </a:extLst>
          </p:cNvPr>
          <p:cNvSpPr txBox="1"/>
          <p:nvPr/>
        </p:nvSpPr>
        <p:spPr>
          <a:xfrm>
            <a:off x="2550694" y="4809176"/>
            <a:ext cx="6096000" cy="9284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spcAft>
                <a:spcPts val="800"/>
              </a:spcAft>
              <a:buNone/>
            </a:pPr>
            <a:r>
              <a:rPr lang="en-US" sz="1600" b="1" kern="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DOCENTE</a:t>
            </a:r>
            <a:endParaRPr lang="es-MX" sz="1800" kern="100" dirty="0"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50000"/>
              </a:lnSpc>
              <a:spcAft>
                <a:spcPts val="800"/>
              </a:spcAft>
              <a:buNone/>
            </a:pPr>
            <a:r>
              <a:rPr lang="es-MX" sz="1800" b="1" kern="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ING. FRANCISCO JAVIER MINGO VELAZQUEZ</a:t>
            </a:r>
            <a:endParaRPr lang="es-MX" sz="1800" kern="100" dirty="0"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5" name="CuadroTexto 24">
            <a:extLst>
              <a:ext uri="{FF2B5EF4-FFF2-40B4-BE49-F238E27FC236}">
                <a16:creationId xmlns:a16="http://schemas.microsoft.com/office/drawing/2014/main" id="{2669DBE5-FAF1-35CF-08F0-D08353CB1B1B}"/>
              </a:ext>
            </a:extLst>
          </p:cNvPr>
          <p:cNvSpPr txBox="1"/>
          <p:nvPr/>
        </p:nvSpPr>
        <p:spPr>
          <a:xfrm>
            <a:off x="1943100" y="6070067"/>
            <a:ext cx="7812505" cy="10782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  <a:buNone/>
            </a:pPr>
            <a:r>
              <a:rPr lang="es-MX" sz="2000" b="1" kern="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19 DE FEBRERO DE 2026</a:t>
            </a:r>
            <a:r>
              <a:rPr lang="es-MX" sz="1800" b="1" kern="0" dirty="0"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kern="0" dirty="0"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VENUSTIANO CARRANZA, CHIAPAS</a:t>
            </a:r>
            <a:endParaRPr lang="es-MX" sz="2000" kern="100" dirty="0"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buNone/>
            </a:pPr>
            <a:br>
              <a:rPr lang="en-US" sz="1800" kern="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</a:br>
            <a:endParaRPr lang="es-MX" dirty="0"/>
          </a:p>
        </p:txBody>
      </p:sp>
      <p:graphicFrame>
        <p:nvGraphicFramePr>
          <p:cNvPr id="2" name="Tabla 1">
            <a:extLst>
              <a:ext uri="{FF2B5EF4-FFF2-40B4-BE49-F238E27FC236}">
                <a16:creationId xmlns:a16="http://schemas.microsoft.com/office/drawing/2014/main" id="{51BE557D-A0FC-B3DC-7988-CE5D6EE8CD1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62960544"/>
              </p:ext>
            </p:extLst>
          </p:nvPr>
        </p:nvGraphicFramePr>
        <p:xfrm>
          <a:off x="3249461" y="3714744"/>
          <a:ext cx="4505960" cy="76200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697480">
                  <a:extLst>
                    <a:ext uri="{9D8B030D-6E8A-4147-A177-3AD203B41FA5}">
                      <a16:colId xmlns:a16="http://schemas.microsoft.com/office/drawing/2014/main" val="3511045433"/>
                    </a:ext>
                  </a:extLst>
                </a:gridCol>
                <a:gridCol w="1808480">
                  <a:extLst>
                    <a:ext uri="{9D8B030D-6E8A-4147-A177-3AD203B41FA5}">
                      <a16:colId xmlns:a16="http://schemas.microsoft.com/office/drawing/2014/main" val="2206197710"/>
                    </a:ext>
                  </a:extLst>
                </a:gridCol>
              </a:tblGrid>
              <a:tr h="254000"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1" kern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SEMESTRE</a:t>
                      </a:r>
                      <a:endParaRPr lang="es-MX" sz="1200" b="1" kern="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1" kern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SEXTO</a:t>
                      </a:r>
                      <a:endParaRPr lang="es-MX" sz="1200" b="1" kern="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71488426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1" kern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NOMBRE DEL ALUMNO</a:t>
                      </a:r>
                      <a:endParaRPr lang="es-MX" sz="1200" b="1" kern="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1" kern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MATRICULA</a:t>
                      </a:r>
                      <a:endParaRPr lang="es-MX" sz="1200" b="1" kern="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19201878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1" kern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Rafael Aquino Villanueva</a:t>
                      </a:r>
                      <a:endParaRPr lang="es-MX" sz="1200" b="1" kern="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1" kern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231260073</a:t>
                      </a:r>
                      <a:endParaRPr lang="es-MX" sz="1200" b="1" kern="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9839439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010118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984AC19-6C54-FA7A-AE87-739748DE75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b="1" dirty="0">
                <a:solidFill>
                  <a:schemeClr val="accent1"/>
                </a:solidFill>
              </a:rPr>
              <a:t>introducción</a:t>
            </a:r>
          </a:p>
        </p:txBody>
      </p:sp>
      <p:sp>
        <p:nvSpPr>
          <p:cNvPr id="5" name="Marcador de contenido 4">
            <a:extLst>
              <a:ext uri="{FF2B5EF4-FFF2-40B4-BE49-F238E27FC236}">
                <a16:creationId xmlns:a16="http://schemas.microsoft.com/office/drawing/2014/main" id="{462DE513-0D07-9DA3-DDA6-952B303630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just">
              <a:buNone/>
            </a:pPr>
            <a:r>
              <a:rPr lang="es-MX" dirty="0"/>
              <a:t>El banco de ejercicios tiene como finalidad reforzar los conceptos relacionados con las operaciones sobre lenguajes formales. A través de ejercicios prácticos de unión, concatenación y cerradura de Kleene, se fortalece la comprensión de los lenguajes regulares y su relación con las expresiones regulares y los autómatas finitos.</a:t>
            </a:r>
          </a:p>
        </p:txBody>
      </p:sp>
    </p:spTree>
    <p:extLst>
      <p:ext uri="{BB962C8B-B14F-4D97-AF65-F5344CB8AC3E}">
        <p14:creationId xmlns:p14="http://schemas.microsoft.com/office/powerpoint/2010/main" val="42596821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535C4DD-C3CE-CC82-2937-5A4D60DA9B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b="1" dirty="0">
                <a:solidFill>
                  <a:schemeClr val="accent1"/>
                </a:solidFill>
              </a:rPr>
              <a:t>Objetivo</a:t>
            </a:r>
            <a:br>
              <a:rPr lang="es-MX" b="1" dirty="0"/>
            </a:br>
            <a:endParaRPr lang="es-MX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183D004-A2AB-2A48-F179-096EC2C7E4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just">
              <a:buNone/>
            </a:pPr>
            <a:r>
              <a:rPr lang="es-MX" dirty="0"/>
              <a:t>Aplicar de manera práctica las operaciones sobre lenguajes, mediante la resolución de ejercicios de unión, concatenación y cerradura de Kleene, con el propósito de reforzar la </a:t>
            </a:r>
            <a:r>
              <a:rPr lang="es-MX"/>
              <a:t>comprensión de </a:t>
            </a:r>
            <a:r>
              <a:rPr lang="es-MX" dirty="0"/>
              <a:t>los lenguajes regulares y su relación con las expresiones regulares y los autómatas finitos.</a:t>
            </a:r>
          </a:p>
          <a:p>
            <a:pPr marL="0" indent="0">
              <a:buNone/>
            </a:pPr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4508665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F0A1C44-8E84-9979-5E1A-AFE6B3A641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b="1" dirty="0" err="1">
                <a:solidFill>
                  <a:schemeClr val="accent1"/>
                </a:solidFill>
              </a:rPr>
              <a:t>Justificacion</a:t>
            </a:r>
            <a:endParaRPr lang="es-MX" b="1" dirty="0">
              <a:solidFill>
                <a:schemeClr val="accent1"/>
              </a:solidFill>
            </a:endParaRP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6081BAC-8408-09F7-05CA-5F0B6D1A31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just">
              <a:buNone/>
            </a:pPr>
            <a:r>
              <a:rPr lang="es-MX" dirty="0"/>
              <a:t>el trabajo se realizo de esta forma para explicar los conceptos de forma clara y ordenada. Se Incluyo ejemplos de unión, concatenación y cerradura de Kleene para entender mejor cómo funcionan las operaciones en los lenguajes formales</a:t>
            </a:r>
          </a:p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9655077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83EEC4F-F53C-F3DD-3E1E-CA3FC40995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b="1" dirty="0">
                <a:solidFill>
                  <a:schemeClr val="accent1"/>
                </a:solidFill>
              </a:rPr>
              <a:t>Ejercicio UNIÓN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096C9892-639B-200B-51F6-647361806C35}"/>
              </a:ext>
            </a:extLst>
          </p:cNvPr>
          <p:cNvSpPr txBox="1"/>
          <p:nvPr/>
        </p:nvSpPr>
        <p:spPr>
          <a:xfrm>
            <a:off x="1247775" y="2102614"/>
            <a:ext cx="3638550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s-MX" b="1" dirty="0"/>
              <a:t>Ejercicio 1</a:t>
            </a:r>
          </a:p>
          <a:p>
            <a:pPr>
              <a:buNone/>
            </a:pPr>
            <a:r>
              <a:rPr lang="es-MX" dirty="0"/>
              <a:t>Sea el alfabeto:</a:t>
            </a:r>
          </a:p>
          <a:p>
            <a:pPr>
              <a:buNone/>
            </a:pPr>
            <a:r>
              <a:rPr lang="el-GR" dirty="0"/>
              <a:t>Σ = {</a:t>
            </a:r>
            <a:r>
              <a:rPr lang="es-MX" dirty="0"/>
              <a:t>d, e, f, g, h}</a:t>
            </a:r>
          </a:p>
          <a:p>
            <a:pPr>
              <a:buNone/>
            </a:pPr>
            <a:r>
              <a:rPr lang="es-MX" dirty="0"/>
              <a:t>Lenguajes:</a:t>
            </a:r>
          </a:p>
          <a:p>
            <a:pPr>
              <a:buNone/>
            </a:pPr>
            <a:r>
              <a:rPr lang="es-MX" dirty="0"/>
              <a:t>L₁ = {d, e, f}</a:t>
            </a:r>
            <a:br>
              <a:rPr lang="es-MX" dirty="0"/>
            </a:br>
            <a:r>
              <a:rPr lang="es-MX" dirty="0"/>
              <a:t>L₂ = {f, g, h}</a:t>
            </a:r>
          </a:p>
          <a:p>
            <a:pPr>
              <a:buNone/>
            </a:pPr>
            <a:r>
              <a:rPr lang="es-MX" dirty="0"/>
              <a:t>Unión:</a:t>
            </a:r>
          </a:p>
          <a:p>
            <a:pPr>
              <a:buNone/>
            </a:pPr>
            <a:r>
              <a:rPr lang="es-MX" dirty="0"/>
              <a:t>L₁ ∪ L₂</a:t>
            </a:r>
          </a:p>
          <a:p>
            <a:pPr>
              <a:buNone/>
            </a:pPr>
            <a:r>
              <a:rPr lang="es-MX" dirty="0"/>
              <a:t>Resultado:</a:t>
            </a:r>
          </a:p>
          <a:p>
            <a:pPr>
              <a:buNone/>
            </a:pPr>
            <a:r>
              <a:rPr lang="es-MX" dirty="0"/>
              <a:t>L₁ ∪ L₂ = {d, e, f, g, h}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337F85B7-50F5-127A-EA6A-8E10153AB34E}"/>
              </a:ext>
            </a:extLst>
          </p:cNvPr>
          <p:cNvSpPr txBox="1"/>
          <p:nvPr/>
        </p:nvSpPr>
        <p:spPr>
          <a:xfrm>
            <a:off x="4362450" y="2102614"/>
            <a:ext cx="3048000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s-MX" b="1" dirty="0"/>
              <a:t>Ejercicio 2</a:t>
            </a:r>
          </a:p>
          <a:p>
            <a:pPr>
              <a:buNone/>
            </a:pPr>
            <a:r>
              <a:rPr lang="es-MX" dirty="0"/>
              <a:t>Sea el alfabeto:</a:t>
            </a:r>
          </a:p>
          <a:p>
            <a:pPr>
              <a:buNone/>
            </a:pPr>
            <a:r>
              <a:rPr lang="el-GR" dirty="0"/>
              <a:t>Σ = {1,2,3,4,5,6}</a:t>
            </a:r>
          </a:p>
          <a:p>
            <a:pPr>
              <a:buNone/>
            </a:pPr>
            <a:r>
              <a:rPr lang="es-MX" dirty="0"/>
              <a:t>Lenguajes:</a:t>
            </a:r>
          </a:p>
          <a:p>
            <a:pPr>
              <a:buNone/>
            </a:pPr>
            <a:r>
              <a:rPr lang="es-MX" dirty="0"/>
              <a:t>L₁ = {2,4,6}</a:t>
            </a:r>
            <a:br>
              <a:rPr lang="es-MX" dirty="0"/>
            </a:br>
            <a:r>
              <a:rPr lang="es-MX" dirty="0"/>
              <a:t>L₂ = {1,3,5}</a:t>
            </a:r>
          </a:p>
          <a:p>
            <a:pPr>
              <a:buNone/>
            </a:pPr>
            <a:r>
              <a:rPr lang="es-MX" dirty="0"/>
              <a:t>Unión:</a:t>
            </a:r>
          </a:p>
          <a:p>
            <a:pPr>
              <a:buNone/>
            </a:pPr>
            <a:r>
              <a:rPr lang="es-MX" dirty="0"/>
              <a:t>L₁ ∪ L₂</a:t>
            </a:r>
          </a:p>
          <a:p>
            <a:pPr>
              <a:buNone/>
            </a:pPr>
            <a:r>
              <a:rPr lang="es-MX" dirty="0"/>
              <a:t>Resultado:</a:t>
            </a:r>
          </a:p>
          <a:p>
            <a:pPr>
              <a:buNone/>
            </a:pPr>
            <a:r>
              <a:rPr lang="es-MX" dirty="0"/>
              <a:t>L₁ ∪ L₂ = {1,2,3,4,5,6}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92D01BFA-5ACE-8FF7-5D30-4D0082758547}"/>
              </a:ext>
            </a:extLst>
          </p:cNvPr>
          <p:cNvSpPr txBox="1"/>
          <p:nvPr/>
        </p:nvSpPr>
        <p:spPr>
          <a:xfrm>
            <a:off x="7667625" y="2102614"/>
            <a:ext cx="2857500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s-MX" b="1" dirty="0"/>
              <a:t>Ejercicio 3</a:t>
            </a:r>
          </a:p>
          <a:p>
            <a:pPr>
              <a:buNone/>
            </a:pPr>
            <a:r>
              <a:rPr lang="es-MX" dirty="0"/>
              <a:t>Sea el alfabeto:</a:t>
            </a:r>
          </a:p>
          <a:p>
            <a:pPr>
              <a:buNone/>
            </a:pPr>
            <a:r>
              <a:rPr lang="el-GR" dirty="0"/>
              <a:t>Σ = {</a:t>
            </a:r>
            <a:r>
              <a:rPr lang="es-MX" dirty="0" err="1"/>
              <a:t>k,l,m,n</a:t>
            </a:r>
            <a:r>
              <a:rPr lang="es-MX" dirty="0"/>
              <a:t>}</a:t>
            </a:r>
          </a:p>
          <a:p>
            <a:pPr>
              <a:buNone/>
            </a:pPr>
            <a:r>
              <a:rPr lang="es-MX" dirty="0"/>
              <a:t>Lenguajes:</a:t>
            </a:r>
          </a:p>
          <a:p>
            <a:pPr>
              <a:buNone/>
            </a:pPr>
            <a:r>
              <a:rPr lang="es-MX" dirty="0"/>
              <a:t>L₁ = {</a:t>
            </a:r>
            <a:r>
              <a:rPr lang="es-MX" dirty="0" err="1"/>
              <a:t>k,l</a:t>
            </a:r>
            <a:r>
              <a:rPr lang="es-MX" dirty="0"/>
              <a:t>}</a:t>
            </a:r>
            <a:br>
              <a:rPr lang="es-MX" dirty="0"/>
            </a:br>
            <a:r>
              <a:rPr lang="es-MX" dirty="0"/>
              <a:t>L₂ = {</a:t>
            </a:r>
            <a:r>
              <a:rPr lang="es-MX" dirty="0" err="1"/>
              <a:t>l,m,n</a:t>
            </a:r>
            <a:r>
              <a:rPr lang="es-MX" dirty="0"/>
              <a:t>}</a:t>
            </a:r>
          </a:p>
          <a:p>
            <a:pPr>
              <a:buNone/>
            </a:pPr>
            <a:r>
              <a:rPr lang="es-MX" dirty="0"/>
              <a:t>Unión:</a:t>
            </a:r>
          </a:p>
          <a:p>
            <a:pPr>
              <a:buNone/>
            </a:pPr>
            <a:r>
              <a:rPr lang="es-MX" dirty="0"/>
              <a:t>L₁ ∪ L₂</a:t>
            </a:r>
          </a:p>
          <a:p>
            <a:pPr>
              <a:buNone/>
            </a:pPr>
            <a:r>
              <a:rPr lang="es-MX" dirty="0"/>
              <a:t>Resultado:</a:t>
            </a:r>
          </a:p>
          <a:p>
            <a:pPr>
              <a:buNone/>
            </a:pPr>
            <a:r>
              <a:rPr lang="es-MX" dirty="0"/>
              <a:t>L₁ ∪ L₂ = {</a:t>
            </a:r>
            <a:r>
              <a:rPr lang="es-MX" dirty="0" err="1"/>
              <a:t>k,l,m,n</a:t>
            </a:r>
            <a:r>
              <a:rPr lang="es-MX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41485112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9BD63F-13AE-2404-8DD8-ADB8C3D2B7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3BF4D8DA-7F85-305F-C487-74CA815E018D}"/>
              </a:ext>
            </a:extLst>
          </p:cNvPr>
          <p:cNvSpPr txBox="1"/>
          <p:nvPr/>
        </p:nvSpPr>
        <p:spPr>
          <a:xfrm>
            <a:off x="1238250" y="1512064"/>
            <a:ext cx="2695575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s-MX" b="1" dirty="0"/>
              <a:t>Ejercicio 4</a:t>
            </a:r>
          </a:p>
          <a:p>
            <a:pPr>
              <a:buNone/>
            </a:pPr>
            <a:r>
              <a:rPr lang="es-MX" dirty="0"/>
              <a:t>Sea el alfabeto:</a:t>
            </a:r>
          </a:p>
          <a:p>
            <a:pPr>
              <a:buNone/>
            </a:pPr>
            <a:r>
              <a:rPr lang="el-GR" dirty="0"/>
              <a:t>Σ = {</a:t>
            </a:r>
            <a:r>
              <a:rPr lang="es-MX" dirty="0" err="1"/>
              <a:t>x,y,z</a:t>
            </a:r>
            <a:r>
              <a:rPr lang="es-MX" dirty="0"/>
              <a:t>}</a:t>
            </a:r>
          </a:p>
          <a:p>
            <a:pPr>
              <a:buNone/>
            </a:pPr>
            <a:r>
              <a:rPr lang="es-MX" dirty="0"/>
              <a:t>Lenguajes:</a:t>
            </a:r>
          </a:p>
          <a:p>
            <a:pPr>
              <a:buNone/>
            </a:pPr>
            <a:r>
              <a:rPr lang="es-MX" dirty="0"/>
              <a:t>L₁ = {</a:t>
            </a:r>
            <a:r>
              <a:rPr lang="es-MX" dirty="0" err="1"/>
              <a:t>x,y,z</a:t>
            </a:r>
            <a:r>
              <a:rPr lang="es-MX" dirty="0"/>
              <a:t>}</a:t>
            </a:r>
            <a:br>
              <a:rPr lang="es-MX" dirty="0"/>
            </a:br>
            <a:r>
              <a:rPr lang="es-MX" dirty="0"/>
              <a:t>L₂ = {y}</a:t>
            </a:r>
          </a:p>
          <a:p>
            <a:pPr>
              <a:buNone/>
            </a:pPr>
            <a:r>
              <a:rPr lang="es-MX" dirty="0"/>
              <a:t>Unión:</a:t>
            </a:r>
          </a:p>
          <a:p>
            <a:pPr>
              <a:buNone/>
            </a:pPr>
            <a:r>
              <a:rPr lang="es-MX" dirty="0"/>
              <a:t>L₁ ∪ L₂</a:t>
            </a:r>
          </a:p>
          <a:p>
            <a:pPr>
              <a:buNone/>
            </a:pPr>
            <a:r>
              <a:rPr lang="es-MX" dirty="0"/>
              <a:t>Resultado:</a:t>
            </a:r>
          </a:p>
          <a:p>
            <a:pPr>
              <a:buNone/>
            </a:pPr>
            <a:r>
              <a:rPr lang="es-MX" dirty="0"/>
              <a:t>L₁ ∪ L₂ = {</a:t>
            </a:r>
            <a:r>
              <a:rPr lang="es-MX" dirty="0" err="1"/>
              <a:t>x,y,z</a:t>
            </a:r>
            <a:r>
              <a:rPr lang="es-MX" dirty="0"/>
              <a:t>}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92ED2686-C34A-5085-2311-D4AD372B0655}"/>
              </a:ext>
            </a:extLst>
          </p:cNvPr>
          <p:cNvSpPr txBox="1"/>
          <p:nvPr/>
        </p:nvSpPr>
        <p:spPr>
          <a:xfrm>
            <a:off x="7534275" y="1512064"/>
            <a:ext cx="6096000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s-MX" b="1" dirty="0"/>
              <a:t>Ejercicio 5</a:t>
            </a:r>
          </a:p>
          <a:p>
            <a:pPr>
              <a:buNone/>
            </a:pPr>
            <a:r>
              <a:rPr lang="es-MX" dirty="0"/>
              <a:t>Sea el alfabeto:</a:t>
            </a:r>
          </a:p>
          <a:p>
            <a:pPr>
              <a:buNone/>
            </a:pPr>
            <a:r>
              <a:rPr lang="el-GR" dirty="0"/>
              <a:t>Σ = {</a:t>
            </a:r>
            <a:r>
              <a:rPr lang="es-MX" dirty="0" err="1"/>
              <a:t>p,q,r,s,t</a:t>
            </a:r>
            <a:r>
              <a:rPr lang="es-MX" dirty="0"/>
              <a:t>}</a:t>
            </a:r>
          </a:p>
          <a:p>
            <a:pPr>
              <a:buNone/>
            </a:pPr>
            <a:r>
              <a:rPr lang="es-MX" dirty="0"/>
              <a:t>Lenguajes:</a:t>
            </a:r>
          </a:p>
          <a:p>
            <a:pPr>
              <a:buNone/>
            </a:pPr>
            <a:r>
              <a:rPr lang="es-MX" dirty="0"/>
              <a:t>L₁ = {</a:t>
            </a:r>
            <a:r>
              <a:rPr lang="es-MX" dirty="0" err="1"/>
              <a:t>p,q</a:t>
            </a:r>
            <a:r>
              <a:rPr lang="es-MX" dirty="0"/>
              <a:t>}</a:t>
            </a:r>
            <a:br>
              <a:rPr lang="es-MX" dirty="0"/>
            </a:br>
            <a:r>
              <a:rPr lang="es-MX" dirty="0"/>
              <a:t>L₂ = {</a:t>
            </a:r>
            <a:r>
              <a:rPr lang="es-MX" dirty="0" err="1"/>
              <a:t>r,s,t</a:t>
            </a:r>
            <a:r>
              <a:rPr lang="es-MX" dirty="0"/>
              <a:t>}</a:t>
            </a:r>
          </a:p>
          <a:p>
            <a:pPr>
              <a:buNone/>
            </a:pPr>
            <a:r>
              <a:rPr lang="es-MX" dirty="0"/>
              <a:t>Unión:</a:t>
            </a:r>
          </a:p>
          <a:p>
            <a:pPr>
              <a:buNone/>
            </a:pPr>
            <a:r>
              <a:rPr lang="es-MX" dirty="0"/>
              <a:t>L₁ ∪ L₂</a:t>
            </a:r>
          </a:p>
          <a:p>
            <a:pPr>
              <a:buNone/>
            </a:pPr>
            <a:r>
              <a:rPr lang="es-MX" dirty="0"/>
              <a:t>Resultado:</a:t>
            </a:r>
          </a:p>
          <a:p>
            <a:pPr>
              <a:buNone/>
            </a:pPr>
            <a:r>
              <a:rPr lang="es-MX" dirty="0"/>
              <a:t>L₁ ∪ L₂ = {</a:t>
            </a:r>
            <a:r>
              <a:rPr lang="es-MX" dirty="0" err="1"/>
              <a:t>p,q,r,s,t</a:t>
            </a:r>
            <a:r>
              <a:rPr lang="es-MX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6807156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BB531C-C802-464F-6CED-8F4E3A629D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0B4AB2C-9E1D-7E66-8556-D5CF571EC9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b="1" dirty="0">
                <a:solidFill>
                  <a:schemeClr val="accent1"/>
                </a:solidFill>
              </a:rPr>
              <a:t>Ejercicio CONCATENACIÓN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E7EB1F9F-DB46-54B9-3212-8639624C7EAF}"/>
              </a:ext>
            </a:extLst>
          </p:cNvPr>
          <p:cNvSpPr txBox="1"/>
          <p:nvPr/>
        </p:nvSpPr>
        <p:spPr>
          <a:xfrm>
            <a:off x="838200" y="2074039"/>
            <a:ext cx="2952750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s-MX" b="1" dirty="0"/>
              <a:t>Ejercicio 1</a:t>
            </a:r>
          </a:p>
          <a:p>
            <a:pPr>
              <a:buNone/>
            </a:pPr>
            <a:r>
              <a:rPr lang="es-MX" dirty="0"/>
              <a:t>Sea el alfabeto:</a:t>
            </a:r>
          </a:p>
          <a:p>
            <a:pPr>
              <a:buNone/>
            </a:pPr>
            <a:r>
              <a:rPr lang="el-GR" dirty="0"/>
              <a:t>Σ = {</a:t>
            </a:r>
            <a:r>
              <a:rPr lang="es-MX" dirty="0" err="1"/>
              <a:t>r,i,o,m,a</a:t>
            </a:r>
            <a:r>
              <a:rPr lang="es-MX" dirty="0"/>
              <a:t>}</a:t>
            </a:r>
          </a:p>
          <a:p>
            <a:pPr>
              <a:buNone/>
            </a:pPr>
            <a:r>
              <a:rPr lang="es-MX" dirty="0"/>
              <a:t>Lenguajes:</a:t>
            </a:r>
          </a:p>
          <a:p>
            <a:pPr>
              <a:buNone/>
            </a:pPr>
            <a:r>
              <a:rPr lang="es-MX" dirty="0"/>
              <a:t>L₁ = {rio}</a:t>
            </a:r>
            <a:br>
              <a:rPr lang="es-MX" dirty="0"/>
            </a:br>
            <a:r>
              <a:rPr lang="es-MX" dirty="0"/>
              <a:t>L₂ = {mar}</a:t>
            </a:r>
          </a:p>
          <a:p>
            <a:pPr>
              <a:buNone/>
            </a:pPr>
            <a:r>
              <a:rPr lang="es-MX" dirty="0"/>
              <a:t>Concatenación:</a:t>
            </a:r>
          </a:p>
          <a:p>
            <a:pPr>
              <a:buNone/>
            </a:pPr>
            <a:r>
              <a:rPr lang="es-MX" dirty="0"/>
              <a:t>L₁L₂</a:t>
            </a:r>
          </a:p>
          <a:p>
            <a:pPr>
              <a:buNone/>
            </a:pPr>
            <a:r>
              <a:rPr lang="es-MX" dirty="0"/>
              <a:t>Resultado:</a:t>
            </a:r>
          </a:p>
          <a:p>
            <a:pPr>
              <a:buNone/>
            </a:pPr>
            <a:r>
              <a:rPr lang="es-MX" dirty="0"/>
              <a:t>L₁L₂ = {</a:t>
            </a:r>
            <a:r>
              <a:rPr lang="es-MX" dirty="0" err="1"/>
              <a:t>riomar</a:t>
            </a:r>
            <a:r>
              <a:rPr lang="es-MX" dirty="0"/>
              <a:t>}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A7FD2D1E-2789-665E-8A1C-6AE4BB2AD970}"/>
              </a:ext>
            </a:extLst>
          </p:cNvPr>
          <p:cNvSpPr txBox="1"/>
          <p:nvPr/>
        </p:nvSpPr>
        <p:spPr>
          <a:xfrm>
            <a:off x="3790950" y="1997839"/>
            <a:ext cx="2638425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s-MX" b="1" dirty="0"/>
              <a:t>Ejercicio 2</a:t>
            </a:r>
          </a:p>
          <a:p>
            <a:pPr>
              <a:buNone/>
            </a:pPr>
            <a:r>
              <a:rPr lang="es-MX" dirty="0"/>
              <a:t>Sea el alfabeto:</a:t>
            </a:r>
          </a:p>
          <a:p>
            <a:pPr>
              <a:buNone/>
            </a:pPr>
            <a:r>
              <a:rPr lang="el-GR" dirty="0"/>
              <a:t>Σ = {</a:t>
            </a:r>
            <a:r>
              <a:rPr lang="es-MX" dirty="0" err="1"/>
              <a:t>t,e,c,n,m</a:t>
            </a:r>
            <a:r>
              <a:rPr lang="es-MX" dirty="0"/>
              <a:t>}</a:t>
            </a:r>
          </a:p>
          <a:p>
            <a:pPr>
              <a:buNone/>
            </a:pPr>
            <a:r>
              <a:rPr lang="es-MX" dirty="0"/>
              <a:t>Lenguajes:</a:t>
            </a:r>
          </a:p>
          <a:p>
            <a:pPr>
              <a:buNone/>
            </a:pPr>
            <a:r>
              <a:rPr lang="es-MX" dirty="0"/>
              <a:t>L₁ = {</a:t>
            </a:r>
            <a:r>
              <a:rPr lang="es-MX" dirty="0" err="1"/>
              <a:t>tec</a:t>
            </a:r>
            <a:r>
              <a:rPr lang="es-MX" dirty="0"/>
              <a:t>}</a:t>
            </a:r>
            <a:br>
              <a:rPr lang="es-MX" dirty="0"/>
            </a:br>
            <a:r>
              <a:rPr lang="es-MX" dirty="0"/>
              <a:t>L₂ = {nm}</a:t>
            </a:r>
          </a:p>
          <a:p>
            <a:pPr>
              <a:buNone/>
            </a:pPr>
            <a:r>
              <a:rPr lang="es-MX" dirty="0"/>
              <a:t>Concatenación:</a:t>
            </a:r>
          </a:p>
          <a:p>
            <a:pPr>
              <a:buNone/>
            </a:pPr>
            <a:r>
              <a:rPr lang="es-MX" dirty="0"/>
              <a:t>L₁L₂</a:t>
            </a:r>
          </a:p>
          <a:p>
            <a:pPr>
              <a:buNone/>
            </a:pPr>
            <a:r>
              <a:rPr lang="es-MX" dirty="0"/>
              <a:t>Resultado:</a:t>
            </a:r>
          </a:p>
          <a:p>
            <a:pPr>
              <a:buNone/>
            </a:pPr>
            <a:r>
              <a:rPr lang="es-MX" dirty="0"/>
              <a:t>L₁L₂ = {</a:t>
            </a:r>
            <a:r>
              <a:rPr lang="es-MX" dirty="0" err="1"/>
              <a:t>tecnm</a:t>
            </a:r>
            <a:r>
              <a:rPr lang="es-MX" dirty="0"/>
              <a:t>}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92ACB021-97DF-149C-4087-855E881BE008}"/>
              </a:ext>
            </a:extLst>
          </p:cNvPr>
          <p:cNvSpPr txBox="1"/>
          <p:nvPr/>
        </p:nvSpPr>
        <p:spPr>
          <a:xfrm>
            <a:off x="7048500" y="2071628"/>
            <a:ext cx="3238500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s-MX" b="1" dirty="0"/>
              <a:t>Ejercicio 3</a:t>
            </a:r>
          </a:p>
          <a:p>
            <a:pPr>
              <a:buNone/>
            </a:pPr>
            <a:r>
              <a:rPr lang="es-MX" dirty="0"/>
              <a:t>Sea el alfabeto:</a:t>
            </a:r>
          </a:p>
          <a:p>
            <a:pPr>
              <a:buNone/>
            </a:pPr>
            <a:r>
              <a:rPr lang="el-GR" dirty="0"/>
              <a:t>Σ = {0,2,6,</a:t>
            </a:r>
            <a:r>
              <a:rPr lang="es-MX" dirty="0"/>
              <a:t>I,S,C}</a:t>
            </a:r>
          </a:p>
          <a:p>
            <a:pPr>
              <a:buNone/>
            </a:pPr>
            <a:r>
              <a:rPr lang="es-MX" dirty="0"/>
              <a:t>Lenguajes:</a:t>
            </a:r>
          </a:p>
          <a:p>
            <a:pPr>
              <a:buNone/>
            </a:pPr>
            <a:r>
              <a:rPr lang="es-MX" dirty="0"/>
              <a:t>L₁ = {2026}</a:t>
            </a:r>
            <a:br>
              <a:rPr lang="es-MX" dirty="0"/>
            </a:br>
            <a:r>
              <a:rPr lang="es-MX" dirty="0"/>
              <a:t>L₂ = {ISC}</a:t>
            </a:r>
          </a:p>
          <a:p>
            <a:pPr>
              <a:buNone/>
            </a:pPr>
            <a:r>
              <a:rPr lang="es-MX" dirty="0"/>
              <a:t>Concatenación:</a:t>
            </a:r>
          </a:p>
          <a:p>
            <a:pPr>
              <a:buNone/>
            </a:pPr>
            <a:r>
              <a:rPr lang="es-MX" dirty="0"/>
              <a:t>L₁L₂</a:t>
            </a:r>
          </a:p>
          <a:p>
            <a:pPr>
              <a:buNone/>
            </a:pPr>
            <a:r>
              <a:rPr lang="es-MX" dirty="0"/>
              <a:t>Resultado:</a:t>
            </a:r>
          </a:p>
          <a:p>
            <a:pPr>
              <a:buNone/>
            </a:pPr>
            <a:r>
              <a:rPr lang="es-MX" dirty="0"/>
              <a:t>L₁L₂ = {2026ISC}</a:t>
            </a:r>
          </a:p>
        </p:txBody>
      </p:sp>
    </p:spTree>
    <p:extLst>
      <p:ext uri="{BB962C8B-B14F-4D97-AF65-F5344CB8AC3E}">
        <p14:creationId xmlns:p14="http://schemas.microsoft.com/office/powerpoint/2010/main" val="34539208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ED401E-223C-4D8E-DF89-E858451AE4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AF441D95-B463-7757-1E2E-5B4A01BC215C}"/>
              </a:ext>
            </a:extLst>
          </p:cNvPr>
          <p:cNvSpPr txBox="1"/>
          <p:nvPr/>
        </p:nvSpPr>
        <p:spPr>
          <a:xfrm>
            <a:off x="1409700" y="1845439"/>
            <a:ext cx="2552700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s-MX" b="1" dirty="0"/>
              <a:t>Ejercicio 4</a:t>
            </a:r>
          </a:p>
          <a:p>
            <a:pPr>
              <a:buNone/>
            </a:pPr>
            <a:r>
              <a:rPr lang="es-MX" dirty="0"/>
              <a:t>Sea el alfabeto:</a:t>
            </a:r>
          </a:p>
          <a:p>
            <a:pPr>
              <a:buNone/>
            </a:pPr>
            <a:r>
              <a:rPr lang="el-GR" dirty="0"/>
              <a:t>Σ = {</a:t>
            </a:r>
            <a:r>
              <a:rPr lang="es-MX" dirty="0" err="1"/>
              <a:t>c,h,i,a,p,s,m,x</a:t>
            </a:r>
            <a:r>
              <a:rPr lang="es-MX" dirty="0"/>
              <a:t>}</a:t>
            </a:r>
          </a:p>
          <a:p>
            <a:pPr>
              <a:buNone/>
            </a:pPr>
            <a:r>
              <a:rPr lang="es-MX" dirty="0"/>
              <a:t>Lenguajes:</a:t>
            </a:r>
          </a:p>
          <a:p>
            <a:pPr>
              <a:buNone/>
            </a:pPr>
            <a:r>
              <a:rPr lang="es-MX" dirty="0"/>
              <a:t>L₁ = {</a:t>
            </a:r>
            <a:r>
              <a:rPr lang="es-MX" dirty="0" err="1"/>
              <a:t>chiapas</a:t>
            </a:r>
            <a:r>
              <a:rPr lang="es-MX" dirty="0"/>
              <a:t>}</a:t>
            </a:r>
            <a:br>
              <a:rPr lang="es-MX" dirty="0"/>
            </a:br>
            <a:r>
              <a:rPr lang="es-MX" dirty="0"/>
              <a:t>L₂ = {</a:t>
            </a:r>
            <a:r>
              <a:rPr lang="es-MX" dirty="0" err="1"/>
              <a:t>mx</a:t>
            </a:r>
            <a:r>
              <a:rPr lang="es-MX" dirty="0"/>
              <a:t>}</a:t>
            </a:r>
          </a:p>
          <a:p>
            <a:pPr>
              <a:buNone/>
            </a:pPr>
            <a:r>
              <a:rPr lang="es-MX" dirty="0"/>
              <a:t>Concatenación:</a:t>
            </a:r>
          </a:p>
          <a:p>
            <a:pPr>
              <a:buNone/>
            </a:pPr>
            <a:r>
              <a:rPr lang="es-MX" dirty="0"/>
              <a:t>L₁L₂</a:t>
            </a:r>
          </a:p>
          <a:p>
            <a:pPr>
              <a:buNone/>
            </a:pPr>
            <a:r>
              <a:rPr lang="es-MX" dirty="0"/>
              <a:t>Resultado:</a:t>
            </a:r>
          </a:p>
          <a:p>
            <a:pPr>
              <a:buNone/>
            </a:pPr>
            <a:r>
              <a:rPr lang="es-MX" dirty="0"/>
              <a:t>L₁L₂ = {</a:t>
            </a:r>
            <a:r>
              <a:rPr lang="es-MX" dirty="0" err="1"/>
              <a:t>chiapasmx</a:t>
            </a:r>
            <a:r>
              <a:rPr lang="es-MX" dirty="0"/>
              <a:t>}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74C35D8E-A09B-C27E-38C5-B34FCE246D22}"/>
              </a:ext>
            </a:extLst>
          </p:cNvPr>
          <p:cNvSpPr txBox="1"/>
          <p:nvPr/>
        </p:nvSpPr>
        <p:spPr>
          <a:xfrm>
            <a:off x="5915025" y="1912114"/>
            <a:ext cx="3381375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s-MX" b="1" dirty="0"/>
              <a:t>Ejercicio 5</a:t>
            </a:r>
          </a:p>
          <a:p>
            <a:pPr>
              <a:buNone/>
            </a:pPr>
            <a:r>
              <a:rPr lang="es-MX" dirty="0"/>
              <a:t>Sea el alfabeto:</a:t>
            </a:r>
          </a:p>
          <a:p>
            <a:pPr>
              <a:buNone/>
            </a:pPr>
            <a:r>
              <a:rPr lang="el-GR" dirty="0"/>
              <a:t>Σ = </a:t>
            </a:r>
            <a:r>
              <a:rPr lang="pl-PL" dirty="0"/>
              <a:t>{a,u,t,o,m</a:t>
            </a:r>
            <a:r>
              <a:rPr lang="es-MX" dirty="0"/>
              <a:t>}</a:t>
            </a:r>
          </a:p>
          <a:p>
            <a:pPr>
              <a:buNone/>
            </a:pPr>
            <a:r>
              <a:rPr lang="es-MX" dirty="0"/>
              <a:t>Lenguajes:</a:t>
            </a:r>
          </a:p>
          <a:p>
            <a:pPr>
              <a:buNone/>
            </a:pPr>
            <a:r>
              <a:rPr lang="es-MX" dirty="0"/>
              <a:t>L₁ = {auto}</a:t>
            </a:r>
            <a:br>
              <a:rPr lang="es-MX" dirty="0"/>
            </a:br>
            <a:r>
              <a:rPr lang="es-MX" dirty="0"/>
              <a:t>L₂ = {mata}</a:t>
            </a:r>
          </a:p>
          <a:p>
            <a:pPr>
              <a:buNone/>
            </a:pPr>
            <a:r>
              <a:rPr lang="es-MX" dirty="0"/>
              <a:t>Concatenación:</a:t>
            </a:r>
          </a:p>
          <a:p>
            <a:pPr>
              <a:buNone/>
            </a:pPr>
            <a:r>
              <a:rPr lang="es-MX" dirty="0"/>
              <a:t>L₁L₂</a:t>
            </a:r>
          </a:p>
          <a:p>
            <a:pPr>
              <a:buNone/>
            </a:pPr>
            <a:r>
              <a:rPr lang="es-MX" dirty="0"/>
              <a:t>Resultado:</a:t>
            </a:r>
          </a:p>
          <a:p>
            <a:pPr>
              <a:buNone/>
            </a:pPr>
            <a:r>
              <a:rPr lang="es-MX" dirty="0"/>
              <a:t>L₁L₂ = {</a:t>
            </a:r>
            <a:r>
              <a:rPr lang="es-MX" dirty="0" err="1"/>
              <a:t>automata</a:t>
            </a:r>
            <a:r>
              <a:rPr lang="es-MX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86678801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8A4585-DE57-BCF0-FAF7-B79C261FD1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E9AB926-BC34-CD1C-AFC4-45B45A7A96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b="1" dirty="0">
                <a:solidFill>
                  <a:schemeClr val="accent1"/>
                </a:solidFill>
              </a:rPr>
              <a:t>Ejercicio de CERRADURA DE KLEENE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76C45742-348A-3FD6-A6A8-8D831ACDC88F}"/>
              </a:ext>
            </a:extLst>
          </p:cNvPr>
          <p:cNvSpPr txBox="1"/>
          <p:nvPr/>
        </p:nvSpPr>
        <p:spPr>
          <a:xfrm>
            <a:off x="838200" y="2136338"/>
            <a:ext cx="2827020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s-MX" b="1" dirty="0"/>
              <a:t>Ejercicio 1</a:t>
            </a:r>
          </a:p>
          <a:p>
            <a:pPr>
              <a:buNone/>
            </a:pPr>
            <a:r>
              <a:rPr lang="es-MX" dirty="0"/>
              <a:t>Sea el alfabeto:</a:t>
            </a:r>
          </a:p>
          <a:p>
            <a:pPr>
              <a:buNone/>
            </a:pPr>
            <a:r>
              <a:rPr lang="es-MX" dirty="0"/>
              <a:t>Σ = {r}</a:t>
            </a:r>
          </a:p>
          <a:p>
            <a:pPr>
              <a:buNone/>
            </a:pPr>
            <a:r>
              <a:rPr lang="es-MX" dirty="0"/>
              <a:t>Lenguaje:</a:t>
            </a:r>
          </a:p>
          <a:p>
            <a:pPr>
              <a:buNone/>
            </a:pPr>
            <a:r>
              <a:rPr lang="es-MX" dirty="0"/>
              <a:t>L = {r}</a:t>
            </a:r>
          </a:p>
          <a:p>
            <a:pPr>
              <a:buNone/>
            </a:pPr>
            <a:r>
              <a:rPr lang="es-MX" dirty="0"/>
              <a:t>Cerradura de Kleene:</a:t>
            </a:r>
          </a:p>
          <a:p>
            <a:pPr>
              <a:buNone/>
            </a:pPr>
            <a:r>
              <a:rPr lang="es-MX" dirty="0"/>
              <a:t>L*</a:t>
            </a:r>
          </a:p>
          <a:p>
            <a:pPr>
              <a:buNone/>
            </a:pPr>
            <a:r>
              <a:rPr lang="es-MX" dirty="0"/>
              <a:t>Resultado:</a:t>
            </a:r>
          </a:p>
          <a:p>
            <a:pPr>
              <a:buNone/>
            </a:pPr>
            <a:r>
              <a:rPr lang="es-MX" dirty="0"/>
              <a:t>L* = {ε, r, </a:t>
            </a:r>
            <a:r>
              <a:rPr lang="es-MX" dirty="0" err="1"/>
              <a:t>rr</a:t>
            </a:r>
            <a:r>
              <a:rPr lang="es-MX" dirty="0"/>
              <a:t>, </a:t>
            </a:r>
            <a:r>
              <a:rPr lang="es-MX" dirty="0" err="1"/>
              <a:t>rrr</a:t>
            </a:r>
            <a:r>
              <a:rPr lang="es-MX" dirty="0"/>
              <a:t>, …}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B598CB11-7BEF-3287-CEA3-DDDC9AED84C1}"/>
              </a:ext>
            </a:extLst>
          </p:cNvPr>
          <p:cNvSpPr txBox="1"/>
          <p:nvPr/>
        </p:nvSpPr>
        <p:spPr>
          <a:xfrm>
            <a:off x="3947160" y="2154316"/>
            <a:ext cx="3192780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s-MX" b="1" dirty="0"/>
              <a:t>Ejercicio 2</a:t>
            </a:r>
          </a:p>
          <a:p>
            <a:pPr>
              <a:buNone/>
            </a:pPr>
            <a:r>
              <a:rPr lang="es-MX" dirty="0"/>
              <a:t>Sea el alfabeto:</a:t>
            </a:r>
          </a:p>
          <a:p>
            <a:pPr>
              <a:buNone/>
            </a:pPr>
            <a:r>
              <a:rPr lang="es-MX" dirty="0"/>
              <a:t>Σ = {1,0}</a:t>
            </a:r>
          </a:p>
          <a:p>
            <a:pPr>
              <a:buNone/>
            </a:pPr>
            <a:r>
              <a:rPr lang="es-MX" dirty="0"/>
              <a:t>Lenguaje:</a:t>
            </a:r>
          </a:p>
          <a:p>
            <a:pPr>
              <a:buNone/>
            </a:pPr>
            <a:r>
              <a:rPr lang="es-MX" dirty="0"/>
              <a:t>L = {10}</a:t>
            </a:r>
          </a:p>
          <a:p>
            <a:pPr>
              <a:buNone/>
            </a:pPr>
            <a:r>
              <a:rPr lang="es-MX" dirty="0"/>
              <a:t>Cerradura de Kleene:</a:t>
            </a:r>
          </a:p>
          <a:p>
            <a:pPr>
              <a:buNone/>
            </a:pPr>
            <a:r>
              <a:rPr lang="es-MX" dirty="0"/>
              <a:t>L*</a:t>
            </a:r>
          </a:p>
          <a:p>
            <a:pPr>
              <a:buNone/>
            </a:pPr>
            <a:r>
              <a:rPr lang="es-MX" dirty="0"/>
              <a:t>Resultado:</a:t>
            </a:r>
          </a:p>
          <a:p>
            <a:pPr>
              <a:buNone/>
            </a:pPr>
            <a:r>
              <a:rPr lang="es-MX" dirty="0"/>
              <a:t>L* = {ε, 10, 1010, 101010, …}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8268657E-7532-A506-E564-889C2DF153F3}"/>
              </a:ext>
            </a:extLst>
          </p:cNvPr>
          <p:cNvSpPr txBox="1"/>
          <p:nvPr/>
        </p:nvSpPr>
        <p:spPr>
          <a:xfrm>
            <a:off x="7696200" y="2136337"/>
            <a:ext cx="3063240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s-MX" b="1" dirty="0"/>
              <a:t>Ejercicio 3</a:t>
            </a:r>
          </a:p>
          <a:p>
            <a:pPr>
              <a:buNone/>
            </a:pPr>
            <a:r>
              <a:rPr lang="es-MX" dirty="0"/>
              <a:t>Sea el alfabeto:</a:t>
            </a:r>
          </a:p>
          <a:p>
            <a:pPr>
              <a:buNone/>
            </a:pPr>
            <a:r>
              <a:rPr lang="es-MX" dirty="0"/>
              <a:t>Σ = {</a:t>
            </a:r>
            <a:r>
              <a:rPr lang="es-MX" dirty="0" err="1"/>
              <a:t>x,z</a:t>
            </a:r>
            <a:r>
              <a:rPr lang="es-MX" dirty="0"/>
              <a:t>}</a:t>
            </a:r>
          </a:p>
          <a:p>
            <a:pPr>
              <a:buNone/>
            </a:pPr>
            <a:r>
              <a:rPr lang="es-MX" dirty="0"/>
              <a:t>Lenguaje:</a:t>
            </a:r>
          </a:p>
          <a:p>
            <a:pPr>
              <a:buNone/>
            </a:pPr>
            <a:r>
              <a:rPr lang="es-MX" dirty="0"/>
              <a:t>L = {x}</a:t>
            </a:r>
          </a:p>
          <a:p>
            <a:pPr>
              <a:buNone/>
            </a:pPr>
            <a:r>
              <a:rPr lang="es-MX" dirty="0"/>
              <a:t>Cerradura de Kleene:</a:t>
            </a:r>
          </a:p>
          <a:p>
            <a:pPr>
              <a:buNone/>
            </a:pPr>
            <a:r>
              <a:rPr lang="es-MX" dirty="0"/>
              <a:t>L*</a:t>
            </a:r>
          </a:p>
          <a:p>
            <a:pPr>
              <a:buNone/>
            </a:pPr>
            <a:r>
              <a:rPr lang="es-MX" dirty="0"/>
              <a:t>Resultado:</a:t>
            </a:r>
          </a:p>
          <a:p>
            <a:pPr>
              <a:buNone/>
            </a:pPr>
            <a:r>
              <a:rPr lang="es-MX" dirty="0"/>
              <a:t>L* = {ε, x, </a:t>
            </a:r>
            <a:r>
              <a:rPr lang="es-MX" dirty="0" err="1"/>
              <a:t>xx</a:t>
            </a:r>
            <a:r>
              <a:rPr lang="es-MX" dirty="0"/>
              <a:t>, </a:t>
            </a:r>
            <a:r>
              <a:rPr lang="es-MX" dirty="0" err="1"/>
              <a:t>xxx</a:t>
            </a:r>
            <a:r>
              <a:rPr lang="es-MX" dirty="0"/>
              <a:t>, …}</a:t>
            </a:r>
          </a:p>
        </p:txBody>
      </p:sp>
    </p:spTree>
    <p:extLst>
      <p:ext uri="{BB962C8B-B14F-4D97-AF65-F5344CB8AC3E}">
        <p14:creationId xmlns:p14="http://schemas.microsoft.com/office/powerpoint/2010/main" val="409385260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F468EC-9CB1-3879-7594-EFBC9A2634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D3A76380-F4E8-7A74-DC50-7C148BCC0F7E}"/>
              </a:ext>
            </a:extLst>
          </p:cNvPr>
          <p:cNvSpPr txBox="1"/>
          <p:nvPr/>
        </p:nvSpPr>
        <p:spPr>
          <a:xfrm>
            <a:off x="1203960" y="1991559"/>
            <a:ext cx="3970020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s-MX" b="1" dirty="0"/>
              <a:t>Ejercicio 4</a:t>
            </a:r>
          </a:p>
          <a:p>
            <a:pPr>
              <a:buNone/>
            </a:pPr>
            <a:r>
              <a:rPr lang="es-MX" dirty="0"/>
              <a:t>Sea el alfabeto:</a:t>
            </a:r>
          </a:p>
          <a:p>
            <a:pPr>
              <a:buNone/>
            </a:pPr>
            <a:r>
              <a:rPr lang="el-GR" dirty="0"/>
              <a:t>Σ = {</a:t>
            </a:r>
            <a:r>
              <a:rPr lang="es-MX" dirty="0"/>
              <a:t>p, r}</a:t>
            </a:r>
          </a:p>
          <a:p>
            <a:pPr>
              <a:buNone/>
            </a:pPr>
            <a:r>
              <a:rPr lang="es-MX" dirty="0"/>
              <a:t>Lenguaje:</a:t>
            </a:r>
          </a:p>
          <a:p>
            <a:pPr>
              <a:buNone/>
            </a:pPr>
            <a:r>
              <a:rPr lang="es-MX" dirty="0"/>
              <a:t>L = {</a:t>
            </a:r>
            <a:r>
              <a:rPr lang="es-MX" dirty="0" err="1"/>
              <a:t>pr</a:t>
            </a:r>
            <a:r>
              <a:rPr lang="es-MX" dirty="0"/>
              <a:t>}</a:t>
            </a:r>
          </a:p>
          <a:p>
            <a:pPr>
              <a:buNone/>
            </a:pPr>
            <a:r>
              <a:rPr lang="es-MX" dirty="0"/>
              <a:t>Cerradura de Kleene:</a:t>
            </a:r>
          </a:p>
          <a:p>
            <a:pPr>
              <a:buNone/>
            </a:pPr>
            <a:r>
              <a:rPr lang="es-MX" dirty="0"/>
              <a:t>L*</a:t>
            </a:r>
          </a:p>
          <a:p>
            <a:pPr>
              <a:buNone/>
            </a:pPr>
            <a:r>
              <a:rPr lang="es-MX" dirty="0"/>
              <a:t>Resultado:</a:t>
            </a:r>
          </a:p>
          <a:p>
            <a:pPr>
              <a:buNone/>
            </a:pPr>
            <a:r>
              <a:rPr lang="es-MX" dirty="0"/>
              <a:t>L* = {</a:t>
            </a:r>
            <a:r>
              <a:rPr lang="el-GR" dirty="0"/>
              <a:t>ε, </a:t>
            </a:r>
            <a:r>
              <a:rPr lang="es-MX" dirty="0" err="1"/>
              <a:t>pr</a:t>
            </a:r>
            <a:r>
              <a:rPr lang="es-MX" dirty="0"/>
              <a:t>, </a:t>
            </a:r>
            <a:r>
              <a:rPr lang="es-MX" dirty="0" err="1"/>
              <a:t>prpr</a:t>
            </a:r>
            <a:r>
              <a:rPr lang="es-MX" dirty="0"/>
              <a:t>, </a:t>
            </a:r>
            <a:r>
              <a:rPr lang="es-MX" dirty="0" err="1"/>
              <a:t>prprpr</a:t>
            </a:r>
            <a:r>
              <a:rPr lang="es-MX" dirty="0"/>
              <a:t>, …}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07F3F1C3-4D9B-B070-D0E7-95F245A6C2A4}"/>
              </a:ext>
            </a:extLst>
          </p:cNvPr>
          <p:cNvSpPr txBox="1"/>
          <p:nvPr/>
        </p:nvSpPr>
        <p:spPr>
          <a:xfrm>
            <a:off x="7018022" y="1862019"/>
            <a:ext cx="3512820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s-MX" b="1" dirty="0"/>
              <a:t>Ejercicio 5</a:t>
            </a:r>
          </a:p>
          <a:p>
            <a:pPr>
              <a:buNone/>
            </a:pPr>
            <a:r>
              <a:rPr lang="es-MX" dirty="0"/>
              <a:t>Sea el alfabeto:</a:t>
            </a:r>
          </a:p>
          <a:p>
            <a:pPr>
              <a:buNone/>
            </a:pPr>
            <a:r>
              <a:rPr lang="es-MX" dirty="0"/>
              <a:t>Σ = {8}</a:t>
            </a:r>
          </a:p>
          <a:p>
            <a:pPr>
              <a:buNone/>
            </a:pPr>
            <a:r>
              <a:rPr lang="es-MX" dirty="0"/>
              <a:t>Lenguaje:</a:t>
            </a:r>
          </a:p>
          <a:p>
            <a:pPr>
              <a:buNone/>
            </a:pPr>
            <a:r>
              <a:rPr lang="es-MX" dirty="0"/>
              <a:t>L = {8}</a:t>
            </a:r>
          </a:p>
          <a:p>
            <a:pPr>
              <a:buNone/>
            </a:pPr>
            <a:r>
              <a:rPr lang="es-MX" dirty="0"/>
              <a:t>Cerradura de Kleene:</a:t>
            </a:r>
          </a:p>
          <a:p>
            <a:pPr>
              <a:buNone/>
            </a:pPr>
            <a:r>
              <a:rPr lang="es-MX" dirty="0"/>
              <a:t>L*</a:t>
            </a:r>
          </a:p>
          <a:p>
            <a:pPr>
              <a:buNone/>
            </a:pPr>
            <a:r>
              <a:rPr lang="es-MX" dirty="0"/>
              <a:t>Resultado:</a:t>
            </a:r>
          </a:p>
          <a:p>
            <a:pPr>
              <a:buNone/>
            </a:pPr>
            <a:r>
              <a:rPr lang="es-MX" dirty="0"/>
              <a:t>L* = {ε, 8, 88, 888, …}</a:t>
            </a:r>
          </a:p>
        </p:txBody>
      </p:sp>
    </p:spTree>
    <p:extLst>
      <p:ext uri="{BB962C8B-B14F-4D97-AF65-F5344CB8AC3E}">
        <p14:creationId xmlns:p14="http://schemas.microsoft.com/office/powerpoint/2010/main" val="133829908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CBF2BB8-B1CE-DBE3-4104-D684C92D8E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b="1" dirty="0">
                <a:solidFill>
                  <a:schemeClr val="accent1"/>
                </a:solidFill>
              </a:rPr>
              <a:t>Conclusión</a:t>
            </a:r>
            <a:br>
              <a:rPr lang="es-MX" b="1" dirty="0"/>
            </a:br>
            <a:endParaRPr lang="es-MX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CC733A6-E1FC-67A9-F203-439790AA87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just">
              <a:buNone/>
            </a:pPr>
            <a:r>
              <a:rPr lang="es-MX" dirty="0"/>
              <a:t>Se logra reforzar los conceptos relacionados con las operaciones sobre lenguajes formales. A través de ejercicios prácticos de unión, concatenación y cerradura de Kleene, se aplican las definiciones matemáticas vistas en clase, fortaleciendo la comprensión de los lenguajes regulares y su relación con las expresiones regulares y los autómatas finitos.</a:t>
            </a:r>
          </a:p>
        </p:txBody>
      </p:sp>
    </p:spTree>
    <p:extLst>
      <p:ext uri="{BB962C8B-B14F-4D97-AF65-F5344CB8AC3E}">
        <p14:creationId xmlns:p14="http://schemas.microsoft.com/office/powerpoint/2010/main" val="201494763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9BE12FA-7905-6EBE-E05C-179517BEC8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Fuente De Informacion</a:t>
            </a:r>
            <a:endParaRPr lang="es-MX" b="1" dirty="0"/>
          </a:p>
          <a:p>
            <a:pPr marL="0" indent="0">
              <a:buNone/>
            </a:pPr>
            <a:endParaRPr lang="es-MX" dirty="0"/>
          </a:p>
          <a:p>
            <a:pPr marL="0" lvl="0" indent="0">
              <a:buNone/>
            </a:pPr>
            <a:r>
              <a:rPr lang="es-MX" dirty="0" err="1"/>
              <a:t>Hopcroft</a:t>
            </a:r>
            <a:r>
              <a:rPr lang="es-MX" dirty="0"/>
              <a:t>, J. E., </a:t>
            </a:r>
            <a:r>
              <a:rPr lang="es-MX" dirty="0" err="1"/>
              <a:t>Motwani</a:t>
            </a:r>
            <a:r>
              <a:rPr lang="es-MX" dirty="0"/>
              <a:t>, R., &amp; Ullman, J. D.. </a:t>
            </a:r>
            <a:r>
              <a:rPr lang="es-MX" i="1" dirty="0"/>
              <a:t>Introducción a la teoría de autómatas, lenguajes y computación</a:t>
            </a:r>
            <a:r>
              <a:rPr lang="es-MX" dirty="0"/>
              <a:t> (</a:t>
            </a:r>
            <a:r>
              <a:rPr lang="es-MX" dirty="0" err="1"/>
              <a:t>pdf</a:t>
            </a:r>
            <a:r>
              <a:rPr lang="es-MX" dirty="0"/>
              <a:t>). </a:t>
            </a:r>
          </a:p>
          <a:p>
            <a:pPr marL="0" lvl="0" indent="0">
              <a:buNone/>
            </a:pPr>
            <a:r>
              <a:rPr lang="es-MX" dirty="0"/>
              <a:t>LYA1 – Lenguajes y Autómatas I. Repositorio en GitHub.</a:t>
            </a:r>
            <a:br>
              <a:rPr lang="es-MX" dirty="0"/>
            </a:br>
            <a:r>
              <a:rPr lang="es-MX" dirty="0">
                <a:hlinkClick r:id="rId2"/>
              </a:rPr>
              <a:t>https://github.com/rafaelrav8770/LYA1.git</a:t>
            </a:r>
            <a:endParaRPr lang="es-MX" dirty="0"/>
          </a:p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48323799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271</TotalTime>
  <Words>1067</Words>
  <Application>Microsoft Office PowerPoint</Application>
  <PresentationFormat>Panorámica</PresentationFormat>
  <Paragraphs>169</Paragraphs>
  <Slides>12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12</vt:i4>
      </vt:variant>
    </vt:vector>
  </HeadingPairs>
  <TitlesOfParts>
    <vt:vector size="16" baseType="lpstr">
      <vt:lpstr>Arial</vt:lpstr>
      <vt:lpstr>Calibri</vt:lpstr>
      <vt:lpstr>Calibri Light</vt:lpstr>
      <vt:lpstr>Tema de Office</vt:lpstr>
      <vt:lpstr>Presentación de PowerPoint</vt:lpstr>
      <vt:lpstr>introducción</vt:lpstr>
      <vt:lpstr>Objetivo </vt:lpstr>
      <vt:lpstr>Justificacion</vt:lpstr>
      <vt:lpstr>Ejercicio UNIÓN</vt:lpstr>
      <vt:lpstr>Presentación de PowerPoint</vt:lpstr>
      <vt:lpstr>Ejercicio CONCATENACIÓN</vt:lpstr>
      <vt:lpstr>Presentación de PowerPoint</vt:lpstr>
      <vt:lpstr>Ejercicio de CERRADURA DE KLEENE</vt:lpstr>
      <vt:lpstr>Presentación de PowerPoint</vt:lpstr>
      <vt:lpstr>Conclusión 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rafael aquino villanueva</dc:creator>
  <cp:lastModifiedBy>rafael aquino villanueva</cp:lastModifiedBy>
  <cp:revision>28</cp:revision>
  <dcterms:created xsi:type="dcterms:W3CDTF">2026-02-14T13:39:49Z</dcterms:created>
  <dcterms:modified xsi:type="dcterms:W3CDTF">2026-03-15T04:16:23Z</dcterms:modified>
</cp:coreProperties>
</file>