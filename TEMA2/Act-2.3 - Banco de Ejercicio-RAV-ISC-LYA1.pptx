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7" r:id="rId3"/>
    <p:sldId id="280" r:id="rId4"/>
    <p:sldId id="281" r:id="rId5"/>
    <p:sldId id="262" r:id="rId6"/>
    <p:sldId id="267" r:id="rId7"/>
    <p:sldId id="268" r:id="rId8"/>
    <p:sldId id="269" r:id="rId9"/>
    <p:sldId id="271" r:id="rId10"/>
    <p:sldId id="272" r:id="rId11"/>
    <p:sldId id="278" r:id="rId12"/>
    <p:sldId id="279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03/03/2026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faelrav8770/LYA1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6D08AB-61BB-EEE3-6719-CF79ED3E24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790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" b="20603"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LENGUAJES Y AUTOMATAS 1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2.3 –BANCO DE EJERCICIOS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943100" y="607006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06</a:t>
            </a:r>
            <a:r>
              <a:rPr lang="es-MX" sz="2000" b="1" ker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FEBRERO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1BE557D-A0FC-B3DC-7988-CE5D6EE8C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960544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4AC19-6C54-FA7A-AE87-739748DE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introducción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62DE513-0D07-9DA3-DDA6-952B30363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banco de ejercicios tiene como finalidad reforzar los conceptos relacionados con las operaciones sobre lenguajes formales. A través de ejercicios prácticos de unión, concatenación y cerradura de Kleene, se fortalece la comprensión de los lenguajes regulares y su relación con las expresiones regulares y los autómatas finitos.</a:t>
            </a:r>
          </a:p>
        </p:txBody>
      </p:sp>
    </p:spTree>
    <p:extLst>
      <p:ext uri="{BB962C8B-B14F-4D97-AF65-F5344CB8AC3E}">
        <p14:creationId xmlns:p14="http://schemas.microsoft.com/office/powerpoint/2010/main" val="425968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5C4DD-C3CE-CC82-2937-5A4D60DA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Objetivo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3D004-A2AB-2A48-F179-096EC2C7E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Aplicar de manera práctica las operaciones sobre lenguajes, mediante la resolución de ejercicios de unión, concatenación y cerradura de Kleene, con el propósito de reforzar la </a:t>
            </a:r>
            <a:r>
              <a:rPr lang="es-MX"/>
              <a:t>comprensión de </a:t>
            </a:r>
            <a:r>
              <a:rPr lang="es-MX" dirty="0"/>
              <a:t>los lenguajes regulares y su relación con las expresiones regulares y los autómatas finitos.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5086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A1C44-8E84-9979-5E1A-AFE6B3A6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>
                <a:solidFill>
                  <a:schemeClr val="accent1"/>
                </a:solidFill>
              </a:rPr>
              <a:t>Justificacion</a:t>
            </a:r>
            <a:endParaRPr lang="es-MX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081BAC-8408-09F7-05CA-5F0B6D1A3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trabajo se realizo de esta forma para explicar los conceptos de forma clara y ordenada. Se Incluyo ejemplos de unión, concatenación y cerradura de Kleene para entender mejor cómo funcionan las operaciones en los lenguajes formales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6550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EEC4F-F53C-F3DD-3E1E-CA3FC409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UNIÓN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6C9892-639B-200B-51F6-647361806C35}"/>
              </a:ext>
            </a:extLst>
          </p:cNvPr>
          <p:cNvSpPr txBox="1"/>
          <p:nvPr/>
        </p:nvSpPr>
        <p:spPr>
          <a:xfrm>
            <a:off x="1247775" y="2102614"/>
            <a:ext cx="36385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/>
              <a:t>d, e, f, g, h}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{d, e, f}</a:t>
            </a:r>
            <a:br>
              <a:rPr lang="es-MX" dirty="0"/>
            </a:br>
            <a:r>
              <a:rPr lang="es-MX" dirty="0"/>
              <a:t>L₂ = {f, g, h}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{d, e, f, g, h}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7F85B7-50F5-127A-EA6A-8E10153AB34E}"/>
              </a:ext>
            </a:extLst>
          </p:cNvPr>
          <p:cNvSpPr txBox="1"/>
          <p:nvPr/>
        </p:nvSpPr>
        <p:spPr>
          <a:xfrm>
            <a:off x="4362450" y="2102614"/>
            <a:ext cx="3048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{1,2,3,4,5,6}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{2,4,6}</a:t>
            </a:r>
            <a:br>
              <a:rPr lang="es-MX" dirty="0"/>
            </a:br>
            <a:r>
              <a:rPr lang="es-MX" dirty="0"/>
              <a:t>L₂ = {1,3,5}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{1,2,3,4,5,6}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D01BFA-5ACE-8FF7-5D30-4D0082758547}"/>
              </a:ext>
            </a:extLst>
          </p:cNvPr>
          <p:cNvSpPr txBox="1"/>
          <p:nvPr/>
        </p:nvSpPr>
        <p:spPr>
          <a:xfrm>
            <a:off x="7667625" y="2102614"/>
            <a:ext cx="28575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k,l,m,n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k,l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</a:t>
            </a:r>
            <a:r>
              <a:rPr lang="es-MX" dirty="0" err="1"/>
              <a:t>l,m,n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</a:t>
            </a:r>
            <a:r>
              <a:rPr lang="es-MX" dirty="0" err="1"/>
              <a:t>k,l,m,n</a:t>
            </a:r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851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D63F-13AE-2404-8DD8-ADB8C3D2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BF4D8DA-7F85-305F-C487-74CA815E018D}"/>
              </a:ext>
            </a:extLst>
          </p:cNvPr>
          <p:cNvSpPr txBox="1"/>
          <p:nvPr/>
        </p:nvSpPr>
        <p:spPr>
          <a:xfrm>
            <a:off x="1238250" y="1512064"/>
            <a:ext cx="26955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x,y,z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x,y,z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{y}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</a:t>
            </a:r>
            <a:r>
              <a:rPr lang="es-MX" dirty="0" err="1"/>
              <a:t>x,y,z</a:t>
            </a:r>
            <a:r>
              <a:rPr lang="es-MX" dirty="0"/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ED2686-C34A-5085-2311-D4AD372B0655}"/>
              </a:ext>
            </a:extLst>
          </p:cNvPr>
          <p:cNvSpPr txBox="1"/>
          <p:nvPr/>
        </p:nvSpPr>
        <p:spPr>
          <a:xfrm>
            <a:off x="7534275" y="151206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p,q,r,s,t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p,q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</a:t>
            </a:r>
            <a:r>
              <a:rPr lang="es-MX" dirty="0" err="1"/>
              <a:t>r,s,t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</a:t>
            </a:r>
            <a:r>
              <a:rPr lang="es-MX" dirty="0" err="1"/>
              <a:t>p,q,r,s,t</a:t>
            </a:r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071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531C-C802-464F-6CED-8F4E3A62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4AB2C-9E1D-7E66-8556-D5CF571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CONCATENACIÓN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EB1F9F-DB46-54B9-3212-8639624C7EAF}"/>
              </a:ext>
            </a:extLst>
          </p:cNvPr>
          <p:cNvSpPr txBox="1"/>
          <p:nvPr/>
        </p:nvSpPr>
        <p:spPr>
          <a:xfrm>
            <a:off x="838200" y="2074039"/>
            <a:ext cx="29527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r,i,o,m,a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{rio}</a:t>
            </a:r>
            <a:br>
              <a:rPr lang="es-MX" dirty="0"/>
            </a:br>
            <a:r>
              <a:rPr lang="es-MX" dirty="0"/>
              <a:t>L₂ = {mar}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riomar</a:t>
            </a:r>
            <a:r>
              <a:rPr lang="es-MX" dirty="0"/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FD2D1E-2789-665E-8A1C-6AE4BB2AD970}"/>
              </a:ext>
            </a:extLst>
          </p:cNvPr>
          <p:cNvSpPr txBox="1"/>
          <p:nvPr/>
        </p:nvSpPr>
        <p:spPr>
          <a:xfrm>
            <a:off x="3790950" y="1997839"/>
            <a:ext cx="26384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t,e,c,n,m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tec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{nm}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tecnm</a:t>
            </a:r>
            <a:r>
              <a:rPr lang="es-MX" dirty="0"/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ACB021-97DF-149C-4087-855E881BE008}"/>
              </a:ext>
            </a:extLst>
          </p:cNvPr>
          <p:cNvSpPr txBox="1"/>
          <p:nvPr/>
        </p:nvSpPr>
        <p:spPr>
          <a:xfrm>
            <a:off x="7048500" y="2071628"/>
            <a:ext cx="32385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{0,2,6,</a:t>
            </a:r>
            <a:r>
              <a:rPr lang="es-MX" dirty="0"/>
              <a:t>I,S,C}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{2026}</a:t>
            </a:r>
            <a:br>
              <a:rPr lang="es-MX" dirty="0"/>
            </a:br>
            <a:r>
              <a:rPr lang="es-MX" dirty="0"/>
              <a:t>L₂ = {ISC}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{2026ISC}</a:t>
            </a:r>
          </a:p>
        </p:txBody>
      </p:sp>
    </p:spTree>
    <p:extLst>
      <p:ext uri="{BB962C8B-B14F-4D97-AF65-F5344CB8AC3E}">
        <p14:creationId xmlns:p14="http://schemas.microsoft.com/office/powerpoint/2010/main" val="345392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401E-223C-4D8E-DF89-E858451A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F441D95-B463-7757-1E2E-5B4A01BC215C}"/>
              </a:ext>
            </a:extLst>
          </p:cNvPr>
          <p:cNvSpPr txBox="1"/>
          <p:nvPr/>
        </p:nvSpPr>
        <p:spPr>
          <a:xfrm>
            <a:off x="1409700" y="1845439"/>
            <a:ext cx="25527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c,h,i,a,p,s,m,x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chiapas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</a:t>
            </a:r>
            <a:r>
              <a:rPr lang="es-MX" dirty="0" err="1"/>
              <a:t>mx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chiapasmx</a:t>
            </a:r>
            <a:r>
              <a:rPr lang="es-MX" dirty="0"/>
              <a:t>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C35D8E-A09B-C27E-38C5-B34FCE246D22}"/>
              </a:ext>
            </a:extLst>
          </p:cNvPr>
          <p:cNvSpPr txBox="1"/>
          <p:nvPr/>
        </p:nvSpPr>
        <p:spPr>
          <a:xfrm>
            <a:off x="5915025" y="1912114"/>
            <a:ext cx="33813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</a:t>
            </a:r>
            <a:r>
              <a:rPr lang="pl-PL" dirty="0"/>
              <a:t>{a,u,t,o,m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{auto}</a:t>
            </a:r>
            <a:br>
              <a:rPr lang="es-MX" dirty="0"/>
            </a:br>
            <a:r>
              <a:rPr lang="es-MX" dirty="0"/>
              <a:t>L₂ = {mata}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automata</a:t>
            </a:r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678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4585-DE57-BCF0-FAF7-B79C261F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AB926-BC34-CD1C-AFC4-45B45A7A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de CERRADURA DE KLEENE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C45742-348A-3FD6-A6A8-8D831ACDC88F}"/>
              </a:ext>
            </a:extLst>
          </p:cNvPr>
          <p:cNvSpPr txBox="1"/>
          <p:nvPr/>
        </p:nvSpPr>
        <p:spPr>
          <a:xfrm>
            <a:off x="838200" y="2136338"/>
            <a:ext cx="28270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{r}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{r}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r, </a:t>
            </a:r>
            <a:r>
              <a:rPr lang="es-MX" dirty="0" err="1"/>
              <a:t>rr</a:t>
            </a:r>
            <a:r>
              <a:rPr lang="es-MX" dirty="0"/>
              <a:t>, </a:t>
            </a:r>
            <a:r>
              <a:rPr lang="es-MX" dirty="0" err="1"/>
              <a:t>rrr</a:t>
            </a:r>
            <a:r>
              <a:rPr lang="es-MX" dirty="0"/>
              <a:t>, …}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98CB11-7BEF-3287-CEA3-DDDC9AED84C1}"/>
              </a:ext>
            </a:extLst>
          </p:cNvPr>
          <p:cNvSpPr txBox="1"/>
          <p:nvPr/>
        </p:nvSpPr>
        <p:spPr>
          <a:xfrm>
            <a:off x="3947160" y="2154316"/>
            <a:ext cx="31927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{1,0}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{10}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10, 1010, 101010, …}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268657E-7532-A506-E564-889C2DF153F3}"/>
              </a:ext>
            </a:extLst>
          </p:cNvPr>
          <p:cNvSpPr txBox="1"/>
          <p:nvPr/>
        </p:nvSpPr>
        <p:spPr>
          <a:xfrm>
            <a:off x="7696200" y="2136337"/>
            <a:ext cx="3063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</a:t>
            </a:r>
            <a:r>
              <a:rPr lang="es-MX" dirty="0" err="1"/>
              <a:t>x,z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{x}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x, </a:t>
            </a:r>
            <a:r>
              <a:rPr lang="es-MX" dirty="0" err="1"/>
              <a:t>xx</a:t>
            </a:r>
            <a:r>
              <a:rPr lang="es-MX" dirty="0"/>
              <a:t>, </a:t>
            </a:r>
            <a:r>
              <a:rPr lang="es-MX" dirty="0" err="1"/>
              <a:t>xxx</a:t>
            </a:r>
            <a:r>
              <a:rPr lang="es-MX" dirty="0"/>
              <a:t>, …}</a:t>
            </a:r>
          </a:p>
        </p:txBody>
      </p:sp>
    </p:spTree>
    <p:extLst>
      <p:ext uri="{BB962C8B-B14F-4D97-AF65-F5344CB8AC3E}">
        <p14:creationId xmlns:p14="http://schemas.microsoft.com/office/powerpoint/2010/main" val="4093852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68EC-9CB1-3879-7594-EFBC9A26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3A76380-F4E8-7A74-DC50-7C148BCC0F7E}"/>
              </a:ext>
            </a:extLst>
          </p:cNvPr>
          <p:cNvSpPr txBox="1"/>
          <p:nvPr/>
        </p:nvSpPr>
        <p:spPr>
          <a:xfrm>
            <a:off x="1203960" y="1991559"/>
            <a:ext cx="39700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/>
              <a:t>p, r}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</a:t>
            </a:r>
            <a:r>
              <a:rPr lang="es-MX" dirty="0" err="1"/>
              <a:t>pr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</a:t>
            </a:r>
            <a:r>
              <a:rPr lang="el-GR" dirty="0"/>
              <a:t>ε, </a:t>
            </a:r>
            <a:r>
              <a:rPr lang="es-MX" dirty="0" err="1"/>
              <a:t>pr</a:t>
            </a:r>
            <a:r>
              <a:rPr lang="es-MX" dirty="0"/>
              <a:t>, </a:t>
            </a:r>
            <a:r>
              <a:rPr lang="es-MX" dirty="0" err="1"/>
              <a:t>prpr</a:t>
            </a:r>
            <a:r>
              <a:rPr lang="es-MX" dirty="0"/>
              <a:t>, </a:t>
            </a:r>
            <a:r>
              <a:rPr lang="es-MX" dirty="0" err="1"/>
              <a:t>prprpr</a:t>
            </a:r>
            <a:r>
              <a:rPr lang="es-MX" dirty="0"/>
              <a:t>, …}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F3F1C3-4D9B-B070-D0E7-95F245A6C2A4}"/>
              </a:ext>
            </a:extLst>
          </p:cNvPr>
          <p:cNvSpPr txBox="1"/>
          <p:nvPr/>
        </p:nvSpPr>
        <p:spPr>
          <a:xfrm>
            <a:off x="7018022" y="1862019"/>
            <a:ext cx="35128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{8}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{8}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8, 88, 888, …}</a:t>
            </a:r>
          </a:p>
        </p:txBody>
      </p:sp>
    </p:spTree>
    <p:extLst>
      <p:ext uri="{BB962C8B-B14F-4D97-AF65-F5344CB8AC3E}">
        <p14:creationId xmlns:p14="http://schemas.microsoft.com/office/powerpoint/2010/main" val="133829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F2BB8-B1CE-DBE3-4104-D684C92D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Conclusión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C733A6-E1FC-67A9-F203-439790AA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Se logra reforzar los conceptos relacionados con las operaciones sobre lenguajes formales. A través de ejercicios prácticos de unión, concatenación y cerradura de Kleene, se aplican las definiciones matemáticas vistas en clase, fortaleciendo la comprensión de los lenguajes regulares y su relación con las expresiones regulares y los autómatas finitos.</a:t>
            </a:r>
          </a:p>
        </p:txBody>
      </p:sp>
    </p:spTree>
    <p:extLst>
      <p:ext uri="{BB962C8B-B14F-4D97-AF65-F5344CB8AC3E}">
        <p14:creationId xmlns:p14="http://schemas.microsoft.com/office/powerpoint/2010/main" val="2014947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E12FA-7905-6EBE-E05C-179517BEC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Fuente De Informacion</a:t>
            </a:r>
            <a:endParaRPr lang="es-MX" b="1" dirty="0"/>
          </a:p>
          <a:p>
            <a:pPr marL="0" indent="0">
              <a:buNone/>
            </a:pPr>
            <a:endParaRPr lang="es-MX" dirty="0"/>
          </a:p>
          <a:p>
            <a:pPr marL="0" lvl="0" indent="0">
              <a:buNone/>
            </a:pPr>
            <a:r>
              <a:rPr lang="es-MX" dirty="0" err="1"/>
              <a:t>Hopcroft</a:t>
            </a:r>
            <a:r>
              <a:rPr lang="es-MX" dirty="0"/>
              <a:t>, J. E., </a:t>
            </a:r>
            <a:r>
              <a:rPr lang="es-MX" dirty="0" err="1"/>
              <a:t>Motwani</a:t>
            </a:r>
            <a:r>
              <a:rPr lang="es-MX" dirty="0"/>
              <a:t>, R., &amp; Ullman, J. D.. </a:t>
            </a:r>
            <a:r>
              <a:rPr lang="es-MX" i="1" dirty="0"/>
              <a:t>Introducción a la teoría de autómatas, lenguajes y computación</a:t>
            </a:r>
            <a:r>
              <a:rPr lang="es-MX" dirty="0"/>
              <a:t> (</a:t>
            </a:r>
            <a:r>
              <a:rPr lang="es-MX" dirty="0" err="1"/>
              <a:t>pdf</a:t>
            </a:r>
            <a:r>
              <a:rPr lang="es-MX" dirty="0"/>
              <a:t>). </a:t>
            </a:r>
          </a:p>
          <a:p>
            <a:pPr marL="0" lvl="0" indent="0">
              <a:buNone/>
            </a:pPr>
            <a:r>
              <a:rPr lang="es-MX" dirty="0"/>
              <a:t>LYA1 – Lenguajes y Autómatas I. Repositorio en GitHub.</a:t>
            </a:r>
            <a:br>
              <a:rPr lang="es-MX" dirty="0"/>
            </a:br>
            <a:r>
              <a:rPr lang="es-MX" dirty="0">
                <a:hlinkClick r:id="rId2"/>
              </a:rPr>
              <a:t>https://github.com/rafaelrav8770/LYA1.git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323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1067</Words>
  <Application>Microsoft Office PowerPoint</Application>
  <PresentationFormat>Panorámica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introducción</vt:lpstr>
      <vt:lpstr>Objetivo </vt:lpstr>
      <vt:lpstr>Justificacion</vt:lpstr>
      <vt:lpstr>Ejercicio UNIÓN</vt:lpstr>
      <vt:lpstr>Presentación de PowerPoint</vt:lpstr>
      <vt:lpstr>Ejercicio CONCATENACIÓN</vt:lpstr>
      <vt:lpstr>Presentación de PowerPoint</vt:lpstr>
      <vt:lpstr>Ejercicio de CERRADURA DE KLEENE</vt:lpstr>
      <vt:lpstr>Presentación de PowerPoint</vt:lpstr>
      <vt:lpstr>Conclusión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27</cp:revision>
  <dcterms:created xsi:type="dcterms:W3CDTF">2026-02-14T13:39:49Z</dcterms:created>
  <dcterms:modified xsi:type="dcterms:W3CDTF">2026-03-04T04:28:36Z</dcterms:modified>
</cp:coreProperties>
</file>