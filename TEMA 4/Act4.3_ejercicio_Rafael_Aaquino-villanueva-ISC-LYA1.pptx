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63" r:id="rId3"/>
    <p:sldId id="258" r:id="rId4"/>
    <p:sldId id="284" r:id="rId5"/>
    <p:sldId id="285" r:id="rId6"/>
    <p:sldId id="286" r:id="rId7"/>
    <p:sldId id="287" r:id="rId8"/>
    <p:sldId id="288" r:id="rId9"/>
    <p:sldId id="289" r:id="rId10"/>
    <p:sldId id="290" r:id="rId11"/>
    <p:sldId id="291" r:id="rId12"/>
    <p:sldId id="292" r:id="rId13"/>
    <p:sldId id="293" r:id="rId14"/>
    <p:sldId id="294" r:id="rId15"/>
    <p:sldId id="260" r:id="rId16"/>
    <p:sldId id="264" r:id="rId17"/>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Estilo medio 3 - Énfasis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EC20E35-A176-4012-BC5E-935CFFF8708E}" styleName="Estilo medio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93296810-A885-4BE3-A3E7-6D5BEEA58F35}" styleName="Estilo medio 2 - Énfasis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8D230F3-CF80-4859-8CE7-A43EE81993B5}" styleName="Estilo claro 1 - Acento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93D81CF-94F2-401A-BA57-92F5A7B2D0C5}" styleName="Estilo medio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0" d="100"/>
          <a:sy n="80" d="100"/>
        </p:scale>
        <p:origin x="78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8B5F02-D1F5-4A8C-9E16-879D2FAAE6D2}" type="datetimeFigureOut">
              <a:rPr lang="es-MX" smtClean="0"/>
              <a:t>11/03/2026</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08E338-237A-4FD6-91E8-AE3330CCA9C3}" type="slidenum">
              <a:rPr lang="es-MX" smtClean="0"/>
              <a:t>‹Nº›</a:t>
            </a:fld>
            <a:endParaRPr lang="es-MX"/>
          </a:p>
        </p:txBody>
      </p:sp>
    </p:spTree>
    <p:extLst>
      <p:ext uri="{BB962C8B-B14F-4D97-AF65-F5344CB8AC3E}">
        <p14:creationId xmlns:p14="http://schemas.microsoft.com/office/powerpoint/2010/main" val="651433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797A6B-C8A5-A893-2EB4-EAD802D176BF}"/>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12E9E8D3-983C-1FBA-F097-D58F78BA92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20900B84-F10B-751B-5908-FC18C6422C01}"/>
              </a:ext>
            </a:extLst>
          </p:cNvPr>
          <p:cNvSpPr>
            <a:spLocks noGrp="1"/>
          </p:cNvSpPr>
          <p:nvPr>
            <p:ph type="dt" sz="half" idx="10"/>
          </p:nvPr>
        </p:nvSpPr>
        <p:spPr/>
        <p:txBody>
          <a:bodyPr/>
          <a:lstStyle/>
          <a:p>
            <a:fld id="{B744A13C-A177-47DD-903A-D74B08377F6A}" type="datetimeFigureOut">
              <a:rPr lang="es-MX" smtClean="0"/>
              <a:t>11/03/2026</a:t>
            </a:fld>
            <a:endParaRPr lang="es-MX"/>
          </a:p>
        </p:txBody>
      </p:sp>
      <p:sp>
        <p:nvSpPr>
          <p:cNvPr id="5" name="Marcador de pie de página 4">
            <a:extLst>
              <a:ext uri="{FF2B5EF4-FFF2-40B4-BE49-F238E27FC236}">
                <a16:creationId xmlns:a16="http://schemas.microsoft.com/office/drawing/2014/main" id="{89A144F6-9197-16C1-A989-50C7A0E4960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6DBAAEB-1ABF-E979-BAC2-66927C69E877}"/>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18272842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953055-0E2B-CB93-6D72-F6BFE456BAAF}"/>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BC4E3AF4-F79F-763A-9DAF-C6C175A55FA4}"/>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A8555DC5-3E01-56E7-631E-04D4A904C314}"/>
              </a:ext>
            </a:extLst>
          </p:cNvPr>
          <p:cNvSpPr>
            <a:spLocks noGrp="1"/>
          </p:cNvSpPr>
          <p:nvPr>
            <p:ph type="dt" sz="half" idx="10"/>
          </p:nvPr>
        </p:nvSpPr>
        <p:spPr/>
        <p:txBody>
          <a:bodyPr/>
          <a:lstStyle/>
          <a:p>
            <a:fld id="{B744A13C-A177-47DD-903A-D74B08377F6A}" type="datetimeFigureOut">
              <a:rPr lang="es-MX" smtClean="0"/>
              <a:t>11/03/2026</a:t>
            </a:fld>
            <a:endParaRPr lang="es-MX"/>
          </a:p>
        </p:txBody>
      </p:sp>
      <p:sp>
        <p:nvSpPr>
          <p:cNvPr id="5" name="Marcador de pie de página 4">
            <a:extLst>
              <a:ext uri="{FF2B5EF4-FFF2-40B4-BE49-F238E27FC236}">
                <a16:creationId xmlns:a16="http://schemas.microsoft.com/office/drawing/2014/main" id="{55B53975-0403-0D44-401F-71EA01B2175C}"/>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763A586F-F27C-248A-D498-ADFFEFE93691}"/>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0642903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E57E10-4726-7D0A-E1F8-93439BFF20A4}"/>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A7C9CE40-9232-9AC4-A9C6-59A9B847313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D81E2653-A3E2-493F-59D0-04D925E18921}"/>
              </a:ext>
            </a:extLst>
          </p:cNvPr>
          <p:cNvSpPr>
            <a:spLocks noGrp="1"/>
          </p:cNvSpPr>
          <p:nvPr>
            <p:ph type="dt" sz="half" idx="10"/>
          </p:nvPr>
        </p:nvSpPr>
        <p:spPr/>
        <p:txBody>
          <a:bodyPr/>
          <a:lstStyle/>
          <a:p>
            <a:fld id="{B744A13C-A177-47DD-903A-D74B08377F6A}" type="datetimeFigureOut">
              <a:rPr lang="es-MX" smtClean="0"/>
              <a:t>11/03/2026</a:t>
            </a:fld>
            <a:endParaRPr lang="es-MX"/>
          </a:p>
        </p:txBody>
      </p:sp>
      <p:sp>
        <p:nvSpPr>
          <p:cNvPr id="5" name="Marcador de pie de página 4">
            <a:extLst>
              <a:ext uri="{FF2B5EF4-FFF2-40B4-BE49-F238E27FC236}">
                <a16:creationId xmlns:a16="http://schemas.microsoft.com/office/drawing/2014/main" id="{1ADFD983-ED4E-38A6-DCD5-DB9EF6346AC5}"/>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BD502D16-37E0-4D0D-5BB7-68A3BDB4C672}"/>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0220891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60EA5F-E2E9-67F7-E292-C84FCB6FE5E8}"/>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7F13239D-44F0-8AD1-FF8A-D79A0CA81779}"/>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3769FD3F-356E-6F60-6A25-56717337FB98}"/>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917C736D-F3D7-D82B-BB73-E65F46C18CBA}"/>
              </a:ext>
            </a:extLst>
          </p:cNvPr>
          <p:cNvSpPr>
            <a:spLocks noGrp="1"/>
          </p:cNvSpPr>
          <p:nvPr>
            <p:ph type="dt" sz="half" idx="10"/>
          </p:nvPr>
        </p:nvSpPr>
        <p:spPr/>
        <p:txBody>
          <a:bodyPr/>
          <a:lstStyle/>
          <a:p>
            <a:fld id="{B744A13C-A177-47DD-903A-D74B08377F6A}" type="datetimeFigureOut">
              <a:rPr lang="es-MX" smtClean="0"/>
              <a:t>11/03/2026</a:t>
            </a:fld>
            <a:endParaRPr lang="es-MX"/>
          </a:p>
        </p:txBody>
      </p:sp>
      <p:sp>
        <p:nvSpPr>
          <p:cNvPr id="6" name="Marcador de pie de página 5">
            <a:extLst>
              <a:ext uri="{FF2B5EF4-FFF2-40B4-BE49-F238E27FC236}">
                <a16:creationId xmlns:a16="http://schemas.microsoft.com/office/drawing/2014/main" id="{C692062B-BCCF-C2B2-D017-588DE122978E}"/>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D0151BE1-2995-E957-66B3-46B9B16082AB}"/>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23249257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81DADCE-63AC-54B1-31D4-48CC1F8280F6}"/>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7BE131CC-B953-9DA0-84D7-342F7661F72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D1ADC272-3617-466E-F6F0-16A81075165E}"/>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6FDDCA87-61A0-8976-E9D1-03EDE6E1143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350B0352-2822-B688-0216-B6F8FB988F72}"/>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DA0D192A-B4AB-FABE-D934-62F9F766DA0D}"/>
              </a:ext>
            </a:extLst>
          </p:cNvPr>
          <p:cNvSpPr>
            <a:spLocks noGrp="1"/>
          </p:cNvSpPr>
          <p:nvPr>
            <p:ph type="dt" sz="half" idx="10"/>
          </p:nvPr>
        </p:nvSpPr>
        <p:spPr/>
        <p:txBody>
          <a:bodyPr/>
          <a:lstStyle/>
          <a:p>
            <a:fld id="{B744A13C-A177-47DD-903A-D74B08377F6A}" type="datetimeFigureOut">
              <a:rPr lang="es-MX" smtClean="0"/>
              <a:t>11/03/2026</a:t>
            </a:fld>
            <a:endParaRPr lang="es-MX"/>
          </a:p>
        </p:txBody>
      </p:sp>
      <p:sp>
        <p:nvSpPr>
          <p:cNvPr id="8" name="Marcador de pie de página 7">
            <a:extLst>
              <a:ext uri="{FF2B5EF4-FFF2-40B4-BE49-F238E27FC236}">
                <a16:creationId xmlns:a16="http://schemas.microsoft.com/office/drawing/2014/main" id="{144D7369-D1D8-1689-1054-CDA289864608}"/>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538CB792-19CD-5761-B36C-DC7CC94594B6}"/>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8315431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3624A4-077D-5486-B7D9-11FE3E1CD160}"/>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8C9D86B5-34D8-63DA-CA5E-EB64FC37BEA0}"/>
              </a:ext>
            </a:extLst>
          </p:cNvPr>
          <p:cNvSpPr>
            <a:spLocks noGrp="1"/>
          </p:cNvSpPr>
          <p:nvPr>
            <p:ph type="dt" sz="half" idx="10"/>
          </p:nvPr>
        </p:nvSpPr>
        <p:spPr/>
        <p:txBody>
          <a:bodyPr/>
          <a:lstStyle/>
          <a:p>
            <a:fld id="{B744A13C-A177-47DD-903A-D74B08377F6A}" type="datetimeFigureOut">
              <a:rPr lang="es-MX" smtClean="0"/>
              <a:t>11/03/2026</a:t>
            </a:fld>
            <a:endParaRPr lang="es-MX"/>
          </a:p>
        </p:txBody>
      </p:sp>
      <p:sp>
        <p:nvSpPr>
          <p:cNvPr id="4" name="Marcador de pie de página 3">
            <a:extLst>
              <a:ext uri="{FF2B5EF4-FFF2-40B4-BE49-F238E27FC236}">
                <a16:creationId xmlns:a16="http://schemas.microsoft.com/office/drawing/2014/main" id="{9F1CB502-05EE-237F-2E29-626516E35C13}"/>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254E0509-4D7E-FE6F-A441-35102690137D}"/>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19341986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13D2BB40-084A-590A-568A-4FBC55A7A4CC}"/>
              </a:ext>
            </a:extLst>
          </p:cNvPr>
          <p:cNvSpPr>
            <a:spLocks noGrp="1"/>
          </p:cNvSpPr>
          <p:nvPr>
            <p:ph type="dt" sz="half" idx="10"/>
          </p:nvPr>
        </p:nvSpPr>
        <p:spPr/>
        <p:txBody>
          <a:bodyPr/>
          <a:lstStyle/>
          <a:p>
            <a:fld id="{B744A13C-A177-47DD-903A-D74B08377F6A}" type="datetimeFigureOut">
              <a:rPr lang="es-MX" smtClean="0"/>
              <a:t>11/03/2026</a:t>
            </a:fld>
            <a:endParaRPr lang="es-MX"/>
          </a:p>
        </p:txBody>
      </p:sp>
      <p:sp>
        <p:nvSpPr>
          <p:cNvPr id="3" name="Marcador de pie de página 2">
            <a:extLst>
              <a:ext uri="{FF2B5EF4-FFF2-40B4-BE49-F238E27FC236}">
                <a16:creationId xmlns:a16="http://schemas.microsoft.com/office/drawing/2014/main" id="{1031945B-3C8A-CC04-90CF-86A6FB926664}"/>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0554383D-C3B6-AF0C-D3F1-2DB73EE04BB0}"/>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13353909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207E4E-5A62-92CA-7ACA-D3C6DC7B514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0843F851-D00D-6093-A986-6C5F35C56C8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A96ECEE2-9260-2C2E-BC65-C11DE6DFFF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96AE17B-F1FD-90D4-9A7D-49AAC564DEA5}"/>
              </a:ext>
            </a:extLst>
          </p:cNvPr>
          <p:cNvSpPr>
            <a:spLocks noGrp="1"/>
          </p:cNvSpPr>
          <p:nvPr>
            <p:ph type="dt" sz="half" idx="10"/>
          </p:nvPr>
        </p:nvSpPr>
        <p:spPr/>
        <p:txBody>
          <a:bodyPr/>
          <a:lstStyle/>
          <a:p>
            <a:fld id="{B744A13C-A177-47DD-903A-D74B08377F6A}" type="datetimeFigureOut">
              <a:rPr lang="es-MX" smtClean="0"/>
              <a:t>11/03/2026</a:t>
            </a:fld>
            <a:endParaRPr lang="es-MX"/>
          </a:p>
        </p:txBody>
      </p:sp>
      <p:sp>
        <p:nvSpPr>
          <p:cNvPr id="6" name="Marcador de pie de página 5">
            <a:extLst>
              <a:ext uri="{FF2B5EF4-FFF2-40B4-BE49-F238E27FC236}">
                <a16:creationId xmlns:a16="http://schemas.microsoft.com/office/drawing/2014/main" id="{561728C9-30AA-559A-CB48-C6B866313382}"/>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CCF8E15D-A90F-EA63-7DF9-46C7810DE39B}"/>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6893188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E2DD758-F948-B2A7-DC08-B687F91B8D2C}"/>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A1C892A9-AD64-6F7D-FEE0-967756CA2CD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1D238B53-DBF4-A3CB-9E1A-386EDC4987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7447764-59A7-8823-1D1A-CF02217FD75B}"/>
              </a:ext>
            </a:extLst>
          </p:cNvPr>
          <p:cNvSpPr>
            <a:spLocks noGrp="1"/>
          </p:cNvSpPr>
          <p:nvPr>
            <p:ph type="dt" sz="half" idx="10"/>
          </p:nvPr>
        </p:nvSpPr>
        <p:spPr/>
        <p:txBody>
          <a:bodyPr/>
          <a:lstStyle/>
          <a:p>
            <a:fld id="{B744A13C-A177-47DD-903A-D74B08377F6A}" type="datetimeFigureOut">
              <a:rPr lang="es-MX" smtClean="0"/>
              <a:t>11/03/2026</a:t>
            </a:fld>
            <a:endParaRPr lang="es-MX"/>
          </a:p>
        </p:txBody>
      </p:sp>
      <p:sp>
        <p:nvSpPr>
          <p:cNvPr id="6" name="Marcador de pie de página 5">
            <a:extLst>
              <a:ext uri="{FF2B5EF4-FFF2-40B4-BE49-F238E27FC236}">
                <a16:creationId xmlns:a16="http://schemas.microsoft.com/office/drawing/2014/main" id="{80A3D35F-6746-D59D-FB36-01BA85D38818}"/>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765FE247-F7A5-5BF6-7419-4D0C9940C50B}"/>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493462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3FDA35-B0B4-E787-3D72-F031788E9A72}"/>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E0F0C38B-FF72-ABBA-A9A3-57F2D48A308F}"/>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721F98C5-01BB-732B-11CB-7FADA28975F8}"/>
              </a:ext>
            </a:extLst>
          </p:cNvPr>
          <p:cNvSpPr>
            <a:spLocks noGrp="1"/>
          </p:cNvSpPr>
          <p:nvPr>
            <p:ph type="dt" sz="half" idx="10"/>
          </p:nvPr>
        </p:nvSpPr>
        <p:spPr/>
        <p:txBody>
          <a:bodyPr/>
          <a:lstStyle/>
          <a:p>
            <a:fld id="{B744A13C-A177-47DD-903A-D74B08377F6A}" type="datetimeFigureOut">
              <a:rPr lang="es-MX" smtClean="0"/>
              <a:t>11/03/2026</a:t>
            </a:fld>
            <a:endParaRPr lang="es-MX"/>
          </a:p>
        </p:txBody>
      </p:sp>
      <p:sp>
        <p:nvSpPr>
          <p:cNvPr id="5" name="Marcador de pie de página 4">
            <a:extLst>
              <a:ext uri="{FF2B5EF4-FFF2-40B4-BE49-F238E27FC236}">
                <a16:creationId xmlns:a16="http://schemas.microsoft.com/office/drawing/2014/main" id="{109513AF-E2D8-C50D-31BA-5F9705122FA3}"/>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26C0206-8F5E-04A4-613D-6EC2B5984FC0}"/>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41663017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FF840C8-6BFA-8DB5-04D9-2FFF606B96AF}"/>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483C22F2-C176-59C9-19E7-C3A94CBB29FE}"/>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D612D9B4-8F58-BE69-EF19-A521A08A9F5A}"/>
              </a:ext>
            </a:extLst>
          </p:cNvPr>
          <p:cNvSpPr>
            <a:spLocks noGrp="1"/>
          </p:cNvSpPr>
          <p:nvPr>
            <p:ph type="dt" sz="half" idx="10"/>
          </p:nvPr>
        </p:nvSpPr>
        <p:spPr/>
        <p:txBody>
          <a:bodyPr/>
          <a:lstStyle/>
          <a:p>
            <a:fld id="{B744A13C-A177-47DD-903A-D74B08377F6A}" type="datetimeFigureOut">
              <a:rPr lang="es-MX" smtClean="0"/>
              <a:t>11/03/2026</a:t>
            </a:fld>
            <a:endParaRPr lang="es-MX"/>
          </a:p>
        </p:txBody>
      </p:sp>
      <p:sp>
        <p:nvSpPr>
          <p:cNvPr id="5" name="Marcador de pie de página 4">
            <a:extLst>
              <a:ext uri="{FF2B5EF4-FFF2-40B4-BE49-F238E27FC236}">
                <a16:creationId xmlns:a16="http://schemas.microsoft.com/office/drawing/2014/main" id="{3DB5D75A-9186-AC95-3F60-D715E515C19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1FF889DC-3AEB-704A-0884-C0B1EAD821F5}"/>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3761727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9D456B8-F474-DC21-CA32-71136C73E13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5776B21C-E071-F827-CAB6-8D305BED3A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DCD4E7BC-1E44-2D21-548A-97F953824FB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744A13C-A177-47DD-903A-D74B08377F6A}" type="datetimeFigureOut">
              <a:rPr lang="es-MX" smtClean="0"/>
              <a:t>11/03/2026</a:t>
            </a:fld>
            <a:endParaRPr lang="es-MX"/>
          </a:p>
        </p:txBody>
      </p:sp>
      <p:sp>
        <p:nvSpPr>
          <p:cNvPr id="5" name="Marcador de pie de página 4">
            <a:extLst>
              <a:ext uri="{FF2B5EF4-FFF2-40B4-BE49-F238E27FC236}">
                <a16:creationId xmlns:a16="http://schemas.microsoft.com/office/drawing/2014/main" id="{2D6E618A-2674-067F-A9B5-F000F8046A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5F06479D-49A2-2EF0-B936-306AEE0B0EF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DC0401-0789-4F42-8B4F-18107AD06626}" type="slidenum">
              <a:rPr lang="es-MX" smtClean="0"/>
              <a:t>‹Nº›</a:t>
            </a:fld>
            <a:endParaRPr lang="es-MX"/>
          </a:p>
        </p:txBody>
      </p:sp>
    </p:spTree>
    <p:extLst>
      <p:ext uri="{BB962C8B-B14F-4D97-AF65-F5344CB8AC3E}">
        <p14:creationId xmlns:p14="http://schemas.microsoft.com/office/powerpoint/2010/main" val="28322534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www.youtube.com/watch?v=NYfL9fbORo8&amp;utm_source=chatgpt.com" TargetMode="External"/><Relationship Id="rId2" Type="http://schemas.openxmlformats.org/officeDocument/2006/relationships/hyperlink" Target="https://github.com/rafaelrav8770/LYA1.git" TargetMode="External"/><Relationship Id="rId1" Type="http://schemas.openxmlformats.org/officeDocument/2006/relationships/slideLayout" Target="../slideLayouts/slideLayout2.xml"/><Relationship Id="rId4" Type="http://schemas.openxmlformats.org/officeDocument/2006/relationships/hyperlink" Target="https://www.youtube.com/watch?v=fnpgcR6nFE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n 25">
            <a:extLst>
              <a:ext uri="{FF2B5EF4-FFF2-40B4-BE49-F238E27FC236}">
                <a16:creationId xmlns:a16="http://schemas.microsoft.com/office/drawing/2014/main" id="{13792C0E-56A4-038E-25C8-41619E973B3F}"/>
              </a:ext>
            </a:extLst>
          </p:cNvPr>
          <p:cNvPicPr>
            <a:picLocks noChangeAspect="1"/>
          </p:cNvPicPr>
          <p:nvPr/>
        </p:nvPicPr>
        <p:blipFill>
          <a:blip r:embed="rId2" cstate="print">
            <a:lum bright="70000" contrast="-70000"/>
            <a:extLst>
              <a:ext uri="{BEBA8EAE-BF5A-486C-A8C5-ECC9F3942E4B}">
                <a14:imgProps xmlns:a14="http://schemas.microsoft.com/office/drawing/2010/main">
                  <a14:imgLayer r:embed="rId3">
                    <a14:imgEffect>
                      <a14:sharpenSoften amount="50000"/>
                    </a14:imgEffect>
                    <a14:imgEffect>
                      <a14:colorTemperature colorTemp="4700"/>
                    </a14:imgEffect>
                    <a14:imgEffect>
                      <a14:saturation sat="33000"/>
                    </a14:imgEffect>
                  </a14:imgLayer>
                </a14:imgProps>
              </a:ext>
              <a:ext uri="{28A0092B-C50C-407E-A947-70E740481C1C}">
                <a14:useLocalDpi xmlns:a14="http://schemas.microsoft.com/office/drawing/2010/main" val="0"/>
              </a:ext>
            </a:extLst>
          </a:blip>
          <a:stretch>
            <a:fillRect/>
          </a:stretch>
        </p:blipFill>
        <p:spPr>
          <a:xfrm>
            <a:off x="3091815" y="510540"/>
            <a:ext cx="5303520" cy="5836920"/>
          </a:xfrm>
          <a:prstGeom prst="rect">
            <a:avLst/>
          </a:prstGeom>
          <a:noFill/>
        </p:spPr>
      </p:pic>
      <p:pic>
        <p:nvPicPr>
          <p:cNvPr id="11" name="Imagen 10" descr="Logotipo&#10;&#10;Descripción generada automáticamente">
            <a:extLst>
              <a:ext uri="{FF2B5EF4-FFF2-40B4-BE49-F238E27FC236}">
                <a16:creationId xmlns:a16="http://schemas.microsoft.com/office/drawing/2014/main" id="{76F1C2F9-DDFC-CBF2-E48A-E64DE4A37DF6}"/>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45905" y="46990"/>
            <a:ext cx="2301875" cy="1016000"/>
          </a:xfrm>
          <a:prstGeom prst="rect">
            <a:avLst/>
          </a:prstGeom>
          <a:noFill/>
          <a:ln>
            <a:noFill/>
          </a:ln>
        </p:spPr>
      </p:pic>
      <p:pic>
        <p:nvPicPr>
          <p:cNvPr id="12" name="Imagen 11">
            <a:extLst>
              <a:ext uri="{FF2B5EF4-FFF2-40B4-BE49-F238E27FC236}">
                <a16:creationId xmlns:a16="http://schemas.microsoft.com/office/drawing/2014/main" id="{503E3447-738B-D8B1-B47D-8EBA647E114F}"/>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t="7537" b="20603"/>
          <a:stretch/>
        </p:blipFill>
        <p:spPr bwMode="auto">
          <a:xfrm>
            <a:off x="277495" y="46990"/>
            <a:ext cx="1516380" cy="1089660"/>
          </a:xfrm>
          <a:prstGeom prst="rect">
            <a:avLst/>
          </a:prstGeom>
          <a:noFill/>
          <a:ln>
            <a:noFill/>
          </a:ln>
          <a:extLst>
            <a:ext uri="{53640926-AAD7-44D8-BBD7-CCE9431645EC}">
              <a14:shadowObscured xmlns:a14="http://schemas.microsoft.com/office/drawing/2010/main"/>
            </a:ext>
          </a:extLst>
        </p:spPr>
      </p:pic>
      <p:sp>
        <p:nvSpPr>
          <p:cNvPr id="14" name="CuadroTexto 13">
            <a:extLst>
              <a:ext uri="{FF2B5EF4-FFF2-40B4-BE49-F238E27FC236}">
                <a16:creationId xmlns:a16="http://schemas.microsoft.com/office/drawing/2014/main" id="{29E7C584-C5C9-2730-50A7-5B38CB386E43}"/>
              </a:ext>
            </a:extLst>
          </p:cNvPr>
          <p:cNvSpPr txBox="1"/>
          <p:nvPr/>
        </p:nvSpPr>
        <p:spPr>
          <a:xfrm>
            <a:off x="1943100" y="374015"/>
            <a:ext cx="7124700" cy="799130"/>
          </a:xfrm>
          <a:prstGeom prst="rect">
            <a:avLst/>
          </a:prstGeom>
          <a:noFill/>
        </p:spPr>
        <p:txBody>
          <a:bodyPr wrap="square">
            <a:spAutoFit/>
          </a:bodyPr>
          <a:lstStyle/>
          <a:p>
            <a:pPr algn="ctr">
              <a:lnSpc>
                <a:spcPct val="107000"/>
              </a:lnSpc>
              <a:spcAft>
                <a:spcPts val="800"/>
              </a:spcAft>
              <a:buNone/>
            </a:pPr>
            <a:r>
              <a:rPr lang="es-MX" sz="2000" b="1" kern="100" dirty="0">
                <a:effectLst/>
                <a:latin typeface="Arial" panose="020B0604020202020204" pitchFamily="34" charset="0"/>
                <a:ea typeface="Calibri" panose="020F0502020204030204" pitchFamily="34" charset="0"/>
                <a:cs typeface="Times New Roman" panose="02020603050405020304" pitchFamily="18" charset="0"/>
              </a:rPr>
              <a:t>TECNOLÓGICO NACIONAL DE MÉXICO</a:t>
            </a:r>
            <a:endParaRPr lang="es-MX" sz="16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1800" b="1" kern="100" dirty="0">
                <a:effectLst/>
                <a:latin typeface="Arial" panose="020B0604020202020204" pitchFamily="34" charset="0"/>
                <a:ea typeface="Calibri" panose="020F0502020204030204" pitchFamily="34" charset="0"/>
                <a:cs typeface="Times New Roman" panose="02020603050405020304" pitchFamily="18" charset="0"/>
              </a:rPr>
              <a:t>UNIDAD ACADÉMICA VENUSTIANO CARRANZA</a:t>
            </a:r>
            <a:endParaRPr lang="es-MX" sz="16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16" name="CuadroTexto 15">
            <a:extLst>
              <a:ext uri="{FF2B5EF4-FFF2-40B4-BE49-F238E27FC236}">
                <a16:creationId xmlns:a16="http://schemas.microsoft.com/office/drawing/2014/main" id="{A4A9E771-2CE9-85CC-E1A4-169697077E49}"/>
              </a:ext>
            </a:extLst>
          </p:cNvPr>
          <p:cNvSpPr txBox="1"/>
          <p:nvPr/>
        </p:nvSpPr>
        <p:spPr>
          <a:xfrm>
            <a:off x="2550694" y="1329363"/>
            <a:ext cx="6096000" cy="367216"/>
          </a:xfrm>
          <a:prstGeom prst="rect">
            <a:avLst/>
          </a:prstGeom>
          <a:noFill/>
        </p:spPr>
        <p:txBody>
          <a:bodyPr wrap="square">
            <a:spAutoFit/>
          </a:bodyPr>
          <a:lstStyle/>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a:t>
            </a:r>
            <a:r>
              <a:rPr lang="es-MX" sz="1800" b="1" kern="0" dirty="0">
                <a:effectLst/>
                <a:latin typeface="Arial" panose="020B0604020202020204" pitchFamily="34" charset="0"/>
                <a:ea typeface="Times New Roman" panose="02020603050405020304" pitchFamily="18" charset="0"/>
                <a:cs typeface="Arial" panose="020B0604020202020204" pitchFamily="34" charset="0"/>
              </a:rPr>
              <a:t>INGENIERÍA EN SISTEMAS COMPUTACIONALES</a:t>
            </a:r>
            <a:r>
              <a:rPr lang="en-US" sz="1800" b="1" kern="0" dirty="0">
                <a:effectLst/>
                <a:latin typeface="Arial" panose="020B0604020202020204" pitchFamily="34" charset="0"/>
                <a:ea typeface="Arial" panose="020B0604020202020204" pitchFamily="34" charset="0"/>
                <a:cs typeface="Arial" panose="020B0604020202020204" pitchFamily="34" charset="0"/>
              </a:rPr>
              <a:t>”</a:t>
            </a:r>
            <a:endParaRPr lang="es-MX" sz="18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18" name="CuadroTexto 17">
            <a:extLst>
              <a:ext uri="{FF2B5EF4-FFF2-40B4-BE49-F238E27FC236}">
                <a16:creationId xmlns:a16="http://schemas.microsoft.com/office/drawing/2014/main" id="{1FA8327A-BF41-1978-27AD-7942D85077F5}"/>
              </a:ext>
            </a:extLst>
          </p:cNvPr>
          <p:cNvSpPr txBox="1"/>
          <p:nvPr/>
        </p:nvSpPr>
        <p:spPr>
          <a:xfrm>
            <a:off x="2550694" y="1824715"/>
            <a:ext cx="6096000" cy="1627561"/>
          </a:xfrm>
          <a:prstGeom prst="rect">
            <a:avLst/>
          </a:prstGeom>
          <a:noFill/>
        </p:spPr>
        <p:txBody>
          <a:bodyPr wrap="square">
            <a:spAutoFit/>
          </a:bodyPr>
          <a:lstStyle/>
          <a:p>
            <a:pPr algn="ctr">
              <a:lnSpc>
                <a:spcPct val="107000"/>
              </a:lnSpc>
              <a:spcAft>
                <a:spcPts val="800"/>
              </a:spcAft>
              <a:buNone/>
            </a:pPr>
            <a:r>
              <a:rPr lang="es-MX" sz="1800" b="1" kern="0" dirty="0">
                <a:effectLst/>
                <a:latin typeface="Arial" panose="020B0604020202020204" pitchFamily="34" charset="0"/>
                <a:ea typeface="Arial" panose="020B0604020202020204" pitchFamily="34" charset="0"/>
                <a:cs typeface="Arial" panose="020B0604020202020204" pitchFamily="34" charset="0"/>
              </a:rPr>
              <a:t>LENGUAJES Y AUTOMATAS 1</a:t>
            </a:r>
            <a:r>
              <a:rPr lang="en-US" sz="1800" b="1" kern="0" dirty="0">
                <a:effectLst/>
                <a:latin typeface="Arial" panose="020B0604020202020204" pitchFamily="34" charset="0"/>
                <a:ea typeface="Arial" panose="020B0604020202020204" pitchFamily="34" charset="0"/>
                <a:cs typeface="Arial" panose="020B0604020202020204" pitchFamily="34" charset="0"/>
              </a:rPr>
              <a:t>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ACTIVIDAD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sz="2000" b="1" kern="0" dirty="0">
                <a:effectLst/>
                <a:latin typeface="Arial" panose="020B0604020202020204" pitchFamily="34" charset="0"/>
                <a:ea typeface="Arial" panose="020B0604020202020204" pitchFamily="34" charset="0"/>
                <a:cs typeface="Arial" panose="020B0604020202020204" pitchFamily="34" charset="0"/>
              </a:rPr>
              <a:t>ACTIVIDAD 4.3 –EJERCICIOS</a:t>
            </a:r>
            <a:r>
              <a:rPr lang="es-MX" sz="2000" b="1" kern="0" dirty="0">
                <a:latin typeface="Arial" panose="020B0604020202020204" pitchFamily="34" charset="0"/>
                <a:cs typeface="Arial" panose="020B0604020202020204" pitchFamily="34" charset="0"/>
              </a:rPr>
              <a:t> </a:t>
            </a:r>
            <a:r>
              <a:rPr lang="es-MX" dirty="0"/>
              <a:t>	</a:t>
            </a:r>
          </a:p>
          <a:p>
            <a:pPr algn="ctr">
              <a:lnSpc>
                <a:spcPct val="107000"/>
              </a:lnSpc>
              <a:spcAft>
                <a:spcPts val="800"/>
              </a:spcAft>
              <a:buNone/>
            </a:pPr>
            <a:r>
              <a:rPr lang="es-MX" sz="2000" b="1" kern="0" dirty="0">
                <a:effectLst/>
                <a:latin typeface="Arial" panose="020B0604020202020204" pitchFamily="34" charset="0"/>
                <a:ea typeface="Arial" panose="020B0604020202020204" pitchFamily="34" charset="0"/>
                <a:cs typeface="Arial" panose="020B0604020202020204" pitchFamily="34" charset="0"/>
              </a:rPr>
              <a:t>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p:txBody>
      </p:sp>
      <p:graphicFrame>
        <p:nvGraphicFramePr>
          <p:cNvPr id="19" name="Tabla 18">
            <a:extLst>
              <a:ext uri="{FF2B5EF4-FFF2-40B4-BE49-F238E27FC236}">
                <a16:creationId xmlns:a16="http://schemas.microsoft.com/office/drawing/2014/main" id="{C3F20D4B-4AB8-951E-96AB-E5F9938ABBDE}"/>
              </a:ext>
            </a:extLst>
          </p:cNvPr>
          <p:cNvGraphicFramePr>
            <a:graphicFrameLocks noGrp="1"/>
          </p:cNvGraphicFramePr>
          <p:nvPr>
            <p:extLst>
              <p:ext uri="{D42A27DB-BD31-4B8C-83A1-F6EECF244321}">
                <p14:modId xmlns:p14="http://schemas.microsoft.com/office/powerpoint/2010/main" val="3094276835"/>
              </p:ext>
            </p:extLst>
          </p:nvPr>
        </p:nvGraphicFramePr>
        <p:xfrm>
          <a:off x="3249461" y="3714744"/>
          <a:ext cx="4505960" cy="762000"/>
        </p:xfrm>
        <a:graphic>
          <a:graphicData uri="http://schemas.openxmlformats.org/drawingml/2006/table">
            <a:tbl>
              <a:tblPr firstRow="1" firstCol="1" bandRow="1">
                <a:tableStyleId>{5C22544A-7EE6-4342-B048-85BDC9FD1C3A}</a:tableStyleId>
              </a:tblPr>
              <a:tblGrid>
                <a:gridCol w="2697480">
                  <a:extLst>
                    <a:ext uri="{9D8B030D-6E8A-4147-A177-3AD203B41FA5}">
                      <a16:colId xmlns:a16="http://schemas.microsoft.com/office/drawing/2014/main" val="3511045433"/>
                    </a:ext>
                  </a:extLst>
                </a:gridCol>
                <a:gridCol w="1808480">
                  <a:extLst>
                    <a:ext uri="{9D8B030D-6E8A-4147-A177-3AD203B41FA5}">
                      <a16:colId xmlns:a16="http://schemas.microsoft.com/office/drawing/2014/main" val="2206197710"/>
                    </a:ext>
                  </a:extLst>
                </a:gridCol>
              </a:tblGrid>
              <a:tr h="254000">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SEMESTRE</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SEXTO</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71488426"/>
                  </a:ext>
                </a:extLst>
              </a:tr>
              <a:tr h="254000">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NOMBRE DEL ALUMNO</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MATRICULA</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19201878"/>
                  </a:ext>
                </a:extLst>
              </a:tr>
              <a:tr h="254000">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Rafael Aquino Villanueva</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231260073</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98394392"/>
                  </a:ext>
                </a:extLst>
              </a:tr>
            </a:tbl>
          </a:graphicData>
        </a:graphic>
      </p:graphicFrame>
      <p:sp>
        <p:nvSpPr>
          <p:cNvPr id="21" name="CuadroTexto 20">
            <a:extLst>
              <a:ext uri="{FF2B5EF4-FFF2-40B4-BE49-F238E27FC236}">
                <a16:creationId xmlns:a16="http://schemas.microsoft.com/office/drawing/2014/main" id="{2BBA4D31-60C9-991B-3D34-3585F8C8348E}"/>
              </a:ext>
            </a:extLst>
          </p:cNvPr>
          <p:cNvSpPr txBox="1"/>
          <p:nvPr/>
        </p:nvSpPr>
        <p:spPr>
          <a:xfrm>
            <a:off x="4010525" y="3048181"/>
            <a:ext cx="2983833" cy="1165127"/>
          </a:xfrm>
          <a:prstGeom prst="rect">
            <a:avLst/>
          </a:prstGeom>
          <a:noFill/>
        </p:spPr>
        <p:txBody>
          <a:bodyPr wrap="square">
            <a:spAutoFit/>
          </a:bodyPr>
          <a:lstStyle/>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PRESENTA</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23" name="CuadroTexto 22">
            <a:extLst>
              <a:ext uri="{FF2B5EF4-FFF2-40B4-BE49-F238E27FC236}">
                <a16:creationId xmlns:a16="http://schemas.microsoft.com/office/drawing/2014/main" id="{D2284A4D-D83A-881E-63B3-639ACAB1ACB4}"/>
              </a:ext>
            </a:extLst>
          </p:cNvPr>
          <p:cNvSpPr txBox="1"/>
          <p:nvPr/>
        </p:nvSpPr>
        <p:spPr>
          <a:xfrm>
            <a:off x="2550694" y="4809176"/>
            <a:ext cx="6096000" cy="928459"/>
          </a:xfrm>
          <a:prstGeom prst="rect">
            <a:avLst/>
          </a:prstGeom>
          <a:noFill/>
        </p:spPr>
        <p:txBody>
          <a:bodyPr wrap="square">
            <a:spAutoFit/>
          </a:bodyPr>
          <a:lstStyle/>
          <a:p>
            <a:pPr algn="ctr">
              <a:lnSpc>
                <a:spcPct val="150000"/>
              </a:lnSpc>
              <a:spcAft>
                <a:spcPts val="800"/>
              </a:spcAft>
              <a:buNone/>
            </a:pPr>
            <a:r>
              <a:rPr lang="en-US" sz="1600" b="1" kern="0" dirty="0">
                <a:latin typeface="Arial" panose="020B0604020202020204" pitchFamily="34" charset="0"/>
                <a:ea typeface="Calibri" panose="020F0502020204030204" pitchFamily="34" charset="0"/>
                <a:cs typeface="Arial" panose="020B0604020202020204" pitchFamily="34" charset="0"/>
              </a:rPr>
              <a:t>DOCENTE</a:t>
            </a:r>
            <a:endParaRPr lang="es-MX" sz="18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50000"/>
              </a:lnSpc>
              <a:spcAft>
                <a:spcPts val="800"/>
              </a:spcAft>
              <a:buNone/>
            </a:pPr>
            <a:r>
              <a:rPr lang="es-MX" sz="1800" b="1" kern="0" dirty="0">
                <a:effectLst/>
                <a:latin typeface="Arial" panose="020B0604020202020204" pitchFamily="34" charset="0"/>
                <a:ea typeface="Times New Roman" panose="02020603050405020304" pitchFamily="18" charset="0"/>
                <a:cs typeface="Arial" panose="020B0604020202020204" pitchFamily="34" charset="0"/>
              </a:rPr>
              <a:t>ING. FRANCISCO JAVIER MINGO VELAZQUEZ</a:t>
            </a:r>
            <a:endParaRPr lang="es-MX" sz="18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25" name="CuadroTexto 24">
            <a:extLst>
              <a:ext uri="{FF2B5EF4-FFF2-40B4-BE49-F238E27FC236}">
                <a16:creationId xmlns:a16="http://schemas.microsoft.com/office/drawing/2014/main" id="{2669DBE5-FAF1-35CF-08F0-D08353CB1B1B}"/>
              </a:ext>
            </a:extLst>
          </p:cNvPr>
          <p:cNvSpPr txBox="1"/>
          <p:nvPr/>
        </p:nvSpPr>
        <p:spPr>
          <a:xfrm>
            <a:off x="1489075" y="6318878"/>
            <a:ext cx="7812505" cy="1078244"/>
          </a:xfrm>
          <a:prstGeom prst="rect">
            <a:avLst/>
          </a:prstGeom>
          <a:noFill/>
        </p:spPr>
        <p:txBody>
          <a:bodyPr wrap="square">
            <a:spAutoFit/>
          </a:bodyPr>
          <a:lstStyle/>
          <a:p>
            <a:pPr algn="r">
              <a:lnSpc>
                <a:spcPct val="107000"/>
              </a:lnSpc>
              <a:spcAft>
                <a:spcPts val="800"/>
              </a:spcAft>
              <a:buNone/>
            </a:pPr>
            <a:r>
              <a:rPr lang="es-MX" sz="2000" b="1" kern="0" dirty="0">
                <a:latin typeface="Arial" panose="020B0604020202020204" pitchFamily="34" charset="0"/>
                <a:ea typeface="Times New Roman" panose="02020603050405020304" pitchFamily="18" charset="0"/>
                <a:cs typeface="Arial" panose="020B0604020202020204" pitchFamily="34" charset="0"/>
              </a:rPr>
              <a:t>31</a:t>
            </a:r>
            <a:r>
              <a:rPr lang="es-MX" sz="2000" b="1" kern="0" dirty="0">
                <a:effectLst/>
                <a:latin typeface="Arial" panose="020B0604020202020204" pitchFamily="34" charset="0"/>
                <a:ea typeface="Times New Roman" panose="02020603050405020304" pitchFamily="18" charset="0"/>
                <a:cs typeface="Arial" panose="020B0604020202020204" pitchFamily="34" charset="0"/>
              </a:rPr>
              <a:t> DE ENERO DE 2026</a:t>
            </a:r>
            <a:r>
              <a:rPr lang="es-MX" sz="1800" b="1" kern="0" dirty="0">
                <a:effectLst/>
                <a:latin typeface="Arial" panose="020B0604020202020204" pitchFamily="34" charset="0"/>
                <a:ea typeface="Arial" panose="020B0604020202020204" pitchFamily="34" charset="0"/>
                <a:cs typeface="Arial" panose="020B0604020202020204" pitchFamily="34" charset="0"/>
              </a:rPr>
              <a:t> </a:t>
            </a:r>
            <a:r>
              <a:rPr lang="en-US" sz="1800" kern="0" dirty="0">
                <a:effectLst/>
                <a:latin typeface="Arial" panose="020B0604020202020204" pitchFamily="34" charset="0"/>
                <a:ea typeface="Arial" panose="020B0604020202020204" pitchFamily="34" charset="0"/>
                <a:cs typeface="Arial" panose="020B0604020202020204" pitchFamily="34" charset="0"/>
              </a:rPr>
              <a:t>VENUSTIANO CARRANZA, CHIAPAS</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buNone/>
            </a:pPr>
            <a:br>
              <a:rPr lang="en-US" sz="1800" kern="0" dirty="0">
                <a:effectLst/>
                <a:latin typeface="Arial" panose="020B0604020202020204" pitchFamily="34" charset="0"/>
                <a:ea typeface="Arial" panose="020B0604020202020204" pitchFamily="34" charset="0"/>
              </a:rPr>
            </a:br>
            <a:endParaRPr lang="es-MX" dirty="0"/>
          </a:p>
        </p:txBody>
      </p:sp>
    </p:spTree>
    <p:extLst>
      <p:ext uri="{BB962C8B-B14F-4D97-AF65-F5344CB8AC3E}">
        <p14:creationId xmlns:p14="http://schemas.microsoft.com/office/powerpoint/2010/main" val="40010118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E123D5AD-B34F-94DE-CA8C-4E027E6EDC22}"/>
              </a:ext>
            </a:extLst>
          </p:cNvPr>
          <p:cNvSpPr>
            <a:spLocks noGrp="1"/>
          </p:cNvSpPr>
          <p:nvPr>
            <p:ph idx="1"/>
          </p:nvPr>
        </p:nvSpPr>
        <p:spPr>
          <a:xfrm>
            <a:off x="838200" y="1047750"/>
            <a:ext cx="10515600" cy="5129213"/>
          </a:xfrm>
          <a:ln>
            <a:solidFill>
              <a:schemeClr val="accent5">
                <a:lumMod val="75000"/>
              </a:schemeClr>
            </a:solidFill>
          </a:ln>
        </p:spPr>
        <p:txBody>
          <a:bodyPr>
            <a:normAutofit fontScale="92500" lnSpcReduction="20000"/>
          </a:bodyPr>
          <a:lstStyle/>
          <a:p>
            <a:pPr marL="0" indent="0">
              <a:buNone/>
            </a:pPr>
            <a:r>
              <a:rPr lang="es-MX" sz="4400" b="1" kern="0" dirty="0">
                <a:solidFill>
                  <a:schemeClr val="accent1"/>
                </a:solidFill>
                <a:latin typeface="+mj-lt"/>
                <a:cs typeface="Arial" panose="020B0604020202020204" pitchFamily="34" charset="0"/>
              </a:rPr>
              <a:t>Introducción</a:t>
            </a:r>
          </a:p>
          <a:p>
            <a:pPr marL="0" indent="0" algn="just">
              <a:buNone/>
            </a:pPr>
            <a:r>
              <a:rPr lang="es-MX" dirty="0"/>
              <a:t>El análisis léxico es la primera fase dentro del proceso de compilación de un lenguaje de programación. el compilador se encarga de leer el código y dividirlo en unidades llamadas tokens, las cuales representan los diferentes elementos del lenguaje como palabras reservadas, identificadores, operadores y números.</a:t>
            </a:r>
          </a:p>
          <a:p>
            <a:pPr marL="0" indent="0" algn="just">
              <a:buNone/>
            </a:pPr>
            <a:r>
              <a:rPr lang="es-MX" dirty="0"/>
              <a:t>El objetivo del análisis léxico es identificar cada uno de estos elementos dentro del código fuente para que posteriormente puedan ser procesados por las siguientes etapas del compilador, como el análisis sintáctico y el análisis semántico.</a:t>
            </a:r>
          </a:p>
          <a:p>
            <a:pPr marL="0" indent="0" algn="just">
              <a:buNone/>
            </a:pPr>
            <a:r>
              <a:rPr lang="es-MX" dirty="0"/>
              <a:t>se presentan diferentes ejercicios de análisis léxico, donde se analizan fragmentos de código y se identifican los tokens correspondientes, así como posibles errores léxicos dentro del código.</a:t>
            </a:r>
          </a:p>
          <a:p>
            <a:pPr marL="0" indent="0">
              <a:buNone/>
            </a:pPr>
            <a:endParaRPr lang="es-MX" b="1" kern="0" dirty="0">
              <a:solidFill>
                <a:schemeClr val="accent1"/>
              </a:solidFill>
              <a:latin typeface="+mj-lt"/>
              <a:cs typeface="Arial" panose="020B0604020202020204" pitchFamily="34" charset="0"/>
            </a:endParaRPr>
          </a:p>
          <a:p>
            <a:pPr marL="0" indent="0" algn="just">
              <a:buNone/>
            </a:pPr>
            <a:r>
              <a:rPr lang="es-MX" dirty="0"/>
              <a:t> </a:t>
            </a:r>
          </a:p>
        </p:txBody>
      </p:sp>
    </p:spTree>
    <p:extLst>
      <p:ext uri="{BB962C8B-B14F-4D97-AF65-F5344CB8AC3E}">
        <p14:creationId xmlns:p14="http://schemas.microsoft.com/office/powerpoint/2010/main" val="2160315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448F6C57-A8B1-DC96-5869-560383E7A005}"/>
              </a:ext>
            </a:extLst>
          </p:cNvPr>
          <p:cNvSpPr>
            <a:spLocks noGrp="1"/>
          </p:cNvSpPr>
          <p:nvPr>
            <p:ph idx="1"/>
          </p:nvPr>
        </p:nvSpPr>
        <p:spPr>
          <a:xfrm>
            <a:off x="838200" y="773906"/>
            <a:ext cx="10515600" cy="5310188"/>
          </a:xfrm>
        </p:spPr>
        <p:txBody>
          <a:bodyPr/>
          <a:lstStyle/>
          <a:p>
            <a:pPr marL="0" indent="0">
              <a:buNone/>
            </a:pPr>
            <a:r>
              <a:rPr lang="es-MX" sz="4400" b="1" dirty="0">
                <a:solidFill>
                  <a:schemeClr val="accent1"/>
                </a:solidFill>
                <a:latin typeface="+mj-lt"/>
              </a:rPr>
              <a:t>Objetivo</a:t>
            </a:r>
          </a:p>
          <a:p>
            <a:pPr marL="0" indent="0">
              <a:buNone/>
            </a:pPr>
            <a:r>
              <a:rPr lang="es-MX" dirty="0"/>
              <a:t> </a:t>
            </a:r>
          </a:p>
          <a:p>
            <a:pPr marL="0" indent="0" algn="just">
              <a:buNone/>
            </a:pPr>
            <a:r>
              <a:rPr lang="es-MX" dirty="0"/>
              <a:t>Aplicar los conceptos del análisis léxico mediante la resolución de diferentes ejercicios que permitan identificar los tokens presentes en fragmentos de código fuente. A través de estos ejercicios se busca reconocer elementos como palabras reservadas, identificadores, operadores, números enteros, números decimales y errores léxicos, comprendiendo el funcionamiento de la primera etapa del proceso de compilación.</a:t>
            </a:r>
          </a:p>
          <a:p>
            <a:pPr marL="0" indent="0">
              <a:buNone/>
            </a:pPr>
            <a:endParaRPr lang="es-MX" dirty="0"/>
          </a:p>
        </p:txBody>
      </p:sp>
    </p:spTree>
    <p:extLst>
      <p:ext uri="{BB962C8B-B14F-4D97-AF65-F5344CB8AC3E}">
        <p14:creationId xmlns:p14="http://schemas.microsoft.com/office/powerpoint/2010/main" val="4926627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EF687F3-E956-FF4E-0894-6AC9DD0B4EEF}"/>
              </a:ext>
            </a:extLst>
          </p:cNvPr>
          <p:cNvSpPr>
            <a:spLocks noGrp="1"/>
          </p:cNvSpPr>
          <p:nvPr>
            <p:ph type="title"/>
          </p:nvPr>
        </p:nvSpPr>
        <p:spPr/>
        <p:txBody>
          <a:bodyPr/>
          <a:lstStyle/>
          <a:p>
            <a:r>
              <a:rPr lang="es-MX" b="1" dirty="0" err="1">
                <a:solidFill>
                  <a:schemeClr val="accent1"/>
                </a:solidFill>
              </a:rPr>
              <a:t>Justificacion</a:t>
            </a:r>
            <a:br>
              <a:rPr lang="es-MX" b="1" dirty="0">
                <a:solidFill>
                  <a:schemeClr val="accent1"/>
                </a:solidFill>
              </a:rPr>
            </a:br>
            <a:endParaRPr lang="es-MX" dirty="0"/>
          </a:p>
        </p:txBody>
      </p:sp>
      <p:sp>
        <p:nvSpPr>
          <p:cNvPr id="3" name="Marcador de contenido 2">
            <a:extLst>
              <a:ext uri="{FF2B5EF4-FFF2-40B4-BE49-F238E27FC236}">
                <a16:creationId xmlns:a16="http://schemas.microsoft.com/office/drawing/2014/main" id="{BB267B60-E550-E60E-CEC2-2760C07C7FE2}"/>
              </a:ext>
            </a:extLst>
          </p:cNvPr>
          <p:cNvSpPr>
            <a:spLocks noGrp="1"/>
          </p:cNvSpPr>
          <p:nvPr>
            <p:ph idx="1"/>
          </p:nvPr>
        </p:nvSpPr>
        <p:spPr/>
        <p:txBody>
          <a:bodyPr>
            <a:normAutofit/>
          </a:bodyPr>
          <a:lstStyle/>
          <a:p>
            <a:pPr marL="0" indent="0" algn="just">
              <a:buNone/>
            </a:pPr>
            <a:r>
              <a:rPr lang="es-MX" dirty="0"/>
              <a:t>La realización de ejercicios de análisis léxico permite reforzar los conocimientos adquiridos sobre el funcionamiento de los compiladores y la forma en que el código fuente es procesado por una computadora. Mediante la identificación de tokens dentro de diferentes fragmentos de código, es posible comprender cómo un analizador léxico reconoce los distintos elementos de un lenguaje de programación.</a:t>
            </a:r>
          </a:p>
          <a:p>
            <a:pPr marL="0" indent="0" algn="just">
              <a:buNone/>
            </a:pPr>
            <a:r>
              <a:rPr lang="es-MX" dirty="0"/>
              <a:t>Además, estos ejercicios ayudan a identificar errores léxicos y comprender las reglas que definen la estructura de los identificadores, números y operadores dentro de un programa.</a:t>
            </a:r>
          </a:p>
          <a:p>
            <a:pPr marL="0" indent="0">
              <a:buNone/>
            </a:pPr>
            <a:endParaRPr lang="es-MX" dirty="0"/>
          </a:p>
        </p:txBody>
      </p:sp>
    </p:spTree>
    <p:extLst>
      <p:ext uri="{BB962C8B-B14F-4D97-AF65-F5344CB8AC3E}">
        <p14:creationId xmlns:p14="http://schemas.microsoft.com/office/powerpoint/2010/main" val="40967338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CE297D5-784E-81E4-D985-356478F53778}"/>
              </a:ext>
            </a:extLst>
          </p:cNvPr>
          <p:cNvSpPr>
            <a:spLocks noGrp="1"/>
          </p:cNvSpPr>
          <p:nvPr>
            <p:ph type="title"/>
          </p:nvPr>
        </p:nvSpPr>
        <p:spPr>
          <a:xfrm>
            <a:off x="838200" y="365125"/>
            <a:ext cx="10515600" cy="815975"/>
          </a:xfrm>
        </p:spPr>
        <p:txBody>
          <a:bodyPr/>
          <a:lstStyle/>
          <a:p>
            <a:r>
              <a:rPr lang="es-MX" b="1" dirty="0">
                <a:solidFill>
                  <a:schemeClr val="accent1"/>
                </a:solidFill>
              </a:rPr>
              <a:t>Ejercicio 1</a:t>
            </a:r>
          </a:p>
        </p:txBody>
      </p:sp>
      <p:sp>
        <p:nvSpPr>
          <p:cNvPr id="3" name="Marcador de contenido 2">
            <a:extLst>
              <a:ext uri="{FF2B5EF4-FFF2-40B4-BE49-F238E27FC236}">
                <a16:creationId xmlns:a16="http://schemas.microsoft.com/office/drawing/2014/main" id="{D2017FD6-A5EF-F171-672E-5307F7356123}"/>
              </a:ext>
            </a:extLst>
          </p:cNvPr>
          <p:cNvSpPr>
            <a:spLocks noGrp="1"/>
          </p:cNvSpPr>
          <p:nvPr>
            <p:ph idx="1"/>
          </p:nvPr>
        </p:nvSpPr>
        <p:spPr>
          <a:xfrm>
            <a:off x="676275" y="1196975"/>
            <a:ext cx="5419724" cy="4351338"/>
          </a:xfrm>
        </p:spPr>
        <p:txBody>
          <a:bodyPr>
            <a:noAutofit/>
          </a:bodyPr>
          <a:lstStyle/>
          <a:p>
            <a:pPr marL="0" indent="0">
              <a:buNone/>
            </a:pPr>
            <a:r>
              <a:rPr lang="it-IT" sz="2000" dirty="0"/>
              <a:t>volumen = pi * radio^2 * altura</a:t>
            </a:r>
          </a:p>
          <a:p>
            <a:pPr marL="0" indent="0">
              <a:buNone/>
            </a:pPr>
            <a:r>
              <a:rPr lang="es-MX" sz="2000" b="1" dirty="0"/>
              <a:t>Resultado</a:t>
            </a:r>
          </a:p>
          <a:p>
            <a:pPr marL="0" indent="0">
              <a:buNone/>
            </a:pPr>
            <a:r>
              <a:rPr lang="es-MX" sz="2000" dirty="0"/>
              <a:t>volumen -&gt; IDENTIFICADOR</a:t>
            </a:r>
            <a:br>
              <a:rPr lang="es-MX" sz="2000" dirty="0"/>
            </a:br>
            <a:r>
              <a:rPr lang="es-MX" sz="2000" dirty="0"/>
              <a:t>= -&gt; OPERADOR</a:t>
            </a:r>
            <a:br>
              <a:rPr lang="es-MX" sz="2000" dirty="0"/>
            </a:br>
            <a:r>
              <a:rPr lang="es-MX" sz="2000" dirty="0"/>
              <a:t>pi -&gt; IDENTIFICADOR</a:t>
            </a:r>
            <a:br>
              <a:rPr lang="es-MX" sz="2000" dirty="0"/>
            </a:br>
            <a:r>
              <a:rPr lang="es-MX" sz="2000" dirty="0"/>
              <a:t>* -&gt; OPERADOR</a:t>
            </a:r>
            <a:br>
              <a:rPr lang="es-MX" sz="2000" dirty="0"/>
            </a:br>
            <a:r>
              <a:rPr lang="es-MX" sz="2000" dirty="0"/>
              <a:t>radio -&gt; IDENTIFICADOR</a:t>
            </a:r>
          </a:p>
          <a:p>
            <a:pPr marL="0" indent="0">
              <a:buNone/>
            </a:pPr>
            <a:r>
              <a:rPr lang="es-MX" sz="2000" dirty="0"/>
              <a:t>2 -&gt; NUMERO_ENTERO</a:t>
            </a:r>
            <a:br>
              <a:rPr lang="es-MX" sz="2000" dirty="0"/>
            </a:br>
            <a:r>
              <a:rPr lang="es-MX" sz="2000" dirty="0"/>
              <a:t>* -&gt; OPERADOR</a:t>
            </a:r>
            <a:br>
              <a:rPr lang="es-MX" sz="2000" dirty="0"/>
            </a:br>
            <a:r>
              <a:rPr lang="es-MX" sz="2000" dirty="0"/>
              <a:t>altura -&gt; IDENTIFICADOR</a:t>
            </a:r>
          </a:p>
          <a:p>
            <a:pPr marL="0" indent="0">
              <a:buNone/>
            </a:pPr>
            <a:r>
              <a:rPr lang="es-MX" sz="2000" b="1" dirty="0" err="1"/>
              <a:t>Explicacion</a:t>
            </a:r>
            <a:endParaRPr lang="it-IT" sz="2000" dirty="0"/>
          </a:p>
          <a:p>
            <a:pPr marL="0" indent="0" algn="just">
              <a:buNone/>
            </a:pPr>
            <a:r>
              <a:rPr lang="es-MX" sz="2000" dirty="0"/>
              <a:t>en este ejercicio se analiza una expresión matemática donde el analizador identifica identificadores, operadores y números enteros. Sin embargo, el operador de potencia (^) no fue reconocido por el programa debido a que no está contemplado dentro de las reglas definidas para los operadores.</a:t>
            </a:r>
          </a:p>
        </p:txBody>
      </p:sp>
      <p:pic>
        <p:nvPicPr>
          <p:cNvPr id="5" name="Imagen 4">
            <a:extLst>
              <a:ext uri="{FF2B5EF4-FFF2-40B4-BE49-F238E27FC236}">
                <a16:creationId xmlns:a16="http://schemas.microsoft.com/office/drawing/2014/main" id="{E43CFB54-840B-C88E-4CB1-D91BA994741E}"/>
              </a:ext>
            </a:extLst>
          </p:cNvPr>
          <p:cNvPicPr>
            <a:picLocks noChangeAspect="1"/>
          </p:cNvPicPr>
          <p:nvPr/>
        </p:nvPicPr>
        <p:blipFill>
          <a:blip r:embed="rId2"/>
          <a:stretch>
            <a:fillRect/>
          </a:stretch>
        </p:blipFill>
        <p:spPr>
          <a:xfrm>
            <a:off x="6095999" y="1456729"/>
            <a:ext cx="6029325" cy="3391495"/>
          </a:xfrm>
          <a:prstGeom prst="rect">
            <a:avLst/>
          </a:prstGeom>
        </p:spPr>
      </p:pic>
    </p:spTree>
    <p:extLst>
      <p:ext uri="{BB962C8B-B14F-4D97-AF65-F5344CB8AC3E}">
        <p14:creationId xmlns:p14="http://schemas.microsoft.com/office/powerpoint/2010/main" val="14135019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FD20759-2AB1-BEDD-D3E7-3DF27CBCC872}"/>
              </a:ext>
            </a:extLst>
          </p:cNvPr>
          <p:cNvSpPr>
            <a:spLocks noGrp="1"/>
          </p:cNvSpPr>
          <p:nvPr>
            <p:ph type="title"/>
          </p:nvPr>
        </p:nvSpPr>
        <p:spPr/>
        <p:txBody>
          <a:bodyPr/>
          <a:lstStyle/>
          <a:p>
            <a:r>
              <a:rPr lang="es-MX" b="1" dirty="0">
                <a:solidFill>
                  <a:schemeClr val="accent1"/>
                </a:solidFill>
              </a:rPr>
              <a:t>Ejercicio 2</a:t>
            </a:r>
            <a:endParaRPr lang="es-MX" dirty="0"/>
          </a:p>
        </p:txBody>
      </p:sp>
      <p:sp>
        <p:nvSpPr>
          <p:cNvPr id="3" name="Marcador de contenido 2">
            <a:extLst>
              <a:ext uri="{FF2B5EF4-FFF2-40B4-BE49-F238E27FC236}">
                <a16:creationId xmlns:a16="http://schemas.microsoft.com/office/drawing/2014/main" id="{ABB0D49E-0F56-6DE3-0345-7504F57D4EF8}"/>
              </a:ext>
            </a:extLst>
          </p:cNvPr>
          <p:cNvSpPr>
            <a:spLocks noGrp="1"/>
          </p:cNvSpPr>
          <p:nvPr>
            <p:ph idx="1"/>
          </p:nvPr>
        </p:nvSpPr>
        <p:spPr>
          <a:xfrm>
            <a:off x="838200" y="1825625"/>
            <a:ext cx="4629150" cy="4351338"/>
          </a:xfrm>
        </p:spPr>
        <p:txBody>
          <a:bodyPr>
            <a:normAutofit fontScale="92500" lnSpcReduction="20000"/>
          </a:bodyPr>
          <a:lstStyle/>
          <a:p>
            <a:pPr marL="0" indent="0">
              <a:buNone/>
            </a:pPr>
            <a:r>
              <a:rPr lang="es-MX" dirty="0" err="1"/>
              <a:t>int</a:t>
            </a:r>
            <a:r>
              <a:rPr lang="es-MX" dirty="0"/>
              <a:t> x = 10;</a:t>
            </a:r>
          </a:p>
          <a:p>
            <a:pPr marL="0" indent="0">
              <a:buNone/>
            </a:pPr>
            <a:r>
              <a:rPr lang="es-MX" b="1" dirty="0"/>
              <a:t>Resultado</a:t>
            </a:r>
          </a:p>
          <a:p>
            <a:pPr marL="0" indent="0">
              <a:buNone/>
            </a:pPr>
            <a:r>
              <a:rPr lang="es-MX" dirty="0" err="1"/>
              <a:t>int</a:t>
            </a:r>
            <a:r>
              <a:rPr lang="es-MX" dirty="0"/>
              <a:t> -&gt; PALABRA_RESERVADA</a:t>
            </a:r>
            <a:br>
              <a:rPr lang="es-MX" dirty="0"/>
            </a:br>
            <a:r>
              <a:rPr lang="es-MX" dirty="0"/>
              <a:t>x -&gt; IDENTIFICADOR</a:t>
            </a:r>
            <a:br>
              <a:rPr lang="es-MX" dirty="0"/>
            </a:br>
            <a:r>
              <a:rPr lang="es-MX" dirty="0"/>
              <a:t>= -&gt; OPERADOR</a:t>
            </a:r>
            <a:br>
              <a:rPr lang="es-MX" dirty="0"/>
            </a:br>
            <a:r>
              <a:rPr lang="es-MX" dirty="0"/>
              <a:t>10 -&gt; NUMERO_ENTERO</a:t>
            </a:r>
          </a:p>
          <a:p>
            <a:pPr marL="0" indent="0">
              <a:buNone/>
            </a:pPr>
            <a:r>
              <a:rPr lang="es-MX" b="1" dirty="0" err="1"/>
              <a:t>Explicacion</a:t>
            </a:r>
            <a:br>
              <a:rPr lang="es-MX" dirty="0"/>
            </a:br>
            <a:endParaRPr lang="es-MX" dirty="0"/>
          </a:p>
          <a:p>
            <a:pPr marL="0" indent="0" algn="just">
              <a:buNone/>
            </a:pPr>
            <a:r>
              <a:rPr lang="es-MX" dirty="0"/>
              <a:t>Se identifica correctamente la palabra reservada </a:t>
            </a:r>
            <a:r>
              <a:rPr lang="es-MX" b="1" dirty="0" err="1"/>
              <a:t>int</a:t>
            </a:r>
            <a:r>
              <a:rPr lang="es-MX" dirty="0"/>
              <a:t>, el identificador </a:t>
            </a:r>
            <a:r>
              <a:rPr lang="es-MX" b="1" dirty="0"/>
              <a:t>x</a:t>
            </a:r>
            <a:r>
              <a:rPr lang="es-MX" dirty="0"/>
              <a:t>, el operador de asignación y el número entero.</a:t>
            </a:r>
          </a:p>
          <a:p>
            <a:pPr marL="0" indent="0">
              <a:buNone/>
            </a:pPr>
            <a:endParaRPr lang="es-MX" dirty="0"/>
          </a:p>
        </p:txBody>
      </p:sp>
      <p:pic>
        <p:nvPicPr>
          <p:cNvPr id="5" name="Imagen 4">
            <a:extLst>
              <a:ext uri="{FF2B5EF4-FFF2-40B4-BE49-F238E27FC236}">
                <a16:creationId xmlns:a16="http://schemas.microsoft.com/office/drawing/2014/main" id="{8A012DC0-651C-67CF-0253-1C749FDD175E}"/>
              </a:ext>
            </a:extLst>
          </p:cNvPr>
          <p:cNvPicPr>
            <a:picLocks noChangeAspect="1"/>
          </p:cNvPicPr>
          <p:nvPr/>
        </p:nvPicPr>
        <p:blipFill>
          <a:blip r:embed="rId2"/>
          <a:stretch>
            <a:fillRect/>
          </a:stretch>
        </p:blipFill>
        <p:spPr>
          <a:xfrm>
            <a:off x="5875867" y="1873250"/>
            <a:ext cx="6316133" cy="3552825"/>
          </a:xfrm>
          <a:prstGeom prst="rect">
            <a:avLst/>
          </a:prstGeom>
        </p:spPr>
      </p:pic>
    </p:spTree>
    <p:extLst>
      <p:ext uri="{BB962C8B-B14F-4D97-AF65-F5344CB8AC3E}">
        <p14:creationId xmlns:p14="http://schemas.microsoft.com/office/powerpoint/2010/main" val="991624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D3FCC0-615E-87D6-074E-3BA19639FDC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7B229C3-AFBE-E8DA-127A-FCE65583C5D5}"/>
              </a:ext>
            </a:extLst>
          </p:cNvPr>
          <p:cNvSpPr>
            <a:spLocks noGrp="1"/>
          </p:cNvSpPr>
          <p:nvPr>
            <p:ph type="title"/>
          </p:nvPr>
        </p:nvSpPr>
        <p:spPr/>
        <p:txBody>
          <a:bodyPr/>
          <a:lstStyle/>
          <a:p>
            <a:r>
              <a:rPr lang="es-MX" b="1" dirty="0">
                <a:solidFill>
                  <a:schemeClr val="accent1"/>
                </a:solidFill>
              </a:rPr>
              <a:t>Ejercicio 3</a:t>
            </a:r>
            <a:endParaRPr lang="es-MX" dirty="0"/>
          </a:p>
        </p:txBody>
      </p:sp>
      <p:sp>
        <p:nvSpPr>
          <p:cNvPr id="3" name="Marcador de contenido 2">
            <a:extLst>
              <a:ext uri="{FF2B5EF4-FFF2-40B4-BE49-F238E27FC236}">
                <a16:creationId xmlns:a16="http://schemas.microsoft.com/office/drawing/2014/main" id="{90B9F9A7-BD22-306B-3CB8-9F97427513CB}"/>
              </a:ext>
            </a:extLst>
          </p:cNvPr>
          <p:cNvSpPr>
            <a:spLocks noGrp="1"/>
          </p:cNvSpPr>
          <p:nvPr>
            <p:ph idx="1"/>
          </p:nvPr>
        </p:nvSpPr>
        <p:spPr>
          <a:xfrm>
            <a:off x="838200" y="1825625"/>
            <a:ext cx="4629150" cy="4351338"/>
          </a:xfrm>
        </p:spPr>
        <p:txBody>
          <a:bodyPr>
            <a:normAutofit fontScale="92500" lnSpcReduction="10000"/>
          </a:bodyPr>
          <a:lstStyle/>
          <a:p>
            <a:pPr marL="0" indent="0">
              <a:buNone/>
            </a:pPr>
            <a:r>
              <a:rPr lang="es-MX" dirty="0" err="1"/>
              <a:t>int</a:t>
            </a:r>
            <a:r>
              <a:rPr lang="es-MX" dirty="0"/>
              <a:t> 5x = 10;</a:t>
            </a:r>
          </a:p>
          <a:p>
            <a:pPr marL="0" indent="0">
              <a:buNone/>
            </a:pPr>
            <a:r>
              <a:rPr lang="es-MX" b="1" dirty="0"/>
              <a:t>Resultado</a:t>
            </a:r>
          </a:p>
          <a:p>
            <a:pPr marL="0" indent="0">
              <a:buNone/>
            </a:pPr>
            <a:r>
              <a:rPr lang="es-MX" dirty="0" err="1"/>
              <a:t>int</a:t>
            </a:r>
            <a:r>
              <a:rPr lang="es-MX" dirty="0"/>
              <a:t> -&gt; PALABRA_RESERVADA</a:t>
            </a:r>
            <a:br>
              <a:rPr lang="es-MX" dirty="0"/>
            </a:br>
            <a:r>
              <a:rPr lang="es-MX" dirty="0"/>
              <a:t>5x -&gt; ERROR_LEXICO</a:t>
            </a:r>
            <a:br>
              <a:rPr lang="es-MX" dirty="0"/>
            </a:br>
            <a:r>
              <a:rPr lang="es-MX" dirty="0"/>
              <a:t>= -&gt; OPERADOR</a:t>
            </a:r>
            <a:br>
              <a:rPr lang="es-MX" dirty="0"/>
            </a:br>
            <a:r>
              <a:rPr lang="es-MX" dirty="0"/>
              <a:t>10 -&gt; NUMERO_ENTERO</a:t>
            </a:r>
          </a:p>
          <a:p>
            <a:pPr marL="0" indent="0">
              <a:buNone/>
            </a:pPr>
            <a:r>
              <a:rPr lang="es-MX" b="1" dirty="0" err="1"/>
              <a:t>Explicacion</a:t>
            </a:r>
            <a:br>
              <a:rPr lang="es-MX" dirty="0"/>
            </a:br>
            <a:endParaRPr lang="es-MX" dirty="0"/>
          </a:p>
          <a:p>
            <a:pPr marL="0" indent="0">
              <a:buNone/>
            </a:pPr>
            <a:r>
              <a:rPr lang="es-MX" dirty="0"/>
              <a:t>El identificador 5x es incorrecto porque los identificadores no pueden iniciar con un número.</a:t>
            </a:r>
          </a:p>
          <a:p>
            <a:pPr marL="0" indent="0">
              <a:buNone/>
            </a:pPr>
            <a:endParaRPr lang="es-MX" dirty="0"/>
          </a:p>
        </p:txBody>
      </p:sp>
      <p:pic>
        <p:nvPicPr>
          <p:cNvPr id="8" name="Imagen 7">
            <a:extLst>
              <a:ext uri="{FF2B5EF4-FFF2-40B4-BE49-F238E27FC236}">
                <a16:creationId xmlns:a16="http://schemas.microsoft.com/office/drawing/2014/main" id="{E41184BA-5B4D-781C-CDC8-D9E385679132}"/>
              </a:ext>
            </a:extLst>
          </p:cNvPr>
          <p:cNvPicPr>
            <a:picLocks noChangeAspect="1"/>
          </p:cNvPicPr>
          <p:nvPr/>
        </p:nvPicPr>
        <p:blipFill>
          <a:blip r:embed="rId2"/>
          <a:stretch>
            <a:fillRect/>
          </a:stretch>
        </p:blipFill>
        <p:spPr>
          <a:xfrm>
            <a:off x="5848350" y="1228725"/>
            <a:ext cx="6096000" cy="3429000"/>
          </a:xfrm>
          <a:prstGeom prst="rect">
            <a:avLst/>
          </a:prstGeom>
        </p:spPr>
      </p:pic>
    </p:spTree>
    <p:extLst>
      <p:ext uri="{BB962C8B-B14F-4D97-AF65-F5344CB8AC3E}">
        <p14:creationId xmlns:p14="http://schemas.microsoft.com/office/powerpoint/2010/main" val="4714434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499571-D0FA-8168-269E-456BCBC5B92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FDF35BF-D43A-20AB-032F-046DDF7B3DCF}"/>
              </a:ext>
            </a:extLst>
          </p:cNvPr>
          <p:cNvSpPr>
            <a:spLocks noGrp="1"/>
          </p:cNvSpPr>
          <p:nvPr>
            <p:ph type="title"/>
          </p:nvPr>
        </p:nvSpPr>
        <p:spPr/>
        <p:txBody>
          <a:bodyPr/>
          <a:lstStyle/>
          <a:p>
            <a:r>
              <a:rPr lang="es-MX" b="1" dirty="0">
                <a:solidFill>
                  <a:schemeClr val="accent1"/>
                </a:solidFill>
              </a:rPr>
              <a:t>Ejercicio 4</a:t>
            </a:r>
            <a:endParaRPr lang="es-MX" dirty="0"/>
          </a:p>
        </p:txBody>
      </p:sp>
      <p:sp>
        <p:nvSpPr>
          <p:cNvPr id="3" name="Marcador de contenido 2">
            <a:extLst>
              <a:ext uri="{FF2B5EF4-FFF2-40B4-BE49-F238E27FC236}">
                <a16:creationId xmlns:a16="http://schemas.microsoft.com/office/drawing/2014/main" id="{73DE8447-5233-67FF-78F7-BE8D1C1DC18A}"/>
              </a:ext>
            </a:extLst>
          </p:cNvPr>
          <p:cNvSpPr>
            <a:spLocks noGrp="1"/>
          </p:cNvSpPr>
          <p:nvPr>
            <p:ph idx="1"/>
          </p:nvPr>
        </p:nvSpPr>
        <p:spPr>
          <a:xfrm>
            <a:off x="838200" y="1825625"/>
            <a:ext cx="4629150" cy="4351338"/>
          </a:xfrm>
        </p:spPr>
        <p:txBody>
          <a:bodyPr>
            <a:normAutofit fontScale="92500"/>
          </a:bodyPr>
          <a:lstStyle/>
          <a:p>
            <a:pPr marL="0" indent="0">
              <a:buNone/>
            </a:pPr>
            <a:r>
              <a:rPr lang="es-MX" dirty="0" err="1"/>
              <a:t>float</a:t>
            </a:r>
            <a:r>
              <a:rPr lang="es-MX" dirty="0"/>
              <a:t> temperatura = 36.6</a:t>
            </a:r>
          </a:p>
          <a:p>
            <a:pPr marL="0" indent="0">
              <a:buNone/>
            </a:pPr>
            <a:r>
              <a:rPr lang="es-MX" b="1" dirty="0"/>
              <a:t>Resultado</a:t>
            </a:r>
          </a:p>
          <a:p>
            <a:pPr marL="0" indent="0">
              <a:buNone/>
            </a:pPr>
            <a:r>
              <a:rPr lang="es-MX" dirty="0" err="1"/>
              <a:t>float</a:t>
            </a:r>
            <a:r>
              <a:rPr lang="es-MX" dirty="0"/>
              <a:t> -&gt; PALABRA_RESERVADA</a:t>
            </a:r>
            <a:br>
              <a:rPr lang="es-MX" dirty="0"/>
            </a:br>
            <a:r>
              <a:rPr lang="es-MX" dirty="0"/>
              <a:t>temperatura -&gt; IDENTIFICADOR</a:t>
            </a:r>
            <a:br>
              <a:rPr lang="es-MX" dirty="0"/>
            </a:br>
            <a:r>
              <a:rPr lang="es-MX" dirty="0"/>
              <a:t>= -&gt; OPERADOR</a:t>
            </a:r>
            <a:br>
              <a:rPr lang="es-MX" dirty="0"/>
            </a:br>
            <a:r>
              <a:rPr lang="es-MX" dirty="0"/>
              <a:t>36.6 -&gt; NUMERO_DECIMAL</a:t>
            </a:r>
          </a:p>
          <a:p>
            <a:pPr marL="0" indent="0">
              <a:buNone/>
            </a:pPr>
            <a:r>
              <a:rPr lang="es-MX" b="1" dirty="0" err="1"/>
              <a:t>Explicacion</a:t>
            </a:r>
            <a:br>
              <a:rPr lang="es-MX" dirty="0"/>
            </a:br>
            <a:endParaRPr lang="es-MX" dirty="0"/>
          </a:p>
          <a:p>
            <a:pPr marL="0" indent="0" algn="just">
              <a:buNone/>
            </a:pPr>
            <a:r>
              <a:rPr lang="es-MX" dirty="0"/>
              <a:t>Aquí Se reconoce correctamente el número decimal.</a:t>
            </a:r>
          </a:p>
          <a:p>
            <a:pPr marL="0" indent="0" algn="just">
              <a:buNone/>
            </a:pPr>
            <a:endParaRPr lang="es-MX" dirty="0"/>
          </a:p>
          <a:p>
            <a:pPr marL="0" indent="0">
              <a:buNone/>
            </a:pPr>
            <a:endParaRPr lang="es-MX" dirty="0"/>
          </a:p>
        </p:txBody>
      </p:sp>
      <p:pic>
        <p:nvPicPr>
          <p:cNvPr id="6" name="Imagen 5">
            <a:extLst>
              <a:ext uri="{FF2B5EF4-FFF2-40B4-BE49-F238E27FC236}">
                <a16:creationId xmlns:a16="http://schemas.microsoft.com/office/drawing/2014/main" id="{9BB0A084-4AD9-81DC-BD23-489DA66972C6}"/>
              </a:ext>
            </a:extLst>
          </p:cNvPr>
          <p:cNvPicPr>
            <a:picLocks noChangeAspect="1"/>
          </p:cNvPicPr>
          <p:nvPr/>
        </p:nvPicPr>
        <p:blipFill>
          <a:blip r:embed="rId2"/>
          <a:stretch>
            <a:fillRect/>
          </a:stretch>
        </p:blipFill>
        <p:spPr>
          <a:xfrm>
            <a:off x="5895975" y="1552575"/>
            <a:ext cx="6096000" cy="3429000"/>
          </a:xfrm>
          <a:prstGeom prst="rect">
            <a:avLst/>
          </a:prstGeom>
        </p:spPr>
      </p:pic>
    </p:spTree>
    <p:extLst>
      <p:ext uri="{BB962C8B-B14F-4D97-AF65-F5344CB8AC3E}">
        <p14:creationId xmlns:p14="http://schemas.microsoft.com/office/powerpoint/2010/main" val="9544496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3D5E53-813D-D623-3F70-C830B4CD644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C160A2D-8891-FC03-C0EC-F8A007601FE3}"/>
              </a:ext>
            </a:extLst>
          </p:cNvPr>
          <p:cNvSpPr>
            <a:spLocks noGrp="1"/>
          </p:cNvSpPr>
          <p:nvPr>
            <p:ph type="title"/>
          </p:nvPr>
        </p:nvSpPr>
        <p:spPr/>
        <p:txBody>
          <a:bodyPr/>
          <a:lstStyle/>
          <a:p>
            <a:r>
              <a:rPr lang="es-MX" b="1" dirty="0">
                <a:solidFill>
                  <a:schemeClr val="accent1"/>
                </a:solidFill>
              </a:rPr>
              <a:t>Ejercicio 5</a:t>
            </a:r>
            <a:endParaRPr lang="es-MX" dirty="0"/>
          </a:p>
        </p:txBody>
      </p:sp>
      <p:sp>
        <p:nvSpPr>
          <p:cNvPr id="3" name="Marcador de contenido 2">
            <a:extLst>
              <a:ext uri="{FF2B5EF4-FFF2-40B4-BE49-F238E27FC236}">
                <a16:creationId xmlns:a16="http://schemas.microsoft.com/office/drawing/2014/main" id="{C4DF5559-F946-57EC-C957-F79542EDD243}"/>
              </a:ext>
            </a:extLst>
          </p:cNvPr>
          <p:cNvSpPr>
            <a:spLocks noGrp="1"/>
          </p:cNvSpPr>
          <p:nvPr>
            <p:ph idx="1"/>
          </p:nvPr>
        </p:nvSpPr>
        <p:spPr>
          <a:xfrm>
            <a:off x="838200" y="1825625"/>
            <a:ext cx="4629150" cy="4351338"/>
          </a:xfrm>
        </p:spPr>
        <p:txBody>
          <a:bodyPr>
            <a:normAutofit fontScale="92500"/>
          </a:bodyPr>
          <a:lstStyle/>
          <a:p>
            <a:pPr marL="0" indent="0">
              <a:buNone/>
            </a:pPr>
            <a:r>
              <a:rPr lang="es-MX" dirty="0" err="1"/>
              <a:t>int</a:t>
            </a:r>
            <a:r>
              <a:rPr lang="es-MX" dirty="0"/>
              <a:t> contador = 100</a:t>
            </a:r>
          </a:p>
          <a:p>
            <a:pPr marL="0" indent="0">
              <a:buNone/>
            </a:pPr>
            <a:r>
              <a:rPr lang="es-MX" b="1" dirty="0"/>
              <a:t>Resultado</a:t>
            </a:r>
          </a:p>
          <a:p>
            <a:pPr marL="0" indent="0">
              <a:buNone/>
            </a:pPr>
            <a:r>
              <a:rPr lang="es-MX" dirty="0" err="1"/>
              <a:t>int</a:t>
            </a:r>
            <a:r>
              <a:rPr lang="es-MX" dirty="0"/>
              <a:t> -&gt; PALABRA_RESERVADA</a:t>
            </a:r>
            <a:br>
              <a:rPr lang="es-MX" dirty="0"/>
            </a:br>
            <a:r>
              <a:rPr lang="es-MX" dirty="0"/>
              <a:t>contador -&gt; IDENTIFICADOR</a:t>
            </a:r>
            <a:br>
              <a:rPr lang="es-MX" dirty="0"/>
            </a:br>
            <a:r>
              <a:rPr lang="es-MX" dirty="0"/>
              <a:t>= -&gt; OPERADOR</a:t>
            </a:r>
            <a:br>
              <a:rPr lang="es-MX" dirty="0"/>
            </a:br>
            <a:r>
              <a:rPr lang="es-MX" dirty="0"/>
              <a:t>100 -&gt; NUMERO_ENTERO</a:t>
            </a:r>
          </a:p>
          <a:p>
            <a:pPr marL="0" indent="0">
              <a:buNone/>
            </a:pPr>
            <a:r>
              <a:rPr lang="es-MX" b="1" dirty="0" err="1"/>
              <a:t>Explicacion</a:t>
            </a:r>
            <a:br>
              <a:rPr lang="es-MX" dirty="0"/>
            </a:br>
            <a:endParaRPr lang="es-MX" dirty="0"/>
          </a:p>
          <a:p>
            <a:pPr marL="0" indent="0" algn="just">
              <a:buNone/>
            </a:pPr>
            <a:r>
              <a:rPr lang="es-MX" dirty="0"/>
              <a:t>Aquí Se reconoce correctamente el número entero.</a:t>
            </a:r>
          </a:p>
          <a:p>
            <a:pPr marL="0" indent="0">
              <a:buNone/>
            </a:pPr>
            <a:endParaRPr lang="es-MX" dirty="0"/>
          </a:p>
        </p:txBody>
      </p:sp>
      <p:pic>
        <p:nvPicPr>
          <p:cNvPr id="6" name="Imagen 5">
            <a:extLst>
              <a:ext uri="{FF2B5EF4-FFF2-40B4-BE49-F238E27FC236}">
                <a16:creationId xmlns:a16="http://schemas.microsoft.com/office/drawing/2014/main" id="{7C0608D5-3324-7181-DD10-804105E79756}"/>
              </a:ext>
            </a:extLst>
          </p:cNvPr>
          <p:cNvPicPr>
            <a:picLocks noChangeAspect="1"/>
          </p:cNvPicPr>
          <p:nvPr/>
        </p:nvPicPr>
        <p:blipFill>
          <a:blip r:embed="rId2"/>
          <a:stretch>
            <a:fillRect/>
          </a:stretch>
        </p:blipFill>
        <p:spPr>
          <a:xfrm>
            <a:off x="5857875" y="1714500"/>
            <a:ext cx="6096000" cy="3429000"/>
          </a:xfrm>
          <a:prstGeom prst="rect">
            <a:avLst/>
          </a:prstGeom>
        </p:spPr>
      </p:pic>
    </p:spTree>
    <p:extLst>
      <p:ext uri="{BB962C8B-B14F-4D97-AF65-F5344CB8AC3E}">
        <p14:creationId xmlns:p14="http://schemas.microsoft.com/office/powerpoint/2010/main" val="29625723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8551AA-8561-06E7-41E2-C844B1691C6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0CE4F5C-C38F-A8C1-2581-1D25BD884A3D}"/>
              </a:ext>
            </a:extLst>
          </p:cNvPr>
          <p:cNvSpPr>
            <a:spLocks noGrp="1"/>
          </p:cNvSpPr>
          <p:nvPr>
            <p:ph type="title"/>
          </p:nvPr>
        </p:nvSpPr>
        <p:spPr/>
        <p:txBody>
          <a:bodyPr/>
          <a:lstStyle/>
          <a:p>
            <a:r>
              <a:rPr lang="es-MX" b="1" dirty="0">
                <a:solidFill>
                  <a:schemeClr val="accent1"/>
                </a:solidFill>
              </a:rPr>
              <a:t>Ejercicio 6</a:t>
            </a:r>
            <a:endParaRPr lang="es-MX" dirty="0"/>
          </a:p>
        </p:txBody>
      </p:sp>
      <p:sp>
        <p:nvSpPr>
          <p:cNvPr id="3" name="Marcador de contenido 2">
            <a:extLst>
              <a:ext uri="{FF2B5EF4-FFF2-40B4-BE49-F238E27FC236}">
                <a16:creationId xmlns:a16="http://schemas.microsoft.com/office/drawing/2014/main" id="{2A6A39E2-20D4-6896-CF46-183B34EF96FA}"/>
              </a:ext>
            </a:extLst>
          </p:cNvPr>
          <p:cNvSpPr>
            <a:spLocks noGrp="1"/>
          </p:cNvSpPr>
          <p:nvPr>
            <p:ph idx="1"/>
          </p:nvPr>
        </p:nvSpPr>
        <p:spPr>
          <a:xfrm>
            <a:off x="838200" y="1825625"/>
            <a:ext cx="4629150" cy="4351338"/>
          </a:xfrm>
        </p:spPr>
        <p:txBody>
          <a:bodyPr>
            <a:normAutofit fontScale="92500" lnSpcReduction="20000"/>
          </a:bodyPr>
          <a:lstStyle/>
          <a:p>
            <a:pPr marL="0" indent="0">
              <a:buNone/>
            </a:pPr>
            <a:r>
              <a:rPr lang="es-MX" dirty="0" err="1"/>
              <a:t>float</a:t>
            </a:r>
            <a:r>
              <a:rPr lang="es-MX" dirty="0"/>
              <a:t> y = 3.14</a:t>
            </a:r>
          </a:p>
          <a:p>
            <a:pPr marL="0" indent="0">
              <a:buNone/>
            </a:pPr>
            <a:r>
              <a:rPr lang="es-MX" b="1" dirty="0"/>
              <a:t>Resultado</a:t>
            </a:r>
          </a:p>
          <a:p>
            <a:pPr marL="0" indent="0">
              <a:buNone/>
            </a:pPr>
            <a:r>
              <a:rPr lang="es-MX" dirty="0" err="1"/>
              <a:t>float</a:t>
            </a:r>
            <a:r>
              <a:rPr lang="es-MX" dirty="0"/>
              <a:t> -&gt; PALABRA_RESERVADA</a:t>
            </a:r>
          </a:p>
          <a:p>
            <a:pPr marL="0" indent="0">
              <a:buNone/>
            </a:pPr>
            <a:r>
              <a:rPr lang="es-MX" dirty="0"/>
              <a:t>y -&gt; IDENTIFICADOR</a:t>
            </a:r>
          </a:p>
          <a:p>
            <a:pPr marL="0" indent="0">
              <a:buNone/>
            </a:pPr>
            <a:r>
              <a:rPr lang="es-MX" dirty="0"/>
              <a:t>= -&gt; OPERADOR</a:t>
            </a:r>
          </a:p>
          <a:p>
            <a:pPr marL="0" indent="0">
              <a:buNone/>
            </a:pPr>
            <a:r>
              <a:rPr lang="es-MX" dirty="0"/>
              <a:t>3.14 -&gt; NUMERO_DECIMAL</a:t>
            </a:r>
          </a:p>
          <a:p>
            <a:pPr marL="0" indent="0">
              <a:buNone/>
            </a:pPr>
            <a:r>
              <a:rPr lang="es-MX" b="1" dirty="0" err="1"/>
              <a:t>Explicacion</a:t>
            </a:r>
            <a:br>
              <a:rPr lang="es-MX" dirty="0"/>
            </a:br>
            <a:endParaRPr lang="es-MX" dirty="0"/>
          </a:p>
          <a:p>
            <a:pPr marL="0" indent="0" algn="just">
              <a:buNone/>
            </a:pPr>
            <a:r>
              <a:rPr lang="es-MX" dirty="0"/>
              <a:t>El sistema si reconoce correctamente el número decimal 3.14.</a:t>
            </a:r>
          </a:p>
        </p:txBody>
      </p:sp>
      <p:pic>
        <p:nvPicPr>
          <p:cNvPr id="6" name="Imagen 5">
            <a:extLst>
              <a:ext uri="{FF2B5EF4-FFF2-40B4-BE49-F238E27FC236}">
                <a16:creationId xmlns:a16="http://schemas.microsoft.com/office/drawing/2014/main" id="{6C065A3A-D510-49CD-30BB-835C4F0FD51E}"/>
              </a:ext>
            </a:extLst>
          </p:cNvPr>
          <p:cNvPicPr>
            <a:picLocks noChangeAspect="1"/>
          </p:cNvPicPr>
          <p:nvPr/>
        </p:nvPicPr>
        <p:blipFill>
          <a:blip r:embed="rId2"/>
          <a:stretch>
            <a:fillRect/>
          </a:stretch>
        </p:blipFill>
        <p:spPr>
          <a:xfrm>
            <a:off x="5876925" y="1371600"/>
            <a:ext cx="6096000" cy="3429000"/>
          </a:xfrm>
          <a:prstGeom prst="rect">
            <a:avLst/>
          </a:prstGeom>
        </p:spPr>
      </p:pic>
    </p:spTree>
    <p:extLst>
      <p:ext uri="{BB962C8B-B14F-4D97-AF65-F5344CB8AC3E}">
        <p14:creationId xmlns:p14="http://schemas.microsoft.com/office/powerpoint/2010/main" val="42138540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2B7512-BA41-03E7-EA26-420EC1F162B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749D86D-ADF0-13BF-6595-017465B3FD4D}"/>
              </a:ext>
            </a:extLst>
          </p:cNvPr>
          <p:cNvSpPr>
            <a:spLocks noGrp="1"/>
          </p:cNvSpPr>
          <p:nvPr>
            <p:ph type="title"/>
          </p:nvPr>
        </p:nvSpPr>
        <p:spPr/>
        <p:txBody>
          <a:bodyPr/>
          <a:lstStyle/>
          <a:p>
            <a:r>
              <a:rPr lang="es-MX" b="1" dirty="0">
                <a:solidFill>
                  <a:schemeClr val="accent1"/>
                </a:solidFill>
              </a:rPr>
              <a:t>Ejercicio 7</a:t>
            </a:r>
            <a:endParaRPr lang="es-MX" dirty="0"/>
          </a:p>
        </p:txBody>
      </p:sp>
      <p:sp>
        <p:nvSpPr>
          <p:cNvPr id="3" name="Marcador de contenido 2">
            <a:extLst>
              <a:ext uri="{FF2B5EF4-FFF2-40B4-BE49-F238E27FC236}">
                <a16:creationId xmlns:a16="http://schemas.microsoft.com/office/drawing/2014/main" id="{063B90EC-7E6A-90DA-6AFD-DA2938830C39}"/>
              </a:ext>
            </a:extLst>
          </p:cNvPr>
          <p:cNvSpPr>
            <a:spLocks noGrp="1"/>
          </p:cNvSpPr>
          <p:nvPr>
            <p:ph idx="1"/>
          </p:nvPr>
        </p:nvSpPr>
        <p:spPr>
          <a:xfrm>
            <a:off x="838200" y="1825625"/>
            <a:ext cx="4629150" cy="4351338"/>
          </a:xfrm>
        </p:spPr>
        <p:txBody>
          <a:bodyPr>
            <a:normAutofit fontScale="92500" lnSpcReduction="10000"/>
          </a:bodyPr>
          <a:lstStyle/>
          <a:p>
            <a:pPr marL="0" indent="0">
              <a:buNone/>
            </a:pPr>
            <a:r>
              <a:rPr lang="es-MX" dirty="0" err="1"/>
              <a:t>float</a:t>
            </a:r>
            <a:r>
              <a:rPr lang="es-MX" dirty="0"/>
              <a:t> 9precio = 5.5</a:t>
            </a:r>
          </a:p>
          <a:p>
            <a:pPr marL="0" indent="0">
              <a:buNone/>
            </a:pPr>
            <a:r>
              <a:rPr lang="es-MX" b="1" dirty="0"/>
              <a:t>Resultado</a:t>
            </a:r>
          </a:p>
          <a:p>
            <a:pPr marL="0" indent="0">
              <a:buNone/>
            </a:pPr>
            <a:r>
              <a:rPr lang="es-MX" dirty="0" err="1"/>
              <a:t>float</a:t>
            </a:r>
            <a:r>
              <a:rPr lang="es-MX" dirty="0"/>
              <a:t> -&gt; PALABRA_RESERVADA</a:t>
            </a:r>
            <a:br>
              <a:rPr lang="es-MX" dirty="0"/>
            </a:br>
            <a:r>
              <a:rPr lang="es-MX" dirty="0"/>
              <a:t>9precio -&gt; ERROR_LEXICO</a:t>
            </a:r>
            <a:br>
              <a:rPr lang="es-MX" dirty="0"/>
            </a:br>
            <a:r>
              <a:rPr lang="es-MX" dirty="0"/>
              <a:t>= -&gt; OPERADOR</a:t>
            </a:r>
            <a:br>
              <a:rPr lang="es-MX" dirty="0"/>
            </a:br>
            <a:r>
              <a:rPr lang="es-MX" dirty="0"/>
              <a:t>5.5 -&gt; NUMERO_DECIMAL</a:t>
            </a:r>
          </a:p>
          <a:p>
            <a:pPr marL="0" indent="0">
              <a:buNone/>
            </a:pPr>
            <a:r>
              <a:rPr lang="es-MX" b="1" dirty="0" err="1"/>
              <a:t>Explicacion</a:t>
            </a:r>
            <a:br>
              <a:rPr lang="es-MX" dirty="0"/>
            </a:br>
            <a:endParaRPr lang="es-MX" dirty="0"/>
          </a:p>
          <a:p>
            <a:pPr marL="0" indent="0" algn="just">
              <a:buNone/>
            </a:pPr>
            <a:r>
              <a:rPr lang="es-MX" dirty="0"/>
              <a:t>El identificador 9precio es inválido porque comienza con un número.</a:t>
            </a:r>
          </a:p>
          <a:p>
            <a:pPr marL="0" indent="0" algn="just">
              <a:buNone/>
            </a:pPr>
            <a:endParaRPr lang="es-MX" dirty="0"/>
          </a:p>
          <a:p>
            <a:pPr marL="0" indent="0">
              <a:buNone/>
            </a:pPr>
            <a:endParaRPr lang="es-MX" dirty="0"/>
          </a:p>
        </p:txBody>
      </p:sp>
      <p:pic>
        <p:nvPicPr>
          <p:cNvPr id="6" name="Imagen 5">
            <a:extLst>
              <a:ext uri="{FF2B5EF4-FFF2-40B4-BE49-F238E27FC236}">
                <a16:creationId xmlns:a16="http://schemas.microsoft.com/office/drawing/2014/main" id="{8DD8C8F4-2F40-5868-5B24-763F63AED5E5}"/>
              </a:ext>
            </a:extLst>
          </p:cNvPr>
          <p:cNvPicPr>
            <a:picLocks noChangeAspect="1"/>
          </p:cNvPicPr>
          <p:nvPr/>
        </p:nvPicPr>
        <p:blipFill>
          <a:blip r:embed="rId2"/>
          <a:stretch>
            <a:fillRect/>
          </a:stretch>
        </p:blipFill>
        <p:spPr>
          <a:xfrm>
            <a:off x="5581650" y="1447800"/>
            <a:ext cx="6096000" cy="3429000"/>
          </a:xfrm>
          <a:prstGeom prst="rect">
            <a:avLst/>
          </a:prstGeom>
        </p:spPr>
      </p:pic>
    </p:spTree>
    <p:extLst>
      <p:ext uri="{BB962C8B-B14F-4D97-AF65-F5344CB8AC3E}">
        <p14:creationId xmlns:p14="http://schemas.microsoft.com/office/powerpoint/2010/main" val="10184010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5D8597-F22C-DB08-C09E-9A471D3F626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CBED8B8-4707-1ED1-6045-A491694A8F0F}"/>
              </a:ext>
            </a:extLst>
          </p:cNvPr>
          <p:cNvSpPr>
            <a:spLocks noGrp="1"/>
          </p:cNvSpPr>
          <p:nvPr>
            <p:ph type="title"/>
          </p:nvPr>
        </p:nvSpPr>
        <p:spPr/>
        <p:txBody>
          <a:bodyPr/>
          <a:lstStyle/>
          <a:p>
            <a:r>
              <a:rPr lang="es-MX" b="1" dirty="0">
                <a:solidFill>
                  <a:schemeClr val="accent1"/>
                </a:solidFill>
              </a:rPr>
              <a:t>Ejercicio 8</a:t>
            </a:r>
            <a:endParaRPr lang="es-MX" dirty="0"/>
          </a:p>
        </p:txBody>
      </p:sp>
      <p:sp>
        <p:nvSpPr>
          <p:cNvPr id="3" name="Marcador de contenido 2">
            <a:extLst>
              <a:ext uri="{FF2B5EF4-FFF2-40B4-BE49-F238E27FC236}">
                <a16:creationId xmlns:a16="http://schemas.microsoft.com/office/drawing/2014/main" id="{B0ED4946-1111-CE22-AF9A-9DA4D38C8BBB}"/>
              </a:ext>
            </a:extLst>
          </p:cNvPr>
          <p:cNvSpPr>
            <a:spLocks noGrp="1"/>
          </p:cNvSpPr>
          <p:nvPr>
            <p:ph idx="1"/>
          </p:nvPr>
        </p:nvSpPr>
        <p:spPr>
          <a:xfrm>
            <a:off x="838200" y="1825625"/>
            <a:ext cx="4629150" cy="4351338"/>
          </a:xfrm>
        </p:spPr>
        <p:txBody>
          <a:bodyPr>
            <a:normAutofit fontScale="62500" lnSpcReduction="20000"/>
          </a:bodyPr>
          <a:lstStyle/>
          <a:p>
            <a:pPr marL="0" indent="0">
              <a:buNone/>
            </a:pPr>
            <a:r>
              <a:rPr lang="es-MX" dirty="0" err="1"/>
              <a:t>area</a:t>
            </a:r>
            <a:r>
              <a:rPr lang="es-MX" dirty="0"/>
              <a:t> = base * altura / 2</a:t>
            </a:r>
          </a:p>
          <a:p>
            <a:pPr marL="0" indent="0">
              <a:buNone/>
            </a:pPr>
            <a:r>
              <a:rPr lang="es-MX" b="1" dirty="0"/>
              <a:t>Resultado</a:t>
            </a:r>
          </a:p>
          <a:p>
            <a:pPr marL="0" indent="0">
              <a:buNone/>
            </a:pPr>
            <a:r>
              <a:rPr lang="es-MX" dirty="0" err="1"/>
              <a:t>area</a:t>
            </a:r>
            <a:r>
              <a:rPr lang="es-MX" dirty="0"/>
              <a:t> -&gt; IDENTIFICADOR</a:t>
            </a:r>
          </a:p>
          <a:p>
            <a:pPr marL="0" indent="0">
              <a:buNone/>
            </a:pPr>
            <a:r>
              <a:rPr lang="es-MX" dirty="0"/>
              <a:t>= -&gt; OPERADOR</a:t>
            </a:r>
          </a:p>
          <a:p>
            <a:pPr marL="0" indent="0">
              <a:buNone/>
            </a:pPr>
            <a:r>
              <a:rPr lang="es-MX" dirty="0"/>
              <a:t>base -&gt; IDENTIFICADOR</a:t>
            </a:r>
          </a:p>
          <a:p>
            <a:pPr marL="0" indent="0">
              <a:buNone/>
            </a:pPr>
            <a:r>
              <a:rPr lang="es-MX" dirty="0"/>
              <a:t>* -&gt; OPERADOR</a:t>
            </a:r>
          </a:p>
          <a:p>
            <a:pPr marL="0" indent="0">
              <a:buNone/>
            </a:pPr>
            <a:r>
              <a:rPr lang="es-MX" dirty="0"/>
              <a:t>altura -&gt; IDENTIFICADOR</a:t>
            </a:r>
          </a:p>
          <a:p>
            <a:pPr marL="0" indent="0">
              <a:buNone/>
            </a:pPr>
            <a:r>
              <a:rPr lang="es-MX" dirty="0"/>
              <a:t>/ -&gt; OPERADOR</a:t>
            </a:r>
          </a:p>
          <a:p>
            <a:pPr marL="0" indent="0">
              <a:buNone/>
            </a:pPr>
            <a:r>
              <a:rPr lang="es-MX" dirty="0"/>
              <a:t>2 -&gt; NUMERO_ENTERO</a:t>
            </a:r>
          </a:p>
          <a:p>
            <a:pPr marL="0" indent="0">
              <a:buNone/>
            </a:pPr>
            <a:r>
              <a:rPr lang="es-MX" b="1" dirty="0" err="1"/>
              <a:t>Explicacion</a:t>
            </a:r>
            <a:br>
              <a:rPr lang="es-MX" dirty="0"/>
            </a:br>
            <a:endParaRPr lang="es-MX" dirty="0"/>
          </a:p>
          <a:p>
            <a:pPr marL="0" indent="0" algn="just">
              <a:buNone/>
            </a:pPr>
            <a:r>
              <a:rPr lang="es-MX" dirty="0"/>
              <a:t>El analizador identifica correctamente los identificadores y operadores en la fórmula del área de un triángulo.</a:t>
            </a:r>
          </a:p>
        </p:txBody>
      </p:sp>
      <p:pic>
        <p:nvPicPr>
          <p:cNvPr id="6" name="Imagen 5">
            <a:extLst>
              <a:ext uri="{FF2B5EF4-FFF2-40B4-BE49-F238E27FC236}">
                <a16:creationId xmlns:a16="http://schemas.microsoft.com/office/drawing/2014/main" id="{F653819C-F881-147C-8027-CFEB31909701}"/>
              </a:ext>
            </a:extLst>
          </p:cNvPr>
          <p:cNvPicPr>
            <a:picLocks noChangeAspect="1"/>
          </p:cNvPicPr>
          <p:nvPr/>
        </p:nvPicPr>
        <p:blipFill>
          <a:blip r:embed="rId2"/>
          <a:stretch>
            <a:fillRect/>
          </a:stretch>
        </p:blipFill>
        <p:spPr>
          <a:xfrm>
            <a:off x="5467350" y="1714500"/>
            <a:ext cx="6096000" cy="3429000"/>
          </a:xfrm>
          <a:prstGeom prst="rect">
            <a:avLst/>
          </a:prstGeom>
        </p:spPr>
      </p:pic>
    </p:spTree>
    <p:extLst>
      <p:ext uri="{BB962C8B-B14F-4D97-AF65-F5344CB8AC3E}">
        <p14:creationId xmlns:p14="http://schemas.microsoft.com/office/powerpoint/2010/main" val="11687449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15C8F7-3A53-26AC-6926-F93BDD8383B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9445513-DC3D-FB9F-CACD-21EED4D1D3B7}"/>
              </a:ext>
            </a:extLst>
          </p:cNvPr>
          <p:cNvSpPr>
            <a:spLocks noGrp="1"/>
          </p:cNvSpPr>
          <p:nvPr>
            <p:ph type="title"/>
          </p:nvPr>
        </p:nvSpPr>
        <p:spPr/>
        <p:txBody>
          <a:bodyPr/>
          <a:lstStyle/>
          <a:p>
            <a:r>
              <a:rPr lang="es-MX" b="1" dirty="0">
                <a:solidFill>
                  <a:schemeClr val="accent1"/>
                </a:solidFill>
              </a:rPr>
              <a:t>Ejercicio 9</a:t>
            </a:r>
            <a:endParaRPr lang="es-MX" dirty="0"/>
          </a:p>
        </p:txBody>
      </p:sp>
      <p:sp>
        <p:nvSpPr>
          <p:cNvPr id="3" name="Marcador de contenido 2">
            <a:extLst>
              <a:ext uri="{FF2B5EF4-FFF2-40B4-BE49-F238E27FC236}">
                <a16:creationId xmlns:a16="http://schemas.microsoft.com/office/drawing/2014/main" id="{340D8616-17EE-6162-AD7A-78E1DEE5C323}"/>
              </a:ext>
            </a:extLst>
          </p:cNvPr>
          <p:cNvSpPr>
            <a:spLocks noGrp="1"/>
          </p:cNvSpPr>
          <p:nvPr>
            <p:ph idx="1"/>
          </p:nvPr>
        </p:nvSpPr>
        <p:spPr>
          <a:xfrm>
            <a:off x="838200" y="1825625"/>
            <a:ext cx="4629150" cy="4351338"/>
          </a:xfrm>
        </p:spPr>
        <p:txBody>
          <a:bodyPr>
            <a:normAutofit fontScale="77500" lnSpcReduction="20000"/>
          </a:bodyPr>
          <a:lstStyle/>
          <a:p>
            <a:pPr marL="0" indent="0">
              <a:buNone/>
            </a:pPr>
            <a:r>
              <a:rPr lang="es-MX" dirty="0" err="1"/>
              <a:t>int</a:t>
            </a:r>
            <a:r>
              <a:rPr lang="es-MX" dirty="0"/>
              <a:t> suma = a + b</a:t>
            </a:r>
          </a:p>
          <a:p>
            <a:pPr marL="0" indent="0">
              <a:buNone/>
            </a:pPr>
            <a:r>
              <a:rPr lang="es-MX" b="1" dirty="0"/>
              <a:t>Resultado</a:t>
            </a:r>
          </a:p>
          <a:p>
            <a:pPr marL="0" indent="0">
              <a:buNone/>
            </a:pPr>
            <a:r>
              <a:rPr lang="es-MX" dirty="0" err="1"/>
              <a:t>int</a:t>
            </a:r>
            <a:r>
              <a:rPr lang="es-MX" dirty="0"/>
              <a:t> -&gt; PALABRA_RESERVADA</a:t>
            </a:r>
          </a:p>
          <a:p>
            <a:pPr marL="0" indent="0">
              <a:buNone/>
            </a:pPr>
            <a:r>
              <a:rPr lang="es-MX" dirty="0"/>
              <a:t>suma -&gt; IDENTIFICADOR</a:t>
            </a:r>
          </a:p>
          <a:p>
            <a:pPr marL="0" indent="0">
              <a:buNone/>
            </a:pPr>
            <a:r>
              <a:rPr lang="es-MX" dirty="0"/>
              <a:t>= -&gt; OPERADOR</a:t>
            </a:r>
          </a:p>
          <a:p>
            <a:pPr marL="0" indent="0">
              <a:buNone/>
            </a:pPr>
            <a:r>
              <a:rPr lang="es-MX" dirty="0"/>
              <a:t>a -&gt; IDENTIFICADOR</a:t>
            </a:r>
          </a:p>
          <a:p>
            <a:pPr marL="0" indent="0">
              <a:buNone/>
            </a:pPr>
            <a:r>
              <a:rPr lang="es-MX" dirty="0"/>
              <a:t>+ -&gt; OPERADOR</a:t>
            </a:r>
          </a:p>
          <a:p>
            <a:pPr marL="0" indent="0">
              <a:buNone/>
            </a:pPr>
            <a:r>
              <a:rPr lang="es-MX" dirty="0"/>
              <a:t>b -&gt; IDENTIFICADOR</a:t>
            </a:r>
          </a:p>
          <a:p>
            <a:pPr marL="0" indent="0">
              <a:buNone/>
            </a:pPr>
            <a:r>
              <a:rPr lang="es-MX" b="1" dirty="0" err="1"/>
              <a:t>Explicacion</a:t>
            </a:r>
            <a:br>
              <a:rPr lang="es-MX" dirty="0"/>
            </a:br>
            <a:endParaRPr lang="es-MX" dirty="0"/>
          </a:p>
          <a:p>
            <a:pPr marL="0" indent="0" algn="just">
              <a:buNone/>
            </a:pPr>
            <a:r>
              <a:rPr lang="es-MX" dirty="0"/>
              <a:t>Se identifica la palabra reservada </a:t>
            </a:r>
            <a:r>
              <a:rPr lang="es-MX" dirty="0" err="1"/>
              <a:t>int</a:t>
            </a:r>
            <a:r>
              <a:rPr lang="es-MX" dirty="0"/>
              <a:t>, los identificadores suma, a, b y el operador +.</a:t>
            </a:r>
          </a:p>
        </p:txBody>
      </p:sp>
      <p:pic>
        <p:nvPicPr>
          <p:cNvPr id="8" name="Imagen 7">
            <a:extLst>
              <a:ext uri="{FF2B5EF4-FFF2-40B4-BE49-F238E27FC236}">
                <a16:creationId xmlns:a16="http://schemas.microsoft.com/office/drawing/2014/main" id="{BDDE41E0-3D70-B4F8-306A-1F8556B27703}"/>
              </a:ext>
            </a:extLst>
          </p:cNvPr>
          <p:cNvPicPr>
            <a:picLocks noChangeAspect="1"/>
          </p:cNvPicPr>
          <p:nvPr/>
        </p:nvPicPr>
        <p:blipFill>
          <a:blip r:embed="rId2"/>
          <a:stretch>
            <a:fillRect/>
          </a:stretch>
        </p:blipFill>
        <p:spPr>
          <a:xfrm>
            <a:off x="5600700" y="1247775"/>
            <a:ext cx="6096000" cy="3429000"/>
          </a:xfrm>
          <a:prstGeom prst="rect">
            <a:avLst/>
          </a:prstGeom>
        </p:spPr>
      </p:pic>
    </p:spTree>
    <p:extLst>
      <p:ext uri="{BB962C8B-B14F-4D97-AF65-F5344CB8AC3E}">
        <p14:creationId xmlns:p14="http://schemas.microsoft.com/office/powerpoint/2010/main" val="30185305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2CA3BE-EB63-674D-A30A-F5712996766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29665D0-EF79-34EE-C9FD-3E8E171DE812}"/>
              </a:ext>
            </a:extLst>
          </p:cNvPr>
          <p:cNvSpPr>
            <a:spLocks noGrp="1"/>
          </p:cNvSpPr>
          <p:nvPr>
            <p:ph type="title"/>
          </p:nvPr>
        </p:nvSpPr>
        <p:spPr/>
        <p:txBody>
          <a:bodyPr/>
          <a:lstStyle/>
          <a:p>
            <a:r>
              <a:rPr lang="es-MX" b="1" dirty="0">
                <a:solidFill>
                  <a:schemeClr val="accent1"/>
                </a:solidFill>
              </a:rPr>
              <a:t>Ejercicio 10</a:t>
            </a:r>
            <a:endParaRPr lang="es-MX" dirty="0"/>
          </a:p>
        </p:txBody>
      </p:sp>
      <p:sp>
        <p:nvSpPr>
          <p:cNvPr id="3" name="Marcador de contenido 2">
            <a:extLst>
              <a:ext uri="{FF2B5EF4-FFF2-40B4-BE49-F238E27FC236}">
                <a16:creationId xmlns:a16="http://schemas.microsoft.com/office/drawing/2014/main" id="{B0F8BD18-F716-863F-71F0-7DA1FA15746D}"/>
              </a:ext>
            </a:extLst>
          </p:cNvPr>
          <p:cNvSpPr>
            <a:spLocks noGrp="1"/>
          </p:cNvSpPr>
          <p:nvPr>
            <p:ph idx="1"/>
          </p:nvPr>
        </p:nvSpPr>
        <p:spPr>
          <a:xfrm>
            <a:off x="838200" y="1825625"/>
            <a:ext cx="4629150" cy="4351338"/>
          </a:xfrm>
        </p:spPr>
        <p:txBody>
          <a:bodyPr>
            <a:normAutofit fontScale="70000" lnSpcReduction="20000"/>
          </a:bodyPr>
          <a:lstStyle/>
          <a:p>
            <a:pPr marL="0" indent="0">
              <a:buNone/>
            </a:pPr>
            <a:r>
              <a:rPr lang="es-MX" dirty="0" err="1"/>
              <a:t>int</a:t>
            </a:r>
            <a:r>
              <a:rPr lang="es-MX" dirty="0"/>
              <a:t> a = 5+7</a:t>
            </a:r>
          </a:p>
          <a:p>
            <a:pPr marL="0" indent="0">
              <a:buNone/>
            </a:pPr>
            <a:r>
              <a:rPr lang="es-MX" b="1" dirty="0"/>
              <a:t>Resultado</a:t>
            </a:r>
          </a:p>
          <a:p>
            <a:pPr marL="0" indent="0">
              <a:buNone/>
            </a:pPr>
            <a:r>
              <a:rPr lang="es-MX" dirty="0" err="1"/>
              <a:t>int</a:t>
            </a:r>
            <a:r>
              <a:rPr lang="es-MX" dirty="0"/>
              <a:t> -&gt; PALABRA_RESERVADA</a:t>
            </a:r>
          </a:p>
          <a:p>
            <a:pPr marL="0" indent="0">
              <a:buNone/>
            </a:pPr>
            <a:r>
              <a:rPr lang="es-MX" dirty="0"/>
              <a:t>a -&gt; IDENTIFICADOR</a:t>
            </a:r>
          </a:p>
          <a:p>
            <a:pPr marL="0" indent="0">
              <a:buNone/>
            </a:pPr>
            <a:r>
              <a:rPr lang="es-MX" dirty="0"/>
              <a:t>= -&gt; OPERADOR</a:t>
            </a:r>
          </a:p>
          <a:p>
            <a:pPr marL="0" indent="0">
              <a:buNone/>
            </a:pPr>
            <a:r>
              <a:rPr lang="es-MX" dirty="0"/>
              <a:t>5 -&gt; NUMERO_ENTERO</a:t>
            </a:r>
          </a:p>
          <a:p>
            <a:pPr marL="0" indent="0">
              <a:buNone/>
            </a:pPr>
            <a:r>
              <a:rPr lang="es-MX" dirty="0"/>
              <a:t>+ -&gt; OPERADOR</a:t>
            </a:r>
          </a:p>
          <a:p>
            <a:pPr marL="0" indent="0">
              <a:buNone/>
            </a:pPr>
            <a:r>
              <a:rPr lang="es-MX" dirty="0"/>
              <a:t>7 -&gt; NUMERO_ENTERO</a:t>
            </a:r>
          </a:p>
          <a:p>
            <a:pPr marL="0" indent="0">
              <a:buNone/>
            </a:pPr>
            <a:r>
              <a:rPr lang="es-MX" b="1" dirty="0" err="1"/>
              <a:t>Explicacion</a:t>
            </a:r>
            <a:br>
              <a:rPr lang="es-MX" dirty="0"/>
            </a:br>
            <a:endParaRPr lang="es-MX" dirty="0"/>
          </a:p>
          <a:p>
            <a:pPr marL="0" indent="0" algn="just">
              <a:buNone/>
            </a:pPr>
            <a:r>
              <a:rPr lang="es-MX" dirty="0"/>
              <a:t>El analizador léxico identifica </a:t>
            </a:r>
            <a:r>
              <a:rPr lang="es-MX" dirty="0" err="1"/>
              <a:t>int</a:t>
            </a:r>
            <a:r>
              <a:rPr lang="es-MX" dirty="0"/>
              <a:t> como palabra reservada, a como identificador, = y + como operadores, y 5 y 7 como números enteros.</a:t>
            </a:r>
          </a:p>
        </p:txBody>
      </p:sp>
      <p:pic>
        <p:nvPicPr>
          <p:cNvPr id="6" name="Imagen 5">
            <a:extLst>
              <a:ext uri="{FF2B5EF4-FFF2-40B4-BE49-F238E27FC236}">
                <a16:creationId xmlns:a16="http://schemas.microsoft.com/office/drawing/2014/main" id="{DBCF60F1-C16F-1DF5-3F61-6E12AFD0FCE7}"/>
              </a:ext>
            </a:extLst>
          </p:cNvPr>
          <p:cNvPicPr>
            <a:picLocks noChangeAspect="1"/>
          </p:cNvPicPr>
          <p:nvPr/>
        </p:nvPicPr>
        <p:blipFill>
          <a:blip r:embed="rId2"/>
          <a:stretch>
            <a:fillRect/>
          </a:stretch>
        </p:blipFill>
        <p:spPr>
          <a:xfrm>
            <a:off x="5838825" y="1381125"/>
            <a:ext cx="6096000" cy="3429000"/>
          </a:xfrm>
          <a:prstGeom prst="rect">
            <a:avLst/>
          </a:prstGeom>
        </p:spPr>
      </p:pic>
    </p:spTree>
    <p:extLst>
      <p:ext uri="{BB962C8B-B14F-4D97-AF65-F5344CB8AC3E}">
        <p14:creationId xmlns:p14="http://schemas.microsoft.com/office/powerpoint/2010/main" val="815404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130AC5D9-9FD1-99B5-CB0C-FC5B34DE4F9B}"/>
              </a:ext>
            </a:extLst>
          </p:cNvPr>
          <p:cNvSpPr>
            <a:spLocks noGrp="1"/>
          </p:cNvSpPr>
          <p:nvPr>
            <p:ph idx="1"/>
          </p:nvPr>
        </p:nvSpPr>
        <p:spPr>
          <a:xfrm>
            <a:off x="942975" y="654050"/>
            <a:ext cx="10515600" cy="4351338"/>
          </a:xfrm>
        </p:spPr>
        <p:txBody>
          <a:bodyPr>
            <a:normAutofit lnSpcReduction="10000"/>
          </a:bodyPr>
          <a:lstStyle/>
          <a:p>
            <a:pPr marL="0" indent="0">
              <a:buNone/>
            </a:pPr>
            <a:r>
              <a:rPr lang="es-MX" sz="4400" b="1" dirty="0">
                <a:solidFill>
                  <a:schemeClr val="accent1"/>
                </a:solidFill>
                <a:latin typeface="+mj-lt"/>
              </a:rPr>
              <a:t>Conclusión</a:t>
            </a:r>
          </a:p>
          <a:p>
            <a:pPr marL="0" indent="0">
              <a:buNone/>
            </a:pPr>
            <a:endParaRPr lang="es-MX" dirty="0"/>
          </a:p>
          <a:p>
            <a:pPr marL="0" indent="0" algn="just">
              <a:buNone/>
            </a:pPr>
            <a:r>
              <a:rPr lang="es-MX" dirty="0"/>
              <a:t>La realización de estos ejercicios permitió comprender de manera práctica cómo funciona el análisis léxico dentro del proceso de compilación. A través del análisis fue posible identificar los distintos tokens como palabras reservadas, identificadores, operadores y números.</a:t>
            </a:r>
          </a:p>
          <a:p>
            <a:pPr marL="0" indent="0" algn="just">
              <a:buNone/>
            </a:pPr>
            <a:r>
              <a:rPr lang="es-MX" dirty="0"/>
              <a:t>esta actividad ayudó a reforzar los conocimientos sobre cómo un analizador léxico separa y clasifica los elementos de un programa antes de que sean procesados por las siguientes etapas del compilador. </a:t>
            </a:r>
          </a:p>
          <a:p>
            <a:endParaRPr lang="es-MX" dirty="0"/>
          </a:p>
        </p:txBody>
      </p:sp>
    </p:spTree>
    <p:extLst>
      <p:ext uri="{BB962C8B-B14F-4D97-AF65-F5344CB8AC3E}">
        <p14:creationId xmlns:p14="http://schemas.microsoft.com/office/powerpoint/2010/main" val="41559223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AA54FE77-291F-6D16-F325-E56C3DDE4617}"/>
              </a:ext>
            </a:extLst>
          </p:cNvPr>
          <p:cNvSpPr>
            <a:spLocks noGrp="1"/>
          </p:cNvSpPr>
          <p:nvPr>
            <p:ph idx="1"/>
          </p:nvPr>
        </p:nvSpPr>
        <p:spPr/>
        <p:txBody>
          <a:bodyPr>
            <a:normAutofit/>
          </a:bodyPr>
          <a:lstStyle/>
          <a:p>
            <a:pPr marL="0" indent="0">
              <a:buNone/>
            </a:pPr>
            <a:r>
              <a:rPr lang="en-US" sz="4400" b="1" dirty="0">
                <a:solidFill>
                  <a:schemeClr val="accent1"/>
                </a:solidFill>
                <a:latin typeface="+mj-lt"/>
              </a:rPr>
              <a:t>Fuente De Informacion</a:t>
            </a:r>
            <a:endParaRPr lang="es-MX" sz="4400" b="1" dirty="0">
              <a:solidFill>
                <a:schemeClr val="accent1"/>
              </a:solidFill>
              <a:latin typeface="+mj-lt"/>
            </a:endParaRPr>
          </a:p>
          <a:p>
            <a:pPr marL="0" indent="0">
              <a:buNone/>
            </a:pPr>
            <a:endParaRPr lang="es-MX" dirty="0"/>
          </a:p>
          <a:p>
            <a:pPr algn="just">
              <a:buFont typeface="Wingdings" panose="05000000000000000000" pitchFamily="2" charset="2"/>
              <a:buChar char="Ø"/>
            </a:pPr>
            <a:r>
              <a:rPr lang="es-MX" dirty="0"/>
              <a:t>LYA1 – Lenguajes y Autómatas I. Repositorio en GitHub.</a:t>
            </a:r>
            <a:br>
              <a:rPr lang="es-MX" dirty="0"/>
            </a:br>
            <a:r>
              <a:rPr lang="es-MX" dirty="0">
                <a:hlinkClick r:id="rId2">
                  <a:extLst>
                    <a:ext uri="{A12FA001-AC4F-418D-AE19-62706E023703}">
                      <ahyp:hlinkClr xmlns:ahyp="http://schemas.microsoft.com/office/drawing/2018/hyperlinkcolor" val="tx"/>
                    </a:ext>
                  </a:extLst>
                </a:hlinkClick>
              </a:rPr>
              <a:t>https://github.com/rafaelrav8770/LYA1.git</a:t>
            </a:r>
            <a:endParaRPr lang="es-MX" dirty="0"/>
          </a:p>
          <a:p>
            <a:r>
              <a:rPr lang="es-MX" i="1" dirty="0"/>
              <a:t>Análisis léxico</a:t>
            </a:r>
            <a:r>
              <a:rPr lang="es-MX" dirty="0"/>
              <a:t> Video. YouTube. </a:t>
            </a:r>
            <a:r>
              <a:rPr lang="es-MX" dirty="0">
                <a:hlinkClick r:id="rId3"/>
              </a:rPr>
              <a:t>https://www.youtube.com/watch?v=NYfL9fbORo8</a:t>
            </a:r>
            <a:r>
              <a:rPr lang="es-MX" dirty="0"/>
              <a:t> </a:t>
            </a:r>
          </a:p>
          <a:p>
            <a:r>
              <a:rPr lang="es-MX" i="1" dirty="0"/>
              <a:t>Un analizador </a:t>
            </a:r>
            <a:r>
              <a:rPr lang="es-MX" i="1"/>
              <a:t>léxico</a:t>
            </a:r>
            <a:r>
              <a:rPr lang="es-MX"/>
              <a:t> Video.  </a:t>
            </a:r>
            <a:r>
              <a:rPr lang="es-MX" dirty="0"/>
              <a:t>YouTube. </a:t>
            </a:r>
            <a:r>
              <a:rPr lang="es-MX" dirty="0">
                <a:hlinkClick r:id="rId4"/>
              </a:rPr>
              <a:t>https://www.youtube.com/watch?v=fnpgcR6nFE0</a:t>
            </a:r>
            <a:r>
              <a:rPr lang="es-MX" dirty="0"/>
              <a:t> </a:t>
            </a:r>
          </a:p>
        </p:txBody>
      </p:sp>
    </p:spTree>
    <p:extLst>
      <p:ext uri="{BB962C8B-B14F-4D97-AF65-F5344CB8AC3E}">
        <p14:creationId xmlns:p14="http://schemas.microsoft.com/office/powerpoint/2010/main" val="2003536009"/>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1739</TotalTime>
  <Words>969</Words>
  <Application>Microsoft Office PowerPoint</Application>
  <PresentationFormat>Panorámica</PresentationFormat>
  <Paragraphs>121</Paragraphs>
  <Slides>16</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16</vt:i4>
      </vt:variant>
    </vt:vector>
  </HeadingPairs>
  <TitlesOfParts>
    <vt:vector size="21" baseType="lpstr">
      <vt:lpstr>Arial</vt:lpstr>
      <vt:lpstr>Calibri</vt:lpstr>
      <vt:lpstr>Calibri Light</vt:lpstr>
      <vt:lpstr>Wingdings</vt:lpstr>
      <vt:lpstr>Tema de Office</vt:lpstr>
      <vt:lpstr>Presentación de PowerPoint</vt:lpstr>
      <vt:lpstr>Presentación de PowerPoint</vt:lpstr>
      <vt:lpstr>Presentación de PowerPoint</vt:lpstr>
      <vt:lpstr>Justificacion </vt:lpstr>
      <vt:lpstr>Ejercicio 1</vt:lpstr>
      <vt:lpstr>Ejercicio 2</vt:lpstr>
      <vt:lpstr>Ejercicio 3</vt:lpstr>
      <vt:lpstr>Ejercicio 4</vt:lpstr>
      <vt:lpstr>Ejercicio 5</vt:lpstr>
      <vt:lpstr>Ejercicio 6</vt:lpstr>
      <vt:lpstr>Ejercicio 7</vt:lpstr>
      <vt:lpstr>Ejercicio 8</vt:lpstr>
      <vt:lpstr>Ejercicio 9</vt:lpstr>
      <vt:lpstr>Ejercicio 10</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rafael aquino villanueva</dc:creator>
  <cp:lastModifiedBy>rafael aquino villanueva</cp:lastModifiedBy>
  <cp:revision>19</cp:revision>
  <dcterms:created xsi:type="dcterms:W3CDTF">2026-02-14T13:39:49Z</dcterms:created>
  <dcterms:modified xsi:type="dcterms:W3CDTF">2026-03-12T04:19:18Z</dcterms:modified>
</cp:coreProperties>
</file>