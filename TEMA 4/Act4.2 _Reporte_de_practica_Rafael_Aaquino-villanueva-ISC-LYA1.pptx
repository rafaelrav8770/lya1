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3" r:id="rId3"/>
    <p:sldId id="258" r:id="rId4"/>
    <p:sldId id="284" r:id="rId5"/>
    <p:sldId id="272" r:id="rId6"/>
    <p:sldId id="289" r:id="rId7"/>
    <p:sldId id="285" r:id="rId8"/>
    <p:sldId id="286" r:id="rId9"/>
    <p:sldId id="287" r:id="rId10"/>
    <p:sldId id="293" r:id="rId11"/>
    <p:sldId id="294" r:id="rId12"/>
    <p:sldId id="295" r:id="rId13"/>
    <p:sldId id="296" r:id="rId14"/>
    <p:sldId id="297" r:id="rId15"/>
    <p:sldId id="298" r:id="rId16"/>
    <p:sldId id="299" r:id="rId17"/>
    <p:sldId id="283" r:id="rId18"/>
    <p:sldId id="260" r:id="rId19"/>
    <p:sldId id="264" r:id="rId2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Estilo medio 3 - Énfasis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Estilo medio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93D81CF-94F2-401A-BA57-92F5A7B2D0C5}" styleName="Estilo medio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8B5F02-D1F5-4A8C-9E16-879D2FAAE6D2}" type="datetimeFigureOut">
              <a:rPr lang="es-MX" smtClean="0"/>
              <a:t>11/03/2026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8E338-237A-4FD6-91E8-AE3330CCA9C3}" type="slidenum">
              <a:rPr lang="es-MX" smtClean="0"/>
              <a:t>‹Nº›</a:t>
            </a:fld>
            <a:endParaRPr lang="es-MX"/>
          </a:p>
        </p:txBody>
      </p:sp>
    </p:spTree>
    <p:extLst>
      <p:ext uri="{BB962C8B-B14F-4D97-AF65-F5344CB8AC3E}">
        <p14:creationId xmlns:p14="http://schemas.microsoft.com/office/powerpoint/2010/main" val="651433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2797A6B-C8A5-A893-2EB4-EAD802D176B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12E9E8D3-983C-1FBA-F097-D58F78BA92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0900B84-F10B-751B-5908-FC18C6422C01}"/>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89A144F6-9197-16C1-A989-50C7A0E4960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6DBAAEB-1ABF-E979-BAC2-66927C69E877}"/>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827284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953055-0E2B-CB93-6D72-F6BFE456BAAF}"/>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BC4E3AF4-F79F-763A-9DAF-C6C175A55FA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A8555DC5-3E01-56E7-631E-04D4A904C314}"/>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55B53975-0403-0D44-401F-71EA01B2175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63A586F-F27C-248A-D498-ADFFEFE93691}"/>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64290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E57E10-4726-7D0A-E1F8-93439BFF20A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A7C9CE40-9232-9AC4-A9C6-59A9B847313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81E2653-A3E2-493F-59D0-04D925E18921}"/>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1ADFD983-ED4E-38A6-DCD5-DB9EF6346AC5}"/>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D502D16-37E0-4D0D-5BB7-68A3BDB4C672}"/>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0220891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60EA5F-E2E9-67F7-E292-C84FCB6FE5E8}"/>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7F13239D-44F0-8AD1-FF8A-D79A0CA81779}"/>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3769FD3F-356E-6F60-6A25-56717337FB9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917C736D-F3D7-D82B-BB73-E65F46C18CBA}"/>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C692062B-BCCF-C2B2-D017-588DE122978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51BE1-2995-E957-66B3-46B9B16082A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2324925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1DADCE-63AC-54B1-31D4-48CC1F8280F6}"/>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7BE131CC-B953-9DA0-84D7-342F7661F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1ADC272-3617-466E-F6F0-16A81075165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6FDDCA87-61A0-8976-E9D1-03EDE6E114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50B0352-2822-B688-0216-B6F8FB988F7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DA0D192A-B4AB-FABE-D934-62F9F766DA0D}"/>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8" name="Marcador de pie de página 7">
            <a:extLst>
              <a:ext uri="{FF2B5EF4-FFF2-40B4-BE49-F238E27FC236}">
                <a16:creationId xmlns:a16="http://schemas.microsoft.com/office/drawing/2014/main" id="{144D7369-D1D8-1689-1054-CDA28986460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538CB792-19CD-5761-B36C-DC7CC94594B6}"/>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831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3624A4-077D-5486-B7D9-11FE3E1CD160}"/>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8C9D86B5-34D8-63DA-CA5E-EB64FC37BEA0}"/>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4" name="Marcador de pie de página 3">
            <a:extLst>
              <a:ext uri="{FF2B5EF4-FFF2-40B4-BE49-F238E27FC236}">
                <a16:creationId xmlns:a16="http://schemas.microsoft.com/office/drawing/2014/main" id="{9F1CB502-05EE-237F-2E29-626516E35C13}"/>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254E0509-4D7E-FE6F-A441-35102690137D}"/>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934198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3D2BB40-084A-590A-568A-4FBC55A7A4CC}"/>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3" name="Marcador de pie de página 2">
            <a:extLst>
              <a:ext uri="{FF2B5EF4-FFF2-40B4-BE49-F238E27FC236}">
                <a16:creationId xmlns:a16="http://schemas.microsoft.com/office/drawing/2014/main" id="{1031945B-3C8A-CC04-90CF-86A6FB926664}"/>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554383D-C3B6-AF0C-D3F1-2DB73EE04BB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1335390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207E4E-5A62-92CA-7ACA-D3C6DC7B51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843F851-D00D-6093-A986-6C5F35C56C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A96ECEE2-9260-2C2E-BC65-C11DE6DFFF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196AE17B-F1FD-90D4-9A7D-49AAC564DEA5}"/>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561728C9-30AA-559A-CB48-C6B86631338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CF8E15D-A90F-EA63-7DF9-46C7810DE39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689318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2DD758-F948-B2A7-DC08-B687F91B8D2C}"/>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A1C892A9-AD64-6F7D-FEE0-967756CA2C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1D238B53-DBF4-A3CB-9E1A-386EDC4987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447764-59A7-8823-1D1A-CF02217FD75B}"/>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6" name="Marcador de pie de página 5">
            <a:extLst>
              <a:ext uri="{FF2B5EF4-FFF2-40B4-BE49-F238E27FC236}">
                <a16:creationId xmlns:a16="http://schemas.microsoft.com/office/drawing/2014/main" id="{80A3D35F-6746-D59D-FB36-01BA85D3881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765FE247-F7A5-5BF6-7419-4D0C9940C50B}"/>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493462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3FDA35-B0B4-E787-3D72-F031788E9A7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0F0C38B-FF72-ABBA-A9A3-57F2D48A308F}"/>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21F98C5-01BB-732B-11CB-7FADA28975F8}"/>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109513AF-E2D8-C50D-31BA-5F9705122F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26C0206-8F5E-04A4-613D-6EC2B5984FC0}"/>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41663017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F840C8-6BFA-8DB5-04D9-2FFF606B96AF}"/>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483C22F2-C176-59C9-19E7-C3A94CBB29F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612D9B4-8F58-BE69-EF19-A521A08A9F5A}"/>
              </a:ext>
            </a:extLst>
          </p:cNvPr>
          <p:cNvSpPr>
            <a:spLocks noGrp="1"/>
          </p:cNvSpPr>
          <p:nvPr>
            <p:ph type="dt" sz="half" idx="10"/>
          </p:nvPr>
        </p:nvSpPr>
        <p:spPr/>
        <p:txBody>
          <a:body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3DB5D75A-9186-AC95-3F60-D715E515C19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1FF889DC-3AEB-704A-0884-C0B1EAD821F5}"/>
              </a:ext>
            </a:extLst>
          </p:cNvPr>
          <p:cNvSpPr>
            <a:spLocks noGrp="1"/>
          </p:cNvSpPr>
          <p:nvPr>
            <p:ph type="sldNum" sz="quarter" idx="12"/>
          </p:nvPr>
        </p:nvSpPr>
        <p:spPr/>
        <p:txBody>
          <a:bodyPr/>
          <a:lstStyle/>
          <a:p>
            <a:fld id="{DBDC0401-0789-4F42-8B4F-18107AD06626}" type="slidenum">
              <a:rPr lang="es-MX" smtClean="0"/>
              <a:t>‹Nº›</a:t>
            </a:fld>
            <a:endParaRPr lang="es-MX"/>
          </a:p>
        </p:txBody>
      </p:sp>
    </p:spTree>
    <p:extLst>
      <p:ext uri="{BB962C8B-B14F-4D97-AF65-F5344CB8AC3E}">
        <p14:creationId xmlns:p14="http://schemas.microsoft.com/office/powerpoint/2010/main" val="3376172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9D456B8-F474-DC21-CA32-71136C73E13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5776B21C-E071-F827-CAB6-8D305BED3A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DCD4E7BC-1E44-2D21-548A-97F953824F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744A13C-A177-47DD-903A-D74B08377F6A}" type="datetimeFigureOut">
              <a:rPr lang="es-MX" smtClean="0"/>
              <a:t>11/03/2026</a:t>
            </a:fld>
            <a:endParaRPr lang="es-MX"/>
          </a:p>
        </p:txBody>
      </p:sp>
      <p:sp>
        <p:nvSpPr>
          <p:cNvPr id="5" name="Marcador de pie de página 4">
            <a:extLst>
              <a:ext uri="{FF2B5EF4-FFF2-40B4-BE49-F238E27FC236}">
                <a16:creationId xmlns:a16="http://schemas.microsoft.com/office/drawing/2014/main" id="{2D6E618A-2674-067F-A9B5-F000F8046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5F06479D-49A2-2EF0-B936-306AEE0B0E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DC0401-0789-4F42-8B4F-18107AD06626}" type="slidenum">
              <a:rPr lang="es-MX" smtClean="0"/>
              <a:t>‹Nº›</a:t>
            </a:fld>
            <a:endParaRPr lang="es-MX"/>
          </a:p>
        </p:txBody>
      </p:sp>
    </p:spTree>
    <p:extLst>
      <p:ext uri="{BB962C8B-B14F-4D97-AF65-F5344CB8AC3E}">
        <p14:creationId xmlns:p14="http://schemas.microsoft.com/office/powerpoint/2010/main" val="28322534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www.geeksforgeeks.org/compiler-design/introduction-of-lexical-analysis/" TargetMode="External"/><Relationship Id="rId2" Type="http://schemas.openxmlformats.org/officeDocument/2006/relationships/hyperlink" Target="https://github.com/rafaelrav8770/LYA1.git" TargetMode="External"/><Relationship Id="rId1" Type="http://schemas.openxmlformats.org/officeDocument/2006/relationships/slideLayout" Target="../slideLayouts/slideLayout2.xml"/><Relationship Id="rId5" Type="http://schemas.openxmlformats.org/officeDocument/2006/relationships/hyperlink" Target="https://youtu.be/fnpgcR6nFE0" TargetMode="External"/><Relationship Id="rId4" Type="http://schemas.openxmlformats.org/officeDocument/2006/relationships/hyperlink" Target="https://youtu.be/hhBQ4KgO1g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Imagen 25">
            <a:extLst>
              <a:ext uri="{FF2B5EF4-FFF2-40B4-BE49-F238E27FC236}">
                <a16:creationId xmlns:a16="http://schemas.microsoft.com/office/drawing/2014/main" id="{13792C0E-56A4-038E-25C8-41619E973B3F}"/>
              </a:ext>
            </a:extLst>
          </p:cNvPr>
          <p:cNvPicPr>
            <a:picLocks noChangeAspect="1"/>
          </p:cNvPicPr>
          <p:nvPr/>
        </p:nvPicPr>
        <p:blipFill>
          <a:blip r:embed="rId2" cstate="print">
            <a:lum bright="70000" contrast="-70000"/>
            <a:extLst>
              <a:ext uri="{BEBA8EAE-BF5A-486C-A8C5-ECC9F3942E4B}">
                <a14:imgProps xmlns:a14="http://schemas.microsoft.com/office/drawing/2010/main">
                  <a14:imgLayer r:embed="rId3">
                    <a14:imgEffect>
                      <a14:sharpenSoften amount="50000"/>
                    </a14:imgEffect>
                    <a14:imgEffect>
                      <a14:colorTemperature colorTemp="4700"/>
                    </a14:imgEffect>
                    <a14:imgEffect>
                      <a14:saturation sat="33000"/>
                    </a14:imgEffect>
                  </a14:imgLayer>
                </a14:imgProps>
              </a:ext>
              <a:ext uri="{28A0092B-C50C-407E-A947-70E740481C1C}">
                <a14:useLocalDpi xmlns:a14="http://schemas.microsoft.com/office/drawing/2010/main" val="0"/>
              </a:ext>
            </a:extLst>
          </a:blip>
          <a:stretch>
            <a:fillRect/>
          </a:stretch>
        </p:blipFill>
        <p:spPr>
          <a:xfrm>
            <a:off x="3091815" y="510540"/>
            <a:ext cx="5303520" cy="5836920"/>
          </a:xfrm>
          <a:prstGeom prst="rect">
            <a:avLst/>
          </a:prstGeom>
          <a:noFill/>
        </p:spPr>
      </p:pic>
      <p:pic>
        <p:nvPicPr>
          <p:cNvPr id="11" name="Imagen 10" descr="Logotipo&#10;&#10;Descripción generada automáticamente">
            <a:extLst>
              <a:ext uri="{FF2B5EF4-FFF2-40B4-BE49-F238E27FC236}">
                <a16:creationId xmlns:a16="http://schemas.microsoft.com/office/drawing/2014/main" id="{76F1C2F9-DDFC-CBF2-E48A-E64DE4A37DF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5905" y="46990"/>
            <a:ext cx="2301875" cy="1016000"/>
          </a:xfrm>
          <a:prstGeom prst="rect">
            <a:avLst/>
          </a:prstGeom>
          <a:noFill/>
          <a:ln>
            <a:noFill/>
          </a:ln>
        </p:spPr>
      </p:pic>
      <p:pic>
        <p:nvPicPr>
          <p:cNvPr id="12" name="Imagen 11">
            <a:extLst>
              <a:ext uri="{FF2B5EF4-FFF2-40B4-BE49-F238E27FC236}">
                <a16:creationId xmlns:a16="http://schemas.microsoft.com/office/drawing/2014/main" id="{503E3447-738B-D8B1-B47D-8EBA647E114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t="7537" b="20603"/>
          <a:stretch/>
        </p:blipFill>
        <p:spPr bwMode="auto">
          <a:xfrm>
            <a:off x="277495" y="46990"/>
            <a:ext cx="1516380" cy="1089660"/>
          </a:xfrm>
          <a:prstGeom prst="rect">
            <a:avLst/>
          </a:prstGeom>
          <a:noFill/>
          <a:ln>
            <a:noFill/>
          </a:ln>
          <a:extLst>
            <a:ext uri="{53640926-AAD7-44D8-BBD7-CCE9431645EC}">
              <a14:shadowObscured xmlns:a14="http://schemas.microsoft.com/office/drawing/2010/main"/>
            </a:ext>
          </a:extLst>
        </p:spPr>
      </p:pic>
      <p:sp>
        <p:nvSpPr>
          <p:cNvPr id="14" name="CuadroTexto 13">
            <a:extLst>
              <a:ext uri="{FF2B5EF4-FFF2-40B4-BE49-F238E27FC236}">
                <a16:creationId xmlns:a16="http://schemas.microsoft.com/office/drawing/2014/main" id="{29E7C584-C5C9-2730-50A7-5B38CB386E43}"/>
              </a:ext>
            </a:extLst>
          </p:cNvPr>
          <p:cNvSpPr txBox="1"/>
          <p:nvPr/>
        </p:nvSpPr>
        <p:spPr>
          <a:xfrm>
            <a:off x="1943100" y="374015"/>
            <a:ext cx="7124700" cy="799130"/>
          </a:xfrm>
          <a:prstGeom prst="rect">
            <a:avLst/>
          </a:prstGeom>
          <a:noFill/>
        </p:spPr>
        <p:txBody>
          <a:bodyPr wrap="square">
            <a:spAutoFit/>
          </a:bodyPr>
          <a:lstStyle/>
          <a:p>
            <a:pPr algn="ctr">
              <a:lnSpc>
                <a:spcPct val="107000"/>
              </a:lnSpc>
              <a:spcAft>
                <a:spcPts val="800"/>
              </a:spcAft>
              <a:buNone/>
            </a:pPr>
            <a:r>
              <a:rPr lang="es-MX" sz="2000" b="1" kern="100" dirty="0">
                <a:effectLst/>
                <a:latin typeface="Arial" panose="020B0604020202020204" pitchFamily="34" charset="0"/>
                <a:ea typeface="Calibri" panose="020F0502020204030204" pitchFamily="34" charset="0"/>
                <a:cs typeface="Times New Roman" panose="02020603050405020304" pitchFamily="18" charset="0"/>
              </a:rPr>
              <a:t>TECNOLÓGICO NACIONAL DE MÉXICO</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s-MX" sz="1800" b="1" kern="100" dirty="0">
                <a:effectLst/>
                <a:latin typeface="Arial" panose="020B0604020202020204" pitchFamily="34" charset="0"/>
                <a:ea typeface="Calibri" panose="020F0502020204030204" pitchFamily="34" charset="0"/>
                <a:cs typeface="Times New Roman" panose="02020603050405020304" pitchFamily="18" charset="0"/>
              </a:rPr>
              <a:t>UNIDAD ACADÉMICA VENUSTIANO CARRANZA</a:t>
            </a:r>
            <a:endParaRPr lang="es-MX" sz="16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6" name="CuadroTexto 15">
            <a:extLst>
              <a:ext uri="{FF2B5EF4-FFF2-40B4-BE49-F238E27FC236}">
                <a16:creationId xmlns:a16="http://schemas.microsoft.com/office/drawing/2014/main" id="{A4A9E771-2CE9-85CC-E1A4-169697077E49}"/>
              </a:ext>
            </a:extLst>
          </p:cNvPr>
          <p:cNvSpPr txBox="1"/>
          <p:nvPr/>
        </p:nvSpPr>
        <p:spPr>
          <a:xfrm>
            <a:off x="2550694" y="1329363"/>
            <a:ext cx="6096000" cy="367216"/>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t>
            </a: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INGENIERÍA EN SISTEMAS COMPUTACIONALES</a:t>
            </a:r>
            <a:r>
              <a:rPr lang="en-US" sz="1800" b="1" kern="0" dirty="0">
                <a:effectLst/>
                <a:latin typeface="Arial" panose="020B0604020202020204" pitchFamily="34" charset="0"/>
                <a:ea typeface="Arial" panose="020B0604020202020204" pitchFamily="34" charset="0"/>
                <a:cs typeface="Arial" panose="020B0604020202020204" pitchFamily="34" charset="0"/>
              </a:rPr>
              <a:t>”</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18" name="CuadroTexto 17">
            <a:extLst>
              <a:ext uri="{FF2B5EF4-FFF2-40B4-BE49-F238E27FC236}">
                <a16:creationId xmlns:a16="http://schemas.microsoft.com/office/drawing/2014/main" id="{1FA8327A-BF41-1978-27AD-7942D85077F5}"/>
              </a:ext>
            </a:extLst>
          </p:cNvPr>
          <p:cNvSpPr txBox="1"/>
          <p:nvPr/>
        </p:nvSpPr>
        <p:spPr>
          <a:xfrm>
            <a:off x="2550694" y="1824715"/>
            <a:ext cx="6096000" cy="1627561"/>
          </a:xfrm>
          <a:prstGeom prst="rect">
            <a:avLst/>
          </a:prstGeom>
          <a:noFill/>
        </p:spPr>
        <p:txBody>
          <a:bodyPr wrap="square">
            <a:spAutoFit/>
          </a:bodyPr>
          <a:lstStyle/>
          <a:p>
            <a:pPr algn="ctr">
              <a:lnSpc>
                <a:spcPct val="107000"/>
              </a:lnSpc>
              <a:spcAft>
                <a:spcPts val="800"/>
              </a:spcAft>
              <a:buNone/>
            </a:pPr>
            <a:r>
              <a:rPr lang="es-MX" sz="1800" b="1" kern="0" dirty="0">
                <a:effectLst/>
                <a:latin typeface="Arial" panose="020B0604020202020204" pitchFamily="34" charset="0"/>
                <a:ea typeface="Arial" panose="020B0604020202020204" pitchFamily="34" charset="0"/>
                <a:cs typeface="Arial" panose="020B0604020202020204" pitchFamily="34" charset="0"/>
              </a:rPr>
              <a:t>LENGUAJES Y AUTOMATAS 1</a:t>
            </a: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ACTIVIDAD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pPr>
            <a:r>
              <a:rPr lang="es-MX" sz="2000" b="1" kern="0" dirty="0">
                <a:effectLst/>
                <a:latin typeface="Arial" panose="020B0604020202020204" pitchFamily="34" charset="0"/>
                <a:ea typeface="Arial" panose="020B0604020202020204" pitchFamily="34" charset="0"/>
                <a:cs typeface="Arial" panose="020B0604020202020204" pitchFamily="34" charset="0"/>
              </a:rPr>
              <a:t>ACTIVIDAD 4.2 –REPORTE </a:t>
            </a:r>
            <a:r>
              <a:rPr lang="es-MX" sz="2000" b="1" kern="0" dirty="0">
                <a:latin typeface="Arial" panose="020B0604020202020204" pitchFamily="34" charset="0"/>
                <a:cs typeface="Arial" panose="020B0604020202020204" pitchFamily="34" charset="0"/>
              </a:rPr>
              <a:t>DE PRACTICA </a:t>
            </a:r>
            <a:r>
              <a:rPr lang="es-MX" dirty="0"/>
              <a:t>	</a:t>
            </a:r>
          </a:p>
          <a:p>
            <a:pPr algn="ctr">
              <a:lnSpc>
                <a:spcPct val="107000"/>
              </a:lnSpc>
              <a:spcAft>
                <a:spcPts val="800"/>
              </a:spcAft>
              <a:buNone/>
            </a:pPr>
            <a:r>
              <a:rPr lang="es-MX" sz="20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graphicFrame>
        <p:nvGraphicFramePr>
          <p:cNvPr id="19" name="Tabla 18">
            <a:extLst>
              <a:ext uri="{FF2B5EF4-FFF2-40B4-BE49-F238E27FC236}">
                <a16:creationId xmlns:a16="http://schemas.microsoft.com/office/drawing/2014/main" id="{C3F20D4B-4AB8-951E-96AB-E5F9938ABBDE}"/>
              </a:ext>
            </a:extLst>
          </p:cNvPr>
          <p:cNvGraphicFramePr>
            <a:graphicFrameLocks noGrp="1"/>
          </p:cNvGraphicFramePr>
          <p:nvPr>
            <p:extLst>
              <p:ext uri="{D42A27DB-BD31-4B8C-83A1-F6EECF244321}">
                <p14:modId xmlns:p14="http://schemas.microsoft.com/office/powerpoint/2010/main" val="3094276835"/>
              </p:ext>
            </p:extLst>
          </p:nvPr>
        </p:nvGraphicFramePr>
        <p:xfrm>
          <a:off x="3249461" y="3714744"/>
          <a:ext cx="4505960" cy="762000"/>
        </p:xfrm>
        <a:graphic>
          <a:graphicData uri="http://schemas.openxmlformats.org/drawingml/2006/table">
            <a:tbl>
              <a:tblPr firstRow="1" firstCol="1" bandRow="1">
                <a:tableStyleId>{5C22544A-7EE6-4342-B048-85BDC9FD1C3A}</a:tableStyleId>
              </a:tblPr>
              <a:tblGrid>
                <a:gridCol w="2697480">
                  <a:extLst>
                    <a:ext uri="{9D8B030D-6E8A-4147-A177-3AD203B41FA5}">
                      <a16:colId xmlns:a16="http://schemas.microsoft.com/office/drawing/2014/main" val="3511045433"/>
                    </a:ext>
                  </a:extLst>
                </a:gridCol>
                <a:gridCol w="1808480">
                  <a:extLst>
                    <a:ext uri="{9D8B030D-6E8A-4147-A177-3AD203B41FA5}">
                      <a16:colId xmlns:a16="http://schemas.microsoft.com/office/drawing/2014/main" val="2206197710"/>
                    </a:ext>
                  </a:extLst>
                </a:gridCol>
              </a:tblGrid>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SEMESTRE</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SEXTO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1488426"/>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NOMBRE DEL ALUMNO</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MATRICULA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9201878"/>
                  </a:ext>
                </a:extLst>
              </a:tr>
              <a:tr h="254000">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Rafael Aquino Villanueva</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914400" rtl="0" eaLnBrk="1" latinLnBrk="0" hangingPunct="1">
                        <a:lnSpc>
                          <a:spcPct val="107000"/>
                        </a:lnSpc>
                        <a:spcAft>
                          <a:spcPts val="800"/>
                        </a:spcAft>
                        <a:buNone/>
                      </a:pPr>
                      <a:r>
                        <a:rPr lang="en-US" sz="1200" b="1" kern="0" dirty="0">
                          <a:solidFill>
                            <a:schemeClr val="tx1"/>
                          </a:solidFill>
                          <a:effectLst/>
                          <a:latin typeface="+mn-lt"/>
                          <a:ea typeface="+mn-ea"/>
                          <a:cs typeface="+mn-cs"/>
                        </a:rPr>
                        <a:t>231260073</a:t>
                      </a:r>
                      <a:endParaRPr lang="es-MX" sz="1200" b="1" kern="0" dirty="0">
                        <a:solidFill>
                          <a:schemeClr val="tx1"/>
                        </a:solidFill>
                        <a:effectLst/>
                        <a:latin typeface="+mn-lt"/>
                        <a:ea typeface="+mn-ea"/>
                        <a:cs typeface="+mn-cs"/>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394392"/>
                  </a:ext>
                </a:extLst>
              </a:tr>
            </a:tbl>
          </a:graphicData>
        </a:graphic>
      </p:graphicFrame>
      <p:sp>
        <p:nvSpPr>
          <p:cNvPr id="21" name="CuadroTexto 20">
            <a:extLst>
              <a:ext uri="{FF2B5EF4-FFF2-40B4-BE49-F238E27FC236}">
                <a16:creationId xmlns:a16="http://schemas.microsoft.com/office/drawing/2014/main" id="{2BBA4D31-60C9-991B-3D34-3585F8C8348E}"/>
              </a:ext>
            </a:extLst>
          </p:cNvPr>
          <p:cNvSpPr txBox="1"/>
          <p:nvPr/>
        </p:nvSpPr>
        <p:spPr>
          <a:xfrm>
            <a:off x="4010525" y="3048181"/>
            <a:ext cx="2983833" cy="1165127"/>
          </a:xfrm>
          <a:prstGeom prst="rect">
            <a:avLst/>
          </a:prstGeom>
          <a:noFill/>
        </p:spPr>
        <p:txBody>
          <a:bodyPr wrap="square">
            <a:spAutoFit/>
          </a:bodyPr>
          <a:lstStyle/>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PRESENTA</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US" sz="1800" b="1" kern="0" dirty="0">
                <a:effectLst/>
                <a:latin typeface="Arial" panose="020B0604020202020204" pitchFamily="34" charset="0"/>
                <a:ea typeface="Arial" panose="020B0604020202020204" pitchFamily="34" charset="0"/>
                <a:cs typeface="Arial" panose="020B0604020202020204" pitchFamily="34" charset="0"/>
              </a:rPr>
              <a:t> </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3" name="CuadroTexto 22">
            <a:extLst>
              <a:ext uri="{FF2B5EF4-FFF2-40B4-BE49-F238E27FC236}">
                <a16:creationId xmlns:a16="http://schemas.microsoft.com/office/drawing/2014/main" id="{D2284A4D-D83A-881E-63B3-639ACAB1ACB4}"/>
              </a:ext>
            </a:extLst>
          </p:cNvPr>
          <p:cNvSpPr txBox="1"/>
          <p:nvPr/>
        </p:nvSpPr>
        <p:spPr>
          <a:xfrm>
            <a:off x="2550694" y="4809176"/>
            <a:ext cx="6096000" cy="928459"/>
          </a:xfrm>
          <a:prstGeom prst="rect">
            <a:avLst/>
          </a:prstGeom>
          <a:noFill/>
        </p:spPr>
        <p:txBody>
          <a:bodyPr wrap="square">
            <a:spAutoFit/>
          </a:bodyPr>
          <a:lstStyle/>
          <a:p>
            <a:pPr algn="ctr">
              <a:lnSpc>
                <a:spcPct val="150000"/>
              </a:lnSpc>
              <a:spcAft>
                <a:spcPts val="800"/>
              </a:spcAft>
              <a:buNone/>
            </a:pPr>
            <a:r>
              <a:rPr lang="en-US" sz="1600" b="1" kern="0" dirty="0">
                <a:latin typeface="Arial" panose="020B0604020202020204" pitchFamily="34" charset="0"/>
                <a:ea typeface="Calibri" panose="020F0502020204030204" pitchFamily="34" charset="0"/>
                <a:cs typeface="Arial" panose="020B0604020202020204" pitchFamily="34" charset="0"/>
              </a:rPr>
              <a:t>DOCENTE</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a:p>
            <a:pPr algn="ctr">
              <a:lnSpc>
                <a:spcPct val="150000"/>
              </a:lnSpc>
              <a:spcAft>
                <a:spcPts val="800"/>
              </a:spcAft>
              <a:buNone/>
            </a:pPr>
            <a:r>
              <a:rPr lang="es-MX" sz="1800" b="1" kern="0" dirty="0">
                <a:effectLst/>
                <a:latin typeface="Arial" panose="020B0604020202020204" pitchFamily="34" charset="0"/>
                <a:ea typeface="Times New Roman" panose="02020603050405020304" pitchFamily="18" charset="0"/>
                <a:cs typeface="Arial" panose="020B0604020202020204" pitchFamily="34" charset="0"/>
              </a:rPr>
              <a:t>ING. FRANCISCO JAVIER MINGO VELAZQUEZ</a:t>
            </a:r>
            <a:endParaRPr lang="es-MX" sz="1800" kern="1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25" name="CuadroTexto 24">
            <a:extLst>
              <a:ext uri="{FF2B5EF4-FFF2-40B4-BE49-F238E27FC236}">
                <a16:creationId xmlns:a16="http://schemas.microsoft.com/office/drawing/2014/main" id="{2669DBE5-FAF1-35CF-08F0-D08353CB1B1B}"/>
              </a:ext>
            </a:extLst>
          </p:cNvPr>
          <p:cNvSpPr txBox="1"/>
          <p:nvPr/>
        </p:nvSpPr>
        <p:spPr>
          <a:xfrm>
            <a:off x="1489075" y="6318878"/>
            <a:ext cx="7812505" cy="1078244"/>
          </a:xfrm>
          <a:prstGeom prst="rect">
            <a:avLst/>
          </a:prstGeom>
          <a:noFill/>
        </p:spPr>
        <p:txBody>
          <a:bodyPr wrap="square">
            <a:spAutoFit/>
          </a:bodyPr>
          <a:lstStyle/>
          <a:p>
            <a:pPr algn="r">
              <a:lnSpc>
                <a:spcPct val="107000"/>
              </a:lnSpc>
              <a:spcAft>
                <a:spcPts val="800"/>
              </a:spcAft>
              <a:buNone/>
            </a:pPr>
            <a:r>
              <a:rPr lang="es-MX" sz="2000" b="1" kern="0" dirty="0">
                <a:latin typeface="Arial" panose="020B0604020202020204" pitchFamily="34" charset="0"/>
                <a:ea typeface="Times New Roman" panose="02020603050405020304" pitchFamily="18" charset="0"/>
                <a:cs typeface="Arial" panose="020B0604020202020204" pitchFamily="34" charset="0"/>
              </a:rPr>
              <a:t>31</a:t>
            </a:r>
            <a:r>
              <a:rPr lang="es-MX" sz="2000" b="1" kern="0" dirty="0">
                <a:effectLst/>
                <a:latin typeface="Arial" panose="020B0604020202020204" pitchFamily="34" charset="0"/>
                <a:ea typeface="Times New Roman" panose="02020603050405020304" pitchFamily="18" charset="0"/>
                <a:cs typeface="Arial" panose="020B0604020202020204" pitchFamily="34" charset="0"/>
              </a:rPr>
              <a:t> DE ENERO DE 2026</a:t>
            </a:r>
            <a:r>
              <a:rPr lang="es-MX" sz="1800" b="1" kern="0" dirty="0">
                <a:effectLst/>
                <a:latin typeface="Arial" panose="020B0604020202020204" pitchFamily="34" charset="0"/>
                <a:ea typeface="Arial" panose="020B0604020202020204" pitchFamily="34" charset="0"/>
                <a:cs typeface="Arial" panose="020B0604020202020204" pitchFamily="34" charset="0"/>
              </a:rPr>
              <a:t> </a:t>
            </a:r>
            <a:r>
              <a:rPr lang="en-US" sz="1800" kern="0" dirty="0">
                <a:effectLst/>
                <a:latin typeface="Arial" panose="020B0604020202020204" pitchFamily="34" charset="0"/>
                <a:ea typeface="Arial" panose="020B0604020202020204" pitchFamily="34" charset="0"/>
                <a:cs typeface="Arial" panose="020B0604020202020204" pitchFamily="34" charset="0"/>
              </a:rPr>
              <a:t>VENUSTIANO CARRANZA, CHIAPAS</a:t>
            </a:r>
            <a:endParaRPr lang="es-MX" sz="2000" kern="100" dirty="0">
              <a:effectLst/>
              <a:latin typeface="Arial" panose="020B0604020202020204" pitchFamily="34" charset="0"/>
              <a:ea typeface="Calibri" panose="020F0502020204030204" pitchFamily="34" charset="0"/>
              <a:cs typeface="Times New Roman" panose="02020603050405020304" pitchFamily="18" charset="0"/>
            </a:endParaRPr>
          </a:p>
          <a:p>
            <a:pPr>
              <a:buNone/>
            </a:pPr>
            <a:br>
              <a:rPr lang="en-US" sz="1800" kern="0" dirty="0">
                <a:effectLst/>
                <a:latin typeface="Arial" panose="020B0604020202020204" pitchFamily="34" charset="0"/>
                <a:ea typeface="Arial" panose="020B0604020202020204" pitchFamily="34" charset="0"/>
              </a:rPr>
            </a:br>
            <a:endParaRPr lang="es-MX" dirty="0"/>
          </a:p>
        </p:txBody>
      </p:sp>
    </p:spTree>
    <p:extLst>
      <p:ext uri="{BB962C8B-B14F-4D97-AF65-F5344CB8AC3E}">
        <p14:creationId xmlns:p14="http://schemas.microsoft.com/office/powerpoint/2010/main" val="40010118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123D5AD-B34F-94DE-CA8C-4E027E6EDC22}"/>
              </a:ext>
            </a:extLst>
          </p:cNvPr>
          <p:cNvSpPr>
            <a:spLocks noGrp="1"/>
          </p:cNvSpPr>
          <p:nvPr>
            <p:ph idx="1"/>
          </p:nvPr>
        </p:nvSpPr>
        <p:spPr>
          <a:xfrm>
            <a:off x="838200" y="1047750"/>
            <a:ext cx="10515600" cy="5129213"/>
          </a:xfrm>
          <a:ln>
            <a:solidFill>
              <a:schemeClr val="accent5">
                <a:lumMod val="75000"/>
              </a:schemeClr>
            </a:solidFill>
          </a:ln>
        </p:spPr>
        <p:txBody>
          <a:bodyPr>
            <a:normAutofit/>
          </a:bodyPr>
          <a:lstStyle/>
          <a:p>
            <a:pPr marL="0" indent="0">
              <a:buNone/>
            </a:pPr>
            <a:r>
              <a:rPr lang="es-MX" sz="4400" b="1" kern="0" dirty="0">
                <a:solidFill>
                  <a:schemeClr val="accent1"/>
                </a:solidFill>
                <a:latin typeface="+mj-lt"/>
                <a:cs typeface="Arial" panose="020B0604020202020204" pitchFamily="34" charset="0"/>
              </a:rPr>
              <a:t>Introducción</a:t>
            </a:r>
          </a:p>
          <a:p>
            <a:pPr marL="0" indent="0" algn="just">
              <a:buNone/>
            </a:pPr>
            <a:r>
              <a:rPr lang="es-MX" dirty="0"/>
              <a:t>El análisis léxico es la primera fase dentro del proceso de compilación de un lenguaje de programación. Su función consiste en leer el código fuente carácter por carácter y agrupar secuencias de símbolos en unidades llamadas tokens. Estas unidades representan elementos fundamentales del lenguaje, como palabras reservadas, identificadores, números, operadores y símbolos.</a:t>
            </a:r>
          </a:p>
          <a:p>
            <a:pPr marL="0" indent="0" algn="just">
              <a:buNone/>
            </a:pPr>
            <a:r>
              <a:rPr lang="es-MX" dirty="0"/>
              <a:t>En esta práctica se desarrolla una aplicación utilizando </a:t>
            </a:r>
            <a:r>
              <a:rPr lang="es-MX" dirty="0" err="1"/>
              <a:t>JavaFX</a:t>
            </a:r>
            <a:r>
              <a:rPr lang="es-MX" dirty="0"/>
              <a:t>, la cual permite ingresar código fuente a través de una interfaz gráfica y analizarlo para identificar los distintos tipos de tokens presentes. </a:t>
            </a:r>
          </a:p>
        </p:txBody>
      </p:sp>
    </p:spTree>
    <p:extLst>
      <p:ext uri="{BB962C8B-B14F-4D97-AF65-F5344CB8AC3E}">
        <p14:creationId xmlns:p14="http://schemas.microsoft.com/office/powerpoint/2010/main" val="2160315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48F6C57-A8B1-DC96-5869-560383E7A005}"/>
              </a:ext>
            </a:extLst>
          </p:cNvPr>
          <p:cNvSpPr>
            <a:spLocks noGrp="1"/>
          </p:cNvSpPr>
          <p:nvPr>
            <p:ph idx="1"/>
          </p:nvPr>
        </p:nvSpPr>
        <p:spPr>
          <a:xfrm>
            <a:off x="838200" y="773906"/>
            <a:ext cx="10515600" cy="5310188"/>
          </a:xfrm>
        </p:spPr>
        <p:txBody>
          <a:bodyPr/>
          <a:lstStyle/>
          <a:p>
            <a:pPr marL="0" indent="0">
              <a:buNone/>
            </a:pPr>
            <a:r>
              <a:rPr lang="es-MX" sz="4400" b="1" dirty="0">
                <a:solidFill>
                  <a:schemeClr val="accent1"/>
                </a:solidFill>
                <a:latin typeface="+mj-lt"/>
              </a:rPr>
              <a:t>Objetivo</a:t>
            </a:r>
          </a:p>
          <a:p>
            <a:pPr marL="0" indent="0">
              <a:buNone/>
            </a:pPr>
            <a:r>
              <a:rPr lang="es-MX" dirty="0"/>
              <a:t> </a:t>
            </a:r>
          </a:p>
          <a:p>
            <a:pPr marL="0" indent="0">
              <a:buNone/>
            </a:pPr>
            <a:r>
              <a:rPr lang="es-MX" dirty="0"/>
              <a:t>Desarrollar una aplicación en </a:t>
            </a:r>
            <a:r>
              <a:rPr lang="es-MX" dirty="0" err="1"/>
              <a:t>JavaFX</a:t>
            </a:r>
            <a:r>
              <a:rPr lang="es-MX" dirty="0"/>
              <a:t> que funcione como un analizador léxico básico capaz de:</a:t>
            </a:r>
          </a:p>
          <a:p>
            <a:pPr>
              <a:buFont typeface="Wingdings" panose="05000000000000000000" pitchFamily="2" charset="2"/>
              <a:buChar char="Ø"/>
            </a:pPr>
            <a:r>
              <a:rPr lang="es-MX" dirty="0"/>
              <a:t>Recibir código fuente como entrada.</a:t>
            </a:r>
          </a:p>
          <a:p>
            <a:pPr>
              <a:buFont typeface="Wingdings" panose="05000000000000000000" pitchFamily="2" charset="2"/>
              <a:buChar char="Ø"/>
            </a:pPr>
            <a:r>
              <a:rPr lang="es-MX" dirty="0"/>
              <a:t>Identificar lexemas dentro del código.</a:t>
            </a:r>
          </a:p>
          <a:p>
            <a:pPr>
              <a:buFont typeface="Wingdings" panose="05000000000000000000" pitchFamily="2" charset="2"/>
              <a:buChar char="Ø"/>
            </a:pPr>
            <a:r>
              <a:rPr lang="es-MX" dirty="0"/>
              <a:t>Clasificar cada lexema según su tipo de token.</a:t>
            </a:r>
          </a:p>
          <a:p>
            <a:pPr>
              <a:buFont typeface="Wingdings" panose="05000000000000000000" pitchFamily="2" charset="2"/>
              <a:buChar char="Ø"/>
            </a:pPr>
            <a:r>
              <a:rPr lang="es-MX" dirty="0"/>
              <a:t>Mostrar los resultados del análisis dentro de una interfaz gráfica.</a:t>
            </a:r>
          </a:p>
        </p:txBody>
      </p:sp>
    </p:spTree>
    <p:extLst>
      <p:ext uri="{BB962C8B-B14F-4D97-AF65-F5344CB8AC3E}">
        <p14:creationId xmlns:p14="http://schemas.microsoft.com/office/powerpoint/2010/main" val="4926627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F687F3-E956-FF4E-0894-6AC9DD0B4EEF}"/>
              </a:ext>
            </a:extLst>
          </p:cNvPr>
          <p:cNvSpPr>
            <a:spLocks noGrp="1"/>
          </p:cNvSpPr>
          <p:nvPr>
            <p:ph type="title"/>
          </p:nvPr>
        </p:nvSpPr>
        <p:spPr/>
        <p:txBody>
          <a:bodyPr/>
          <a:lstStyle/>
          <a:p>
            <a:r>
              <a:rPr lang="es-MX" b="1" dirty="0" err="1">
                <a:solidFill>
                  <a:schemeClr val="accent1"/>
                </a:solidFill>
              </a:rPr>
              <a:t>Justificacion</a:t>
            </a:r>
            <a:br>
              <a:rPr lang="es-MX" b="1" dirty="0">
                <a:solidFill>
                  <a:schemeClr val="accent1"/>
                </a:solidFill>
              </a:rPr>
            </a:br>
            <a:endParaRPr lang="es-MX" dirty="0"/>
          </a:p>
        </p:txBody>
      </p:sp>
      <p:sp>
        <p:nvSpPr>
          <p:cNvPr id="3" name="Marcador de contenido 2">
            <a:extLst>
              <a:ext uri="{FF2B5EF4-FFF2-40B4-BE49-F238E27FC236}">
                <a16:creationId xmlns:a16="http://schemas.microsoft.com/office/drawing/2014/main" id="{BB267B60-E550-E60E-CEC2-2760C07C7FE2}"/>
              </a:ext>
            </a:extLst>
          </p:cNvPr>
          <p:cNvSpPr>
            <a:spLocks noGrp="1"/>
          </p:cNvSpPr>
          <p:nvPr>
            <p:ph idx="1"/>
          </p:nvPr>
        </p:nvSpPr>
        <p:spPr/>
        <p:txBody>
          <a:bodyPr>
            <a:normAutofit fontScale="92500" lnSpcReduction="20000"/>
          </a:bodyPr>
          <a:lstStyle/>
          <a:p>
            <a:pPr marL="0" indent="0" algn="just">
              <a:buNone/>
            </a:pPr>
            <a:r>
              <a:rPr lang="es-MX" dirty="0"/>
              <a:t>La realización de esta práctica es importante porque permite comprender de manera práctica cómo funciona el análisis léxico, que es la primera etapa del proceso de compilación en un lenguaje de programación. el sistema se encarga de analizar el código fuente y dividirlo en unidades llamadas tokens, las cuales representan los diferentes elementos del lenguaje como palabras reservadas, identificadores, operadores y números.</a:t>
            </a:r>
          </a:p>
          <a:p>
            <a:pPr marL="0" indent="0" algn="just">
              <a:buNone/>
            </a:pPr>
            <a:r>
              <a:rPr lang="es-MX" dirty="0"/>
              <a:t>A través del desarrollo de un analizador léxico utilizando  </a:t>
            </a:r>
            <a:r>
              <a:rPr lang="es-MX" dirty="0" err="1"/>
              <a:t>JavaFX</a:t>
            </a:r>
            <a:r>
              <a:rPr lang="es-MX" dirty="0"/>
              <a:t>, se logra aplicar los conceptos teóricos vistos en clase, permitiendo observar cómo un programa puede reconocer y clasificar los diferentes componentes de un fragmento de código. Además, la implementación de una interfaz gráfica facilita la interacción con el sistema y permite visualizar de manera clara los resultados del análisis. ya que implica la utilización de expresiones regulares, estructuras de control y procesamiento de cadenas para identificar los distintos lexemas presentes en el código fuente.</a:t>
            </a:r>
          </a:p>
          <a:p>
            <a:endParaRPr lang="es-MX" dirty="0"/>
          </a:p>
        </p:txBody>
      </p:sp>
    </p:spTree>
    <p:extLst>
      <p:ext uri="{BB962C8B-B14F-4D97-AF65-F5344CB8AC3E}">
        <p14:creationId xmlns:p14="http://schemas.microsoft.com/office/powerpoint/2010/main" val="4096733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B557436-2CDA-C681-7FEB-DE5A04DD84E8}"/>
              </a:ext>
            </a:extLst>
          </p:cNvPr>
          <p:cNvSpPr>
            <a:spLocks noGrp="1"/>
          </p:cNvSpPr>
          <p:nvPr>
            <p:ph idx="1"/>
          </p:nvPr>
        </p:nvSpPr>
        <p:spPr/>
        <p:txBody>
          <a:bodyPr/>
          <a:lstStyle/>
          <a:p>
            <a:pPr marL="0" indent="0">
              <a:buNone/>
            </a:pPr>
            <a:r>
              <a:rPr lang="es-MX" sz="4000" b="1" dirty="0">
                <a:solidFill>
                  <a:schemeClr val="accent1"/>
                </a:solidFill>
                <a:latin typeface="+mj-lt"/>
              </a:rPr>
              <a:t>Analizador Léxico</a:t>
            </a:r>
          </a:p>
          <a:p>
            <a:pPr marL="0" indent="0" algn="just">
              <a:buNone/>
            </a:pPr>
            <a:r>
              <a:rPr lang="es-MX" dirty="0"/>
              <a:t>El analizador léxico es el componente del compilador encargado de leer el programa fuente y convertir la secuencia de caracteres en tokens que puedan ser procesados en etapas posteriores.</a:t>
            </a:r>
          </a:p>
          <a:p>
            <a:endParaRPr lang="es-MX" dirty="0"/>
          </a:p>
        </p:txBody>
      </p:sp>
    </p:spTree>
    <p:extLst>
      <p:ext uri="{BB962C8B-B14F-4D97-AF65-F5344CB8AC3E}">
        <p14:creationId xmlns:p14="http://schemas.microsoft.com/office/powerpoint/2010/main" val="3674245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A8AC72-4EA9-1B16-1367-ED7E802335D3}"/>
              </a:ext>
            </a:extLst>
          </p:cNvPr>
          <p:cNvSpPr>
            <a:spLocks noGrp="1"/>
          </p:cNvSpPr>
          <p:nvPr>
            <p:ph type="title"/>
          </p:nvPr>
        </p:nvSpPr>
        <p:spPr/>
        <p:txBody>
          <a:bodyPr/>
          <a:lstStyle/>
          <a:p>
            <a:r>
              <a:rPr lang="es-MX" b="1" dirty="0">
                <a:solidFill>
                  <a:schemeClr val="accent1"/>
                </a:solidFill>
              </a:rPr>
              <a:t>Token</a:t>
            </a:r>
          </a:p>
        </p:txBody>
      </p:sp>
      <p:sp>
        <p:nvSpPr>
          <p:cNvPr id="3" name="Marcador de contenido 2">
            <a:extLst>
              <a:ext uri="{FF2B5EF4-FFF2-40B4-BE49-F238E27FC236}">
                <a16:creationId xmlns:a16="http://schemas.microsoft.com/office/drawing/2014/main" id="{E12719F2-169F-E067-E02F-9527CE5FB057}"/>
              </a:ext>
            </a:extLst>
          </p:cNvPr>
          <p:cNvSpPr>
            <a:spLocks noGrp="1"/>
          </p:cNvSpPr>
          <p:nvPr>
            <p:ph idx="1"/>
          </p:nvPr>
        </p:nvSpPr>
        <p:spPr/>
        <p:txBody>
          <a:bodyPr/>
          <a:lstStyle/>
          <a:p>
            <a:pPr marL="0" indent="0">
              <a:buNone/>
            </a:pPr>
            <a:r>
              <a:rPr lang="es-MX" dirty="0"/>
              <a:t>Un token es una categoría léxica que representa un conjunto de cadenas dentro de un lenguaje de programación.</a:t>
            </a:r>
          </a:p>
          <a:p>
            <a:pPr marL="0" indent="0">
              <a:buNone/>
            </a:pPr>
            <a:r>
              <a:rPr lang="es-MX" dirty="0"/>
              <a:t>Ejemplos de tokens:</a:t>
            </a:r>
          </a:p>
          <a:p>
            <a:pPr>
              <a:buFont typeface="Wingdings" panose="05000000000000000000" pitchFamily="2" charset="2"/>
              <a:buChar char="Ø"/>
            </a:pPr>
            <a:r>
              <a:rPr lang="es-MX" dirty="0"/>
              <a:t>Palabras reservadas</a:t>
            </a:r>
          </a:p>
          <a:p>
            <a:pPr>
              <a:buFont typeface="Wingdings" panose="05000000000000000000" pitchFamily="2" charset="2"/>
              <a:buChar char="Ø"/>
            </a:pPr>
            <a:r>
              <a:rPr lang="es-MX" dirty="0"/>
              <a:t>Identificadores</a:t>
            </a:r>
          </a:p>
          <a:p>
            <a:pPr>
              <a:buFont typeface="Wingdings" panose="05000000000000000000" pitchFamily="2" charset="2"/>
              <a:buChar char="Ø"/>
            </a:pPr>
            <a:r>
              <a:rPr lang="es-MX" dirty="0"/>
              <a:t>Números</a:t>
            </a:r>
          </a:p>
          <a:p>
            <a:pPr>
              <a:buFont typeface="Wingdings" panose="05000000000000000000" pitchFamily="2" charset="2"/>
              <a:buChar char="Ø"/>
            </a:pPr>
            <a:r>
              <a:rPr lang="es-MX" dirty="0"/>
              <a:t>Operadores</a:t>
            </a:r>
          </a:p>
          <a:p>
            <a:pPr>
              <a:buFont typeface="Wingdings" panose="05000000000000000000" pitchFamily="2" charset="2"/>
              <a:buChar char="Ø"/>
            </a:pPr>
            <a:r>
              <a:rPr lang="es-MX" dirty="0"/>
              <a:t>Símbolos especiales</a:t>
            </a:r>
          </a:p>
          <a:p>
            <a:endParaRPr lang="es-MX" dirty="0"/>
          </a:p>
        </p:txBody>
      </p:sp>
    </p:spTree>
    <p:extLst>
      <p:ext uri="{BB962C8B-B14F-4D97-AF65-F5344CB8AC3E}">
        <p14:creationId xmlns:p14="http://schemas.microsoft.com/office/powerpoint/2010/main" val="2843524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F523E-7C56-9579-3072-0FE4D5C7459E}"/>
              </a:ext>
            </a:extLst>
          </p:cNvPr>
          <p:cNvSpPr>
            <a:spLocks noGrp="1"/>
          </p:cNvSpPr>
          <p:nvPr>
            <p:ph type="title"/>
          </p:nvPr>
        </p:nvSpPr>
        <p:spPr/>
        <p:txBody>
          <a:bodyPr/>
          <a:lstStyle/>
          <a:p>
            <a:r>
              <a:rPr lang="es-MX" b="1" dirty="0">
                <a:solidFill>
                  <a:schemeClr val="accent1"/>
                </a:solidFill>
              </a:rPr>
              <a:t>Lexema</a:t>
            </a:r>
          </a:p>
        </p:txBody>
      </p:sp>
      <p:graphicFrame>
        <p:nvGraphicFramePr>
          <p:cNvPr id="4" name="Marcador de contenido 3">
            <a:extLst>
              <a:ext uri="{FF2B5EF4-FFF2-40B4-BE49-F238E27FC236}">
                <a16:creationId xmlns:a16="http://schemas.microsoft.com/office/drawing/2014/main" id="{896645A5-2711-ECE4-37A8-9C93357EB9D7}"/>
              </a:ext>
            </a:extLst>
          </p:cNvPr>
          <p:cNvGraphicFramePr>
            <a:graphicFrameLocks noGrp="1"/>
          </p:cNvGraphicFramePr>
          <p:nvPr>
            <p:ph idx="1"/>
            <p:extLst>
              <p:ext uri="{D42A27DB-BD31-4B8C-83A1-F6EECF244321}">
                <p14:modId xmlns:p14="http://schemas.microsoft.com/office/powerpoint/2010/main" val="1838419502"/>
              </p:ext>
            </p:extLst>
          </p:nvPr>
        </p:nvGraphicFramePr>
        <p:xfrm>
          <a:off x="838200" y="3269774"/>
          <a:ext cx="10515600" cy="1463040"/>
        </p:xfrm>
        <a:graphic>
          <a:graphicData uri="http://schemas.openxmlformats.org/drawingml/2006/table">
            <a:tbl>
              <a:tblPr>
                <a:tableStyleId>{793D81CF-94F2-401A-BA57-92F5A7B2D0C5}</a:tableStyleId>
              </a:tblPr>
              <a:tblGrid>
                <a:gridCol w="5257800">
                  <a:extLst>
                    <a:ext uri="{9D8B030D-6E8A-4147-A177-3AD203B41FA5}">
                      <a16:colId xmlns:a16="http://schemas.microsoft.com/office/drawing/2014/main" val="3059770632"/>
                    </a:ext>
                  </a:extLst>
                </a:gridCol>
                <a:gridCol w="5257800">
                  <a:extLst>
                    <a:ext uri="{9D8B030D-6E8A-4147-A177-3AD203B41FA5}">
                      <a16:colId xmlns:a16="http://schemas.microsoft.com/office/drawing/2014/main" val="876103855"/>
                    </a:ext>
                  </a:extLst>
                </a:gridCol>
              </a:tblGrid>
              <a:tr h="0">
                <a:tc>
                  <a:txBody>
                    <a:bodyPr/>
                    <a:lstStyle/>
                    <a:p>
                      <a:pPr>
                        <a:buNone/>
                      </a:pPr>
                      <a:r>
                        <a:rPr lang="es-MX" b="1" dirty="0"/>
                        <a:t>Lexema</a:t>
                      </a:r>
                    </a:p>
                  </a:txBody>
                  <a:tcPr anchor="ctr"/>
                </a:tc>
                <a:tc>
                  <a:txBody>
                    <a:bodyPr/>
                    <a:lstStyle/>
                    <a:p>
                      <a:pPr>
                        <a:buNone/>
                      </a:pPr>
                      <a:r>
                        <a:rPr lang="es-MX" b="1" dirty="0"/>
                        <a:t>Token</a:t>
                      </a:r>
                    </a:p>
                  </a:txBody>
                  <a:tcPr anchor="ctr"/>
                </a:tc>
                <a:extLst>
                  <a:ext uri="{0D108BD9-81ED-4DB2-BD59-A6C34878D82A}">
                    <a16:rowId xmlns:a16="http://schemas.microsoft.com/office/drawing/2014/main" val="1287034270"/>
                  </a:ext>
                </a:extLst>
              </a:tr>
              <a:tr h="0">
                <a:tc>
                  <a:txBody>
                    <a:bodyPr/>
                    <a:lstStyle/>
                    <a:p>
                      <a:pPr>
                        <a:buNone/>
                      </a:pPr>
                      <a:r>
                        <a:rPr lang="es-MX"/>
                        <a:t>int</a:t>
                      </a:r>
                    </a:p>
                  </a:txBody>
                  <a:tcPr anchor="ctr"/>
                </a:tc>
                <a:tc>
                  <a:txBody>
                    <a:bodyPr/>
                    <a:lstStyle/>
                    <a:p>
                      <a:pPr>
                        <a:buNone/>
                      </a:pPr>
                      <a:r>
                        <a:rPr lang="es-MX" dirty="0"/>
                        <a:t>palabra reservada</a:t>
                      </a:r>
                    </a:p>
                  </a:txBody>
                  <a:tcPr anchor="ctr"/>
                </a:tc>
                <a:extLst>
                  <a:ext uri="{0D108BD9-81ED-4DB2-BD59-A6C34878D82A}">
                    <a16:rowId xmlns:a16="http://schemas.microsoft.com/office/drawing/2014/main" val="3783025751"/>
                  </a:ext>
                </a:extLst>
              </a:tr>
              <a:tr h="0">
                <a:tc>
                  <a:txBody>
                    <a:bodyPr/>
                    <a:lstStyle/>
                    <a:p>
                      <a:pPr>
                        <a:buNone/>
                      </a:pPr>
                      <a:r>
                        <a:rPr lang="es-MX"/>
                        <a:t>x</a:t>
                      </a:r>
                    </a:p>
                  </a:txBody>
                  <a:tcPr anchor="ctr"/>
                </a:tc>
                <a:tc>
                  <a:txBody>
                    <a:bodyPr/>
                    <a:lstStyle/>
                    <a:p>
                      <a:pPr>
                        <a:buNone/>
                      </a:pPr>
                      <a:r>
                        <a:rPr lang="es-MX"/>
                        <a:t>identificador</a:t>
                      </a:r>
                    </a:p>
                  </a:txBody>
                  <a:tcPr anchor="ctr"/>
                </a:tc>
                <a:extLst>
                  <a:ext uri="{0D108BD9-81ED-4DB2-BD59-A6C34878D82A}">
                    <a16:rowId xmlns:a16="http://schemas.microsoft.com/office/drawing/2014/main" val="4220548743"/>
                  </a:ext>
                </a:extLst>
              </a:tr>
              <a:tr h="0">
                <a:tc>
                  <a:txBody>
                    <a:bodyPr/>
                    <a:lstStyle/>
                    <a:p>
                      <a:pPr>
                        <a:buNone/>
                      </a:pPr>
                      <a:r>
                        <a:rPr lang="es-MX"/>
                        <a:t>10</a:t>
                      </a:r>
                    </a:p>
                  </a:txBody>
                  <a:tcPr anchor="ctr"/>
                </a:tc>
                <a:tc>
                  <a:txBody>
                    <a:bodyPr/>
                    <a:lstStyle/>
                    <a:p>
                      <a:pPr>
                        <a:buNone/>
                      </a:pPr>
                      <a:r>
                        <a:rPr lang="es-MX" dirty="0"/>
                        <a:t>número</a:t>
                      </a:r>
                    </a:p>
                  </a:txBody>
                  <a:tcPr anchor="ctr"/>
                </a:tc>
                <a:extLst>
                  <a:ext uri="{0D108BD9-81ED-4DB2-BD59-A6C34878D82A}">
                    <a16:rowId xmlns:a16="http://schemas.microsoft.com/office/drawing/2014/main" val="1360854001"/>
                  </a:ext>
                </a:extLst>
              </a:tr>
            </a:tbl>
          </a:graphicData>
        </a:graphic>
      </p:graphicFrame>
      <p:sp>
        <p:nvSpPr>
          <p:cNvPr id="6" name="CuadroTexto 5">
            <a:extLst>
              <a:ext uri="{FF2B5EF4-FFF2-40B4-BE49-F238E27FC236}">
                <a16:creationId xmlns:a16="http://schemas.microsoft.com/office/drawing/2014/main" id="{6FE3F47E-8163-8CE8-0CA7-674ECC86A080}"/>
              </a:ext>
            </a:extLst>
          </p:cNvPr>
          <p:cNvSpPr txBox="1"/>
          <p:nvPr/>
        </p:nvSpPr>
        <p:spPr>
          <a:xfrm>
            <a:off x="838200" y="1690688"/>
            <a:ext cx="11032958" cy="1384995"/>
          </a:xfrm>
          <a:prstGeom prst="rect">
            <a:avLst/>
          </a:prstGeom>
          <a:noFill/>
        </p:spPr>
        <p:txBody>
          <a:bodyPr wrap="square">
            <a:spAutoFit/>
          </a:bodyPr>
          <a:lstStyle/>
          <a:p>
            <a:pPr>
              <a:buNone/>
            </a:pPr>
            <a:r>
              <a:rPr lang="es-MX" sz="2800" dirty="0"/>
              <a:t>Un lexema es la secuencia específica de caracteres encontrada en el código fuente que coincide con un patrón definido.</a:t>
            </a:r>
          </a:p>
          <a:p>
            <a:pPr>
              <a:buNone/>
            </a:pPr>
            <a:r>
              <a:rPr lang="es-MX" sz="2800" dirty="0"/>
              <a:t>Ejemplo:</a:t>
            </a:r>
          </a:p>
        </p:txBody>
      </p:sp>
    </p:spTree>
    <p:extLst>
      <p:ext uri="{BB962C8B-B14F-4D97-AF65-F5344CB8AC3E}">
        <p14:creationId xmlns:p14="http://schemas.microsoft.com/office/powerpoint/2010/main" val="4182108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8260CA-D9D2-D58B-3FBD-49C8A56CE3E4}"/>
              </a:ext>
            </a:extLst>
          </p:cNvPr>
          <p:cNvSpPr>
            <a:spLocks noGrp="1"/>
          </p:cNvSpPr>
          <p:nvPr>
            <p:ph type="title"/>
          </p:nvPr>
        </p:nvSpPr>
        <p:spPr/>
        <p:txBody>
          <a:bodyPr/>
          <a:lstStyle/>
          <a:p>
            <a:r>
              <a:rPr lang="es-MX" b="1" dirty="0">
                <a:solidFill>
                  <a:schemeClr val="accent1"/>
                </a:solidFill>
              </a:rPr>
              <a:t>Error Léxico</a:t>
            </a:r>
          </a:p>
        </p:txBody>
      </p:sp>
      <p:sp>
        <p:nvSpPr>
          <p:cNvPr id="3" name="Marcador de contenido 2">
            <a:extLst>
              <a:ext uri="{FF2B5EF4-FFF2-40B4-BE49-F238E27FC236}">
                <a16:creationId xmlns:a16="http://schemas.microsoft.com/office/drawing/2014/main" id="{02D8676D-83F7-1BAD-D4CE-9270D722C9BB}"/>
              </a:ext>
            </a:extLst>
          </p:cNvPr>
          <p:cNvSpPr>
            <a:spLocks noGrp="1"/>
          </p:cNvSpPr>
          <p:nvPr>
            <p:ph idx="1"/>
          </p:nvPr>
        </p:nvSpPr>
        <p:spPr/>
        <p:txBody>
          <a:bodyPr/>
          <a:lstStyle/>
          <a:p>
            <a:pPr>
              <a:buFont typeface="Wingdings" panose="05000000000000000000" pitchFamily="2" charset="2"/>
              <a:buChar char="Ø"/>
            </a:pPr>
            <a:r>
              <a:rPr lang="es-MX" dirty="0"/>
              <a:t>Un error léxico ocurre cuando una secuencia de caracteres no coincide con ningún patrón válido del lenguaje.</a:t>
            </a:r>
          </a:p>
          <a:p>
            <a:pPr>
              <a:buFont typeface="Wingdings" panose="05000000000000000000" pitchFamily="2" charset="2"/>
              <a:buChar char="Ø"/>
            </a:pPr>
            <a:r>
              <a:rPr lang="es-MX" dirty="0"/>
              <a:t>Ejemplo:</a:t>
            </a:r>
          </a:p>
          <a:p>
            <a:pPr>
              <a:buFont typeface="Wingdings" panose="05000000000000000000" pitchFamily="2" charset="2"/>
              <a:buChar char="Ø"/>
            </a:pPr>
            <a:r>
              <a:rPr lang="es-MX" dirty="0" err="1"/>
              <a:t>int</a:t>
            </a:r>
            <a:r>
              <a:rPr lang="es-MX" dirty="0"/>
              <a:t> 5x = 10;</a:t>
            </a:r>
          </a:p>
          <a:p>
            <a:pPr>
              <a:buFont typeface="Wingdings" panose="05000000000000000000" pitchFamily="2" charset="2"/>
              <a:buChar char="Ø"/>
            </a:pPr>
            <a:r>
              <a:rPr lang="es-MX" dirty="0"/>
              <a:t>El identificador no puede comenzar con un número.</a:t>
            </a:r>
          </a:p>
          <a:p>
            <a:endParaRPr lang="es-MX" dirty="0"/>
          </a:p>
        </p:txBody>
      </p:sp>
    </p:spTree>
    <p:extLst>
      <p:ext uri="{BB962C8B-B14F-4D97-AF65-F5344CB8AC3E}">
        <p14:creationId xmlns:p14="http://schemas.microsoft.com/office/powerpoint/2010/main" val="1112265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469C2B-6E6E-7C22-A8CF-D3F4F08C7288}"/>
              </a:ext>
            </a:extLst>
          </p:cNvPr>
          <p:cNvSpPr>
            <a:spLocks noGrp="1"/>
          </p:cNvSpPr>
          <p:nvPr>
            <p:ph type="title"/>
          </p:nvPr>
        </p:nvSpPr>
        <p:spPr/>
        <p:txBody>
          <a:bodyPr/>
          <a:lstStyle/>
          <a:p>
            <a:r>
              <a:rPr lang="es-MX" b="1" dirty="0" err="1">
                <a:solidFill>
                  <a:schemeClr val="accent1"/>
                </a:solidFill>
              </a:rPr>
              <a:t>JavaFX</a:t>
            </a:r>
            <a:endParaRPr lang="es-MX" b="1" dirty="0">
              <a:solidFill>
                <a:schemeClr val="accent1"/>
              </a:solidFill>
            </a:endParaRPr>
          </a:p>
        </p:txBody>
      </p:sp>
      <p:sp>
        <p:nvSpPr>
          <p:cNvPr id="3" name="Marcador de contenido 2">
            <a:extLst>
              <a:ext uri="{FF2B5EF4-FFF2-40B4-BE49-F238E27FC236}">
                <a16:creationId xmlns:a16="http://schemas.microsoft.com/office/drawing/2014/main" id="{B956856B-83EA-C2E3-67BD-E97560D6CFDB}"/>
              </a:ext>
            </a:extLst>
          </p:cNvPr>
          <p:cNvSpPr>
            <a:spLocks noGrp="1"/>
          </p:cNvSpPr>
          <p:nvPr>
            <p:ph idx="1"/>
          </p:nvPr>
        </p:nvSpPr>
        <p:spPr/>
        <p:txBody>
          <a:bodyPr/>
          <a:lstStyle/>
          <a:p>
            <a:pPr marL="0" indent="0" algn="just">
              <a:buNone/>
            </a:pPr>
            <a:r>
              <a:rPr lang="es-MX" dirty="0" err="1"/>
              <a:t>JavaFX</a:t>
            </a:r>
            <a:r>
              <a:rPr lang="es-MX" dirty="0"/>
              <a:t> es una biblioteca de Java que permite crear interfaces gráficas de usuario. En esta práctica se utilizó para diseñar una aplicación interactiva donde el usuario puede ingresar código fuente y visualizar los resultados del análisis léxico.</a:t>
            </a:r>
          </a:p>
          <a:p>
            <a:endParaRPr lang="es-MX" dirty="0"/>
          </a:p>
        </p:txBody>
      </p:sp>
    </p:spTree>
    <p:extLst>
      <p:ext uri="{BB962C8B-B14F-4D97-AF65-F5344CB8AC3E}">
        <p14:creationId xmlns:p14="http://schemas.microsoft.com/office/powerpoint/2010/main" val="1805315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ECD098-67E9-65F7-A1C5-455400D58A5A}"/>
              </a:ext>
            </a:extLst>
          </p:cNvPr>
          <p:cNvSpPr>
            <a:spLocks noGrp="1"/>
          </p:cNvSpPr>
          <p:nvPr>
            <p:ph type="title"/>
          </p:nvPr>
        </p:nvSpPr>
        <p:spPr/>
        <p:txBody>
          <a:bodyPr/>
          <a:lstStyle/>
          <a:p>
            <a:r>
              <a:rPr lang="es-MX" b="1" dirty="0">
                <a:solidFill>
                  <a:schemeClr val="accent1"/>
                </a:solidFill>
              </a:rPr>
              <a:t>Descripción del sistema</a:t>
            </a:r>
            <a:endParaRPr lang="es-MX" dirty="0">
              <a:solidFill>
                <a:schemeClr val="accent1"/>
              </a:solidFill>
            </a:endParaRPr>
          </a:p>
        </p:txBody>
      </p:sp>
      <p:sp>
        <p:nvSpPr>
          <p:cNvPr id="3" name="Marcador de contenido 2">
            <a:extLst>
              <a:ext uri="{FF2B5EF4-FFF2-40B4-BE49-F238E27FC236}">
                <a16:creationId xmlns:a16="http://schemas.microsoft.com/office/drawing/2014/main" id="{EC8EC775-FCEE-4262-2A4D-884C8694C3A4}"/>
              </a:ext>
            </a:extLst>
          </p:cNvPr>
          <p:cNvSpPr>
            <a:spLocks noGrp="1"/>
          </p:cNvSpPr>
          <p:nvPr>
            <p:ph idx="1"/>
          </p:nvPr>
        </p:nvSpPr>
        <p:spPr/>
        <p:txBody>
          <a:bodyPr/>
          <a:lstStyle/>
          <a:p>
            <a:pPr marL="0" indent="0" algn="just">
              <a:buNone/>
            </a:pPr>
            <a:r>
              <a:rPr lang="es-MX" dirty="0"/>
              <a:t>Se desarrolló una aplicación en </a:t>
            </a:r>
            <a:r>
              <a:rPr lang="es-MX" dirty="0" err="1"/>
              <a:t>JavaFX</a:t>
            </a:r>
            <a:r>
              <a:rPr lang="es-MX" dirty="0"/>
              <a:t> que permite al usuario escribir un fragmento de código fuente dentro de un área de texto. Al presionar el botón Analizar, el programa procesa la cadena de entrada, identifica los lexemas y clasifica cada elemento según su tipo de token.</a:t>
            </a:r>
          </a:p>
          <a:p>
            <a:endParaRPr lang="es-MX" dirty="0"/>
          </a:p>
        </p:txBody>
      </p:sp>
    </p:spTree>
    <p:extLst>
      <p:ext uri="{BB962C8B-B14F-4D97-AF65-F5344CB8AC3E}">
        <p14:creationId xmlns:p14="http://schemas.microsoft.com/office/powerpoint/2010/main" val="28256241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50D6D2C-3B39-6B7A-56D9-961AB3B9806A}"/>
              </a:ext>
            </a:extLst>
          </p:cNvPr>
          <p:cNvSpPr>
            <a:spLocks noGrp="1"/>
          </p:cNvSpPr>
          <p:nvPr>
            <p:ph type="title"/>
          </p:nvPr>
        </p:nvSpPr>
        <p:spPr/>
        <p:txBody>
          <a:bodyPr/>
          <a:lstStyle/>
          <a:p>
            <a:r>
              <a:rPr lang="es-MX" b="1" dirty="0">
                <a:solidFill>
                  <a:schemeClr val="accent1"/>
                </a:solidFill>
              </a:rPr>
              <a:t>Componentes de la interfaz</a:t>
            </a:r>
            <a:endParaRPr lang="es-MX" dirty="0">
              <a:solidFill>
                <a:schemeClr val="accent1"/>
              </a:solidFill>
            </a:endParaRPr>
          </a:p>
        </p:txBody>
      </p:sp>
      <p:sp>
        <p:nvSpPr>
          <p:cNvPr id="3" name="Marcador de contenido 2">
            <a:extLst>
              <a:ext uri="{FF2B5EF4-FFF2-40B4-BE49-F238E27FC236}">
                <a16:creationId xmlns:a16="http://schemas.microsoft.com/office/drawing/2014/main" id="{CB5DA0C6-9224-7713-B7EE-707FEC0B8D2E}"/>
              </a:ext>
            </a:extLst>
          </p:cNvPr>
          <p:cNvSpPr>
            <a:spLocks noGrp="1"/>
          </p:cNvSpPr>
          <p:nvPr>
            <p:ph idx="1"/>
          </p:nvPr>
        </p:nvSpPr>
        <p:spPr/>
        <p:txBody>
          <a:bodyPr/>
          <a:lstStyle/>
          <a:p>
            <a:pPr marL="0" indent="0">
              <a:buNone/>
            </a:pPr>
            <a:r>
              <a:rPr lang="es-MX" dirty="0"/>
              <a:t>La interfaz de la aplicación está compuesta por los siguientes elementos:</a:t>
            </a:r>
          </a:p>
          <a:p>
            <a:pPr>
              <a:buFont typeface="Wingdings" panose="05000000000000000000" pitchFamily="2" charset="2"/>
              <a:buChar char="Ø"/>
            </a:pPr>
            <a:r>
              <a:rPr lang="es-MX" b="1" dirty="0" err="1"/>
              <a:t>TextArea</a:t>
            </a:r>
            <a:r>
              <a:rPr lang="es-MX" b="1" dirty="0"/>
              <a:t>:</a:t>
            </a:r>
            <a:r>
              <a:rPr lang="es-MX" dirty="0"/>
              <a:t> permite ingresar el código fuente.</a:t>
            </a:r>
          </a:p>
          <a:p>
            <a:pPr>
              <a:buFont typeface="Wingdings" panose="05000000000000000000" pitchFamily="2" charset="2"/>
              <a:buChar char="Ø"/>
            </a:pPr>
            <a:r>
              <a:rPr lang="es-MX" b="1" dirty="0" err="1"/>
              <a:t>Button</a:t>
            </a:r>
            <a:r>
              <a:rPr lang="es-MX" b="1" dirty="0"/>
              <a:t>:</a:t>
            </a:r>
            <a:r>
              <a:rPr lang="es-MX" dirty="0"/>
              <a:t> ejecuta el análisis léxico.</a:t>
            </a:r>
          </a:p>
          <a:p>
            <a:pPr>
              <a:buFont typeface="Wingdings" panose="05000000000000000000" pitchFamily="2" charset="2"/>
              <a:buChar char="Ø"/>
            </a:pPr>
            <a:r>
              <a:rPr lang="es-MX" b="1" dirty="0" err="1"/>
              <a:t>TextArea</a:t>
            </a:r>
            <a:r>
              <a:rPr lang="es-MX" b="1" dirty="0"/>
              <a:t> o </a:t>
            </a:r>
            <a:r>
              <a:rPr lang="es-MX" b="1" dirty="0" err="1"/>
              <a:t>TableView</a:t>
            </a:r>
            <a:r>
              <a:rPr lang="es-MX" b="1" dirty="0"/>
              <a:t>:</a:t>
            </a:r>
            <a:r>
              <a:rPr lang="es-MX" dirty="0"/>
              <a:t> muestra los tokens identificados.</a:t>
            </a:r>
          </a:p>
          <a:p>
            <a:pPr>
              <a:buFont typeface="Wingdings" panose="05000000000000000000" pitchFamily="2" charset="2"/>
              <a:buChar char="Ø"/>
            </a:pPr>
            <a:r>
              <a:rPr lang="es-MX" b="1" dirty="0" err="1"/>
              <a:t>Labels</a:t>
            </a:r>
            <a:r>
              <a:rPr lang="es-MX" b="1" dirty="0"/>
              <a:t>:</a:t>
            </a:r>
            <a:r>
              <a:rPr lang="es-MX" dirty="0"/>
              <a:t> indican la función de cada sección.</a:t>
            </a:r>
          </a:p>
          <a:p>
            <a:endParaRPr lang="es-MX" dirty="0"/>
          </a:p>
        </p:txBody>
      </p:sp>
    </p:spTree>
    <p:extLst>
      <p:ext uri="{BB962C8B-B14F-4D97-AF65-F5344CB8AC3E}">
        <p14:creationId xmlns:p14="http://schemas.microsoft.com/office/powerpoint/2010/main" val="1409047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00B70C-3374-8CA0-0174-A91808D323A9}"/>
              </a:ext>
            </a:extLst>
          </p:cNvPr>
          <p:cNvSpPr>
            <a:spLocks noGrp="1"/>
          </p:cNvSpPr>
          <p:nvPr>
            <p:ph type="title"/>
          </p:nvPr>
        </p:nvSpPr>
        <p:spPr/>
        <p:txBody>
          <a:bodyPr/>
          <a:lstStyle/>
          <a:p>
            <a:r>
              <a:rPr lang="es-MX" b="1" dirty="0">
                <a:solidFill>
                  <a:schemeClr val="accent1"/>
                </a:solidFill>
              </a:rPr>
              <a:t>Funcionamiento del programa</a:t>
            </a:r>
            <a:endParaRPr lang="es-MX" dirty="0">
              <a:solidFill>
                <a:schemeClr val="accent1"/>
              </a:solidFill>
            </a:endParaRPr>
          </a:p>
        </p:txBody>
      </p:sp>
      <p:sp>
        <p:nvSpPr>
          <p:cNvPr id="3" name="Marcador de contenido 2">
            <a:extLst>
              <a:ext uri="{FF2B5EF4-FFF2-40B4-BE49-F238E27FC236}">
                <a16:creationId xmlns:a16="http://schemas.microsoft.com/office/drawing/2014/main" id="{97D63124-F557-6E71-3B05-52EA99B4F157}"/>
              </a:ext>
            </a:extLst>
          </p:cNvPr>
          <p:cNvSpPr>
            <a:spLocks noGrp="1"/>
          </p:cNvSpPr>
          <p:nvPr>
            <p:ph idx="1"/>
          </p:nvPr>
        </p:nvSpPr>
        <p:spPr/>
        <p:txBody>
          <a:bodyPr/>
          <a:lstStyle/>
          <a:p>
            <a:pPr>
              <a:buFont typeface="Wingdings" panose="05000000000000000000" pitchFamily="2" charset="2"/>
              <a:buChar char="Ø"/>
            </a:pPr>
            <a:r>
              <a:rPr lang="es-MX" dirty="0"/>
              <a:t>El funcionamiento del analizador se desarrolla de la siguiente manera:</a:t>
            </a:r>
          </a:p>
          <a:p>
            <a:pPr>
              <a:buFont typeface="Wingdings" panose="05000000000000000000" pitchFamily="2" charset="2"/>
              <a:buChar char="Ø"/>
            </a:pPr>
            <a:r>
              <a:rPr lang="es-MX" dirty="0"/>
              <a:t>El usuario ingresa el código fuente en el área de texto.</a:t>
            </a:r>
          </a:p>
          <a:p>
            <a:pPr>
              <a:buFont typeface="Wingdings" panose="05000000000000000000" pitchFamily="2" charset="2"/>
              <a:buChar char="Ø"/>
            </a:pPr>
            <a:r>
              <a:rPr lang="es-MX" dirty="0"/>
              <a:t>El programa separa la cadena en lexemas.</a:t>
            </a:r>
          </a:p>
          <a:p>
            <a:pPr>
              <a:buFont typeface="Wingdings" panose="05000000000000000000" pitchFamily="2" charset="2"/>
              <a:buChar char="Ø"/>
            </a:pPr>
            <a:r>
              <a:rPr lang="es-MX" dirty="0"/>
              <a:t>Cada lexema es evaluado mediante expresiones regulares.</a:t>
            </a:r>
          </a:p>
          <a:p>
            <a:pPr>
              <a:buFont typeface="Wingdings" panose="05000000000000000000" pitchFamily="2" charset="2"/>
              <a:buChar char="Ø"/>
            </a:pPr>
            <a:r>
              <a:rPr lang="es-MX" dirty="0"/>
              <a:t>Se determina el tipo de token correspondiente.</a:t>
            </a:r>
          </a:p>
          <a:p>
            <a:pPr>
              <a:buFont typeface="Wingdings" panose="05000000000000000000" pitchFamily="2" charset="2"/>
              <a:buChar char="Ø"/>
            </a:pPr>
            <a:r>
              <a:rPr lang="es-MX" dirty="0"/>
              <a:t>El resultado se muestra en la interfaz gráfica.</a:t>
            </a:r>
          </a:p>
          <a:p>
            <a:endParaRPr lang="es-MX" dirty="0"/>
          </a:p>
        </p:txBody>
      </p:sp>
    </p:spTree>
    <p:extLst>
      <p:ext uri="{BB962C8B-B14F-4D97-AF65-F5344CB8AC3E}">
        <p14:creationId xmlns:p14="http://schemas.microsoft.com/office/powerpoint/2010/main" val="941558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D29A0-B3B9-9A18-F567-EDE9BED008D6}"/>
              </a:ext>
            </a:extLst>
          </p:cNvPr>
          <p:cNvSpPr>
            <a:spLocks noGrp="1"/>
          </p:cNvSpPr>
          <p:nvPr>
            <p:ph type="title"/>
          </p:nvPr>
        </p:nvSpPr>
        <p:spPr/>
        <p:txBody>
          <a:bodyPr/>
          <a:lstStyle/>
          <a:p>
            <a:r>
              <a:rPr lang="es-MX" b="1" dirty="0">
                <a:solidFill>
                  <a:schemeClr val="accent1"/>
                </a:solidFill>
              </a:rPr>
              <a:t>Implementación (Código </a:t>
            </a:r>
            <a:r>
              <a:rPr lang="es-MX" b="1" dirty="0" err="1">
                <a:solidFill>
                  <a:schemeClr val="accent1"/>
                </a:solidFill>
              </a:rPr>
              <a:t>JavaFX</a:t>
            </a:r>
            <a:r>
              <a:rPr lang="es-MX" b="1" dirty="0">
                <a:solidFill>
                  <a:schemeClr val="accent1"/>
                </a:solidFill>
              </a:rPr>
              <a:t>)</a:t>
            </a:r>
          </a:p>
        </p:txBody>
      </p:sp>
      <p:pic>
        <p:nvPicPr>
          <p:cNvPr id="10" name="Marcador de contenido 9">
            <a:extLst>
              <a:ext uri="{FF2B5EF4-FFF2-40B4-BE49-F238E27FC236}">
                <a16:creationId xmlns:a16="http://schemas.microsoft.com/office/drawing/2014/main" id="{321E5D4E-54B4-374D-9A77-BEFD12C3335C}"/>
              </a:ext>
            </a:extLst>
          </p:cNvPr>
          <p:cNvPicPr>
            <a:picLocks noGrp="1" noChangeAspect="1"/>
          </p:cNvPicPr>
          <p:nvPr>
            <p:ph idx="1"/>
          </p:nvPr>
        </p:nvPicPr>
        <p:blipFill>
          <a:blip r:embed="rId2"/>
          <a:stretch>
            <a:fillRect/>
          </a:stretch>
        </p:blipFill>
        <p:spPr>
          <a:xfrm>
            <a:off x="927664" y="1602105"/>
            <a:ext cx="5315938" cy="2990215"/>
          </a:xfrm>
          <a:prstGeom prst="rect">
            <a:avLst/>
          </a:prstGeom>
        </p:spPr>
      </p:pic>
      <p:sp>
        <p:nvSpPr>
          <p:cNvPr id="12" name="CuadroTexto 11">
            <a:extLst>
              <a:ext uri="{FF2B5EF4-FFF2-40B4-BE49-F238E27FC236}">
                <a16:creationId xmlns:a16="http://schemas.microsoft.com/office/drawing/2014/main" id="{D60CAB12-03C4-512E-CF5D-B930C5E7B073}"/>
              </a:ext>
            </a:extLst>
          </p:cNvPr>
          <p:cNvSpPr txBox="1"/>
          <p:nvPr/>
        </p:nvSpPr>
        <p:spPr>
          <a:xfrm>
            <a:off x="6593840" y="1664336"/>
            <a:ext cx="4849424" cy="3970318"/>
          </a:xfrm>
          <a:prstGeom prst="rect">
            <a:avLst/>
          </a:prstGeom>
          <a:noFill/>
        </p:spPr>
        <p:txBody>
          <a:bodyPr wrap="square">
            <a:spAutoFit/>
          </a:bodyPr>
          <a:lstStyle/>
          <a:p>
            <a:pPr algn="just">
              <a:buNone/>
            </a:pPr>
            <a:r>
              <a:rPr lang="es-MX" dirty="0"/>
              <a:t>La figura muestra la interfaz del analizador léxico desarrollado en </a:t>
            </a:r>
            <a:r>
              <a:rPr lang="es-MX" dirty="0" err="1"/>
              <a:t>JavaFX</a:t>
            </a:r>
            <a:r>
              <a:rPr lang="es-MX" dirty="0"/>
              <a:t>. En esta ventana se observa el área destinada para ingresar el código fuente que será analizado por el sistema. También se incluye un botón </a:t>
            </a:r>
            <a:r>
              <a:rPr lang="es-MX" b="1" dirty="0"/>
              <a:t>“Analizar”</a:t>
            </a:r>
            <a:r>
              <a:rPr lang="es-MX" dirty="0"/>
              <a:t>, el cual permite ejecutar el proceso de análisis léxico sobre el código introducido por el usuario.</a:t>
            </a:r>
          </a:p>
          <a:p>
            <a:pPr algn="just">
              <a:buNone/>
            </a:pPr>
            <a:r>
              <a:rPr lang="es-MX" dirty="0"/>
              <a:t>En la parte inferior se encuentra el área de salida, donde el programa mostrará los resultados del análisis, clasificando cada lexema del código fuente en su correspondiente token. Esta interfaz permite interactuar de forma sencilla con el sistema y visualizar claramente el proceso de identificación de los elementos del lenguaje.</a:t>
            </a:r>
          </a:p>
        </p:txBody>
      </p:sp>
    </p:spTree>
    <p:extLst>
      <p:ext uri="{BB962C8B-B14F-4D97-AF65-F5344CB8AC3E}">
        <p14:creationId xmlns:p14="http://schemas.microsoft.com/office/powerpoint/2010/main" val="3230841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107D78-FBE1-5590-3476-19CC2F0D4625}"/>
              </a:ext>
            </a:extLst>
          </p:cNvPr>
          <p:cNvSpPr>
            <a:spLocks noGrp="1"/>
          </p:cNvSpPr>
          <p:nvPr>
            <p:ph type="title"/>
          </p:nvPr>
        </p:nvSpPr>
        <p:spPr/>
        <p:txBody>
          <a:bodyPr/>
          <a:lstStyle/>
          <a:p>
            <a:r>
              <a:rPr lang="es-MX" b="1" dirty="0">
                <a:solidFill>
                  <a:schemeClr val="accent1"/>
                </a:solidFill>
              </a:rPr>
              <a:t>Prueba 1</a:t>
            </a:r>
          </a:p>
        </p:txBody>
      </p:sp>
      <p:pic>
        <p:nvPicPr>
          <p:cNvPr id="5" name="Marcador de contenido 4">
            <a:extLst>
              <a:ext uri="{FF2B5EF4-FFF2-40B4-BE49-F238E27FC236}">
                <a16:creationId xmlns:a16="http://schemas.microsoft.com/office/drawing/2014/main" id="{A924992B-FE5E-0A52-1B50-BF83A40FA4EF}"/>
              </a:ext>
            </a:extLst>
          </p:cNvPr>
          <p:cNvPicPr>
            <a:picLocks noGrp="1" noChangeAspect="1"/>
          </p:cNvPicPr>
          <p:nvPr>
            <p:ph idx="1"/>
          </p:nvPr>
        </p:nvPicPr>
        <p:blipFill>
          <a:blip r:embed="rId2"/>
          <a:stretch>
            <a:fillRect/>
          </a:stretch>
        </p:blipFill>
        <p:spPr>
          <a:xfrm>
            <a:off x="838200" y="1690688"/>
            <a:ext cx="5844821" cy="3287712"/>
          </a:xfrm>
          <a:prstGeom prst="rect">
            <a:avLst/>
          </a:prstGeom>
        </p:spPr>
      </p:pic>
      <p:sp>
        <p:nvSpPr>
          <p:cNvPr id="8" name="CuadroTexto 7">
            <a:extLst>
              <a:ext uri="{FF2B5EF4-FFF2-40B4-BE49-F238E27FC236}">
                <a16:creationId xmlns:a16="http://schemas.microsoft.com/office/drawing/2014/main" id="{EF472832-B943-D743-253D-011E7C8C8763}"/>
              </a:ext>
            </a:extLst>
          </p:cNvPr>
          <p:cNvSpPr txBox="1"/>
          <p:nvPr/>
        </p:nvSpPr>
        <p:spPr>
          <a:xfrm>
            <a:off x="6868160" y="1720840"/>
            <a:ext cx="4937760" cy="2031325"/>
          </a:xfrm>
          <a:prstGeom prst="rect">
            <a:avLst/>
          </a:prstGeom>
          <a:noFill/>
        </p:spPr>
        <p:txBody>
          <a:bodyPr wrap="square">
            <a:spAutoFit/>
          </a:bodyPr>
          <a:lstStyle/>
          <a:p>
            <a:pPr algn="just">
              <a:buNone/>
            </a:pPr>
            <a:r>
              <a:rPr lang="es-MX" dirty="0"/>
              <a:t>se ingresó el código </a:t>
            </a:r>
            <a:r>
              <a:rPr lang="es-MX" dirty="0" err="1">
                <a:latin typeface="Courier New" panose="02070309020205020404" pitchFamily="49" charset="0"/>
              </a:rPr>
              <a:t>int</a:t>
            </a:r>
            <a:r>
              <a:rPr lang="es-MX" dirty="0">
                <a:latin typeface="Courier New" panose="02070309020205020404" pitchFamily="49" charset="0"/>
              </a:rPr>
              <a:t> x = 10;</a:t>
            </a:r>
            <a:r>
              <a:rPr lang="es-MX" dirty="0"/>
              <a:t> El sistema analiza el código fuente y clasifica cada lexema según su tipo de token.</a:t>
            </a:r>
          </a:p>
          <a:p>
            <a:pPr algn="just">
              <a:buNone/>
            </a:pPr>
            <a:r>
              <a:rPr lang="es-MX" dirty="0"/>
              <a:t>El resultado muestra que el analizador identifica correctamente la palabra reservada </a:t>
            </a:r>
            <a:r>
              <a:rPr lang="es-MX" dirty="0" err="1">
                <a:latin typeface="Courier New" panose="02070309020205020404" pitchFamily="49" charset="0"/>
              </a:rPr>
              <a:t>int</a:t>
            </a:r>
            <a:r>
              <a:rPr lang="es-MX" dirty="0"/>
              <a:t>, el identificador </a:t>
            </a:r>
            <a:r>
              <a:rPr lang="es-MX" dirty="0">
                <a:latin typeface="Courier New" panose="02070309020205020404" pitchFamily="49" charset="0"/>
              </a:rPr>
              <a:t>x</a:t>
            </a:r>
            <a:r>
              <a:rPr lang="es-MX" dirty="0"/>
              <a:t> y el operador de asignación </a:t>
            </a:r>
            <a:r>
              <a:rPr lang="es-MX" dirty="0">
                <a:latin typeface="Courier New" panose="02070309020205020404" pitchFamily="49" charset="0"/>
              </a:rPr>
              <a:t>=</a:t>
            </a:r>
            <a:r>
              <a:rPr lang="es-MX" dirty="0"/>
              <a:t>. Además, reconoce el valor </a:t>
            </a:r>
            <a:r>
              <a:rPr lang="es-MX" dirty="0">
                <a:latin typeface="Courier New" panose="02070309020205020404" pitchFamily="49" charset="0"/>
              </a:rPr>
              <a:t>10</a:t>
            </a:r>
            <a:r>
              <a:rPr lang="es-MX" dirty="0"/>
              <a:t> dentro del código. </a:t>
            </a:r>
          </a:p>
        </p:txBody>
      </p:sp>
    </p:spTree>
    <p:extLst>
      <p:ext uri="{BB962C8B-B14F-4D97-AF65-F5344CB8AC3E}">
        <p14:creationId xmlns:p14="http://schemas.microsoft.com/office/powerpoint/2010/main" val="6567351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95AE400-FA3F-F015-CAC6-9FA172D2B1D5}"/>
              </a:ext>
            </a:extLst>
          </p:cNvPr>
          <p:cNvSpPr>
            <a:spLocks noGrp="1"/>
          </p:cNvSpPr>
          <p:nvPr>
            <p:ph type="title"/>
          </p:nvPr>
        </p:nvSpPr>
        <p:spPr/>
        <p:txBody>
          <a:bodyPr/>
          <a:lstStyle/>
          <a:p>
            <a:r>
              <a:rPr lang="es-MX" b="1" dirty="0">
                <a:solidFill>
                  <a:schemeClr val="accent1"/>
                </a:solidFill>
              </a:rPr>
              <a:t>Prueba 2</a:t>
            </a:r>
          </a:p>
        </p:txBody>
      </p:sp>
      <p:pic>
        <p:nvPicPr>
          <p:cNvPr id="5" name="Marcador de contenido 4">
            <a:extLst>
              <a:ext uri="{FF2B5EF4-FFF2-40B4-BE49-F238E27FC236}">
                <a16:creationId xmlns:a16="http://schemas.microsoft.com/office/drawing/2014/main" id="{0394A3BE-89A7-3C7E-2BB8-FF8DE476A874}"/>
              </a:ext>
            </a:extLst>
          </p:cNvPr>
          <p:cNvPicPr>
            <a:picLocks noGrp="1" noChangeAspect="1"/>
          </p:cNvPicPr>
          <p:nvPr>
            <p:ph idx="1"/>
          </p:nvPr>
        </p:nvPicPr>
        <p:blipFill>
          <a:blip r:embed="rId2"/>
          <a:stretch>
            <a:fillRect/>
          </a:stretch>
        </p:blipFill>
        <p:spPr>
          <a:xfrm>
            <a:off x="838200" y="1690688"/>
            <a:ext cx="5989319" cy="3368992"/>
          </a:xfrm>
          <a:prstGeom prst="rect">
            <a:avLst/>
          </a:prstGeom>
        </p:spPr>
      </p:pic>
      <p:sp>
        <p:nvSpPr>
          <p:cNvPr id="7" name="CuadroTexto 6">
            <a:extLst>
              <a:ext uri="{FF2B5EF4-FFF2-40B4-BE49-F238E27FC236}">
                <a16:creationId xmlns:a16="http://schemas.microsoft.com/office/drawing/2014/main" id="{11DF3CE4-562D-554C-9487-0FCF066A342F}"/>
              </a:ext>
            </a:extLst>
          </p:cNvPr>
          <p:cNvSpPr txBox="1"/>
          <p:nvPr/>
        </p:nvSpPr>
        <p:spPr>
          <a:xfrm>
            <a:off x="7010400" y="1845439"/>
            <a:ext cx="4866640" cy="2862322"/>
          </a:xfrm>
          <a:prstGeom prst="rect">
            <a:avLst/>
          </a:prstGeom>
          <a:noFill/>
        </p:spPr>
        <p:txBody>
          <a:bodyPr wrap="square">
            <a:spAutoFit/>
          </a:bodyPr>
          <a:lstStyle/>
          <a:p>
            <a:pPr algn="just">
              <a:buNone/>
            </a:pPr>
            <a:r>
              <a:rPr lang="es-MX" b="1" dirty="0"/>
              <a:t>se ingresó el</a:t>
            </a:r>
            <a:r>
              <a:rPr lang="es-MX" b="1" dirty="0">
                <a:latin typeface="+mj-lt"/>
              </a:rPr>
              <a:t> </a:t>
            </a:r>
            <a:r>
              <a:rPr lang="es-MX" b="1" dirty="0"/>
              <a:t>código </a:t>
            </a:r>
            <a:r>
              <a:rPr lang="es-MX" b="1" dirty="0" err="1"/>
              <a:t>float</a:t>
            </a:r>
            <a:r>
              <a:rPr lang="es-MX" b="1" dirty="0"/>
              <a:t> y = 3.14 El sistema analiza cada lexema del código fuente y lo clasifica según su tipo de token.</a:t>
            </a:r>
          </a:p>
          <a:p>
            <a:pPr algn="just">
              <a:buNone/>
            </a:pPr>
            <a:r>
              <a:rPr lang="es-MX" b="1" dirty="0"/>
              <a:t>El resultado muestra que el analizador identifica correctamente la palabra reservada </a:t>
            </a:r>
            <a:r>
              <a:rPr lang="es-MX" b="1" dirty="0" err="1"/>
              <a:t>float</a:t>
            </a:r>
            <a:r>
              <a:rPr lang="es-MX" b="1" dirty="0"/>
              <a:t>, el identificador y, el operador de asignación = y el número decimal 3.14.</a:t>
            </a:r>
          </a:p>
          <a:p>
            <a:pPr algn="just">
              <a:buNone/>
            </a:pPr>
            <a:r>
              <a:rPr lang="es-MX" b="1" dirty="0"/>
              <a:t>Esto demuestra que el sistema es capaz de reconocer distintos tipos de tokens dentro de un fragmento de código</a:t>
            </a:r>
          </a:p>
        </p:txBody>
      </p:sp>
    </p:spTree>
    <p:extLst>
      <p:ext uri="{BB962C8B-B14F-4D97-AF65-F5344CB8AC3E}">
        <p14:creationId xmlns:p14="http://schemas.microsoft.com/office/powerpoint/2010/main" val="44549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706F47-EF05-27A5-4F82-F4E1F114EE2F}"/>
              </a:ext>
            </a:extLst>
          </p:cNvPr>
          <p:cNvSpPr>
            <a:spLocks noGrp="1"/>
          </p:cNvSpPr>
          <p:nvPr>
            <p:ph type="title"/>
          </p:nvPr>
        </p:nvSpPr>
        <p:spPr/>
        <p:txBody>
          <a:bodyPr/>
          <a:lstStyle/>
          <a:p>
            <a:r>
              <a:rPr lang="es-MX" b="1" dirty="0">
                <a:solidFill>
                  <a:schemeClr val="accent1"/>
                </a:solidFill>
              </a:rPr>
              <a:t>Prueba 3</a:t>
            </a:r>
          </a:p>
        </p:txBody>
      </p:sp>
      <p:pic>
        <p:nvPicPr>
          <p:cNvPr id="10" name="Marcador de contenido 9">
            <a:extLst>
              <a:ext uri="{FF2B5EF4-FFF2-40B4-BE49-F238E27FC236}">
                <a16:creationId xmlns:a16="http://schemas.microsoft.com/office/drawing/2014/main" id="{4FF8B9F2-2969-417B-5E7D-20D369916FEE}"/>
              </a:ext>
            </a:extLst>
          </p:cNvPr>
          <p:cNvPicPr>
            <a:picLocks noGrp="1" noChangeAspect="1"/>
          </p:cNvPicPr>
          <p:nvPr>
            <p:ph idx="1"/>
          </p:nvPr>
        </p:nvPicPr>
        <p:blipFill>
          <a:blip r:embed="rId2"/>
          <a:stretch>
            <a:fillRect/>
          </a:stretch>
        </p:blipFill>
        <p:spPr>
          <a:xfrm>
            <a:off x="988624" y="1805305"/>
            <a:ext cx="6219049" cy="3498215"/>
          </a:xfrm>
          <a:prstGeom prst="rect">
            <a:avLst/>
          </a:prstGeom>
        </p:spPr>
      </p:pic>
      <p:sp>
        <p:nvSpPr>
          <p:cNvPr id="12" name="CuadroTexto 11">
            <a:extLst>
              <a:ext uri="{FF2B5EF4-FFF2-40B4-BE49-F238E27FC236}">
                <a16:creationId xmlns:a16="http://schemas.microsoft.com/office/drawing/2014/main" id="{8B25EF73-B2BF-C99F-2E9C-08D16C8AEDDE}"/>
              </a:ext>
            </a:extLst>
          </p:cNvPr>
          <p:cNvSpPr txBox="1"/>
          <p:nvPr/>
        </p:nvSpPr>
        <p:spPr>
          <a:xfrm>
            <a:off x="7396480" y="1857315"/>
            <a:ext cx="4470400" cy="3416320"/>
          </a:xfrm>
          <a:prstGeom prst="rect">
            <a:avLst/>
          </a:prstGeom>
          <a:noFill/>
        </p:spPr>
        <p:txBody>
          <a:bodyPr wrap="square">
            <a:spAutoFit/>
          </a:bodyPr>
          <a:lstStyle/>
          <a:p>
            <a:pPr algn="just">
              <a:buNone/>
            </a:pPr>
            <a:r>
              <a:rPr lang="es-MX" b="1" dirty="0">
                <a:latin typeface="+mj-lt"/>
              </a:rPr>
              <a:t>se ingresó el código </a:t>
            </a:r>
            <a:r>
              <a:rPr lang="es-MX" b="1" dirty="0" err="1">
                <a:latin typeface="+mj-lt"/>
              </a:rPr>
              <a:t>int</a:t>
            </a:r>
            <a:r>
              <a:rPr lang="es-MX" b="1" dirty="0">
                <a:latin typeface="+mj-lt"/>
              </a:rPr>
              <a:t> 5x = 10; El sistema identifica correctamente cada uno de los elementos del código fuente y clasifica los tokens correspondientes. En este caso, el lexema 5x es detectado como ERROR_LEXICO, ya que los identificadores dentro de un lenguaje de programación no pueden comenzar con un número.</a:t>
            </a:r>
          </a:p>
          <a:p>
            <a:pPr algn="just">
              <a:buNone/>
            </a:pPr>
            <a:r>
              <a:rPr lang="es-MX" b="1" dirty="0">
                <a:latin typeface="+mj-lt"/>
              </a:rPr>
              <a:t>El resultado mostrado por la aplicación confirma que el analizador léxico es capaz de detectar errores en la estructura de los lexemas y clasificarlos correctamente.</a:t>
            </a:r>
          </a:p>
        </p:txBody>
      </p:sp>
    </p:spTree>
    <p:extLst>
      <p:ext uri="{BB962C8B-B14F-4D97-AF65-F5344CB8AC3E}">
        <p14:creationId xmlns:p14="http://schemas.microsoft.com/office/powerpoint/2010/main" val="28485373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2A5667-C912-4A4B-2B2B-C6DF75F09331}"/>
              </a:ext>
            </a:extLst>
          </p:cNvPr>
          <p:cNvSpPr>
            <a:spLocks noGrp="1"/>
          </p:cNvSpPr>
          <p:nvPr>
            <p:ph type="title"/>
          </p:nvPr>
        </p:nvSpPr>
        <p:spPr/>
        <p:txBody>
          <a:bodyPr/>
          <a:lstStyle/>
          <a:p>
            <a:r>
              <a:rPr lang="es-MX" b="1" dirty="0">
                <a:solidFill>
                  <a:schemeClr val="accent1"/>
                </a:solidFill>
              </a:rPr>
              <a:t>Resultados</a:t>
            </a:r>
          </a:p>
        </p:txBody>
      </p:sp>
      <p:sp>
        <p:nvSpPr>
          <p:cNvPr id="9" name="Marcador de contenido 8">
            <a:extLst>
              <a:ext uri="{FF2B5EF4-FFF2-40B4-BE49-F238E27FC236}">
                <a16:creationId xmlns:a16="http://schemas.microsoft.com/office/drawing/2014/main" id="{D065E4C1-493A-49A6-AB51-79B1CFC420F9}"/>
              </a:ext>
            </a:extLst>
          </p:cNvPr>
          <p:cNvSpPr>
            <a:spLocks noGrp="1"/>
          </p:cNvSpPr>
          <p:nvPr>
            <p:ph idx="1"/>
          </p:nvPr>
        </p:nvSpPr>
        <p:spPr/>
        <p:txBody>
          <a:bodyPr>
            <a:normAutofit/>
          </a:bodyPr>
          <a:lstStyle/>
          <a:p>
            <a:pPr marL="0" indent="0" algn="just">
              <a:buNone/>
            </a:pPr>
            <a:r>
              <a:rPr lang="es-MX" dirty="0"/>
              <a:t>La aplicación desarrollada permitió identificar correctamente los diferentes tokens presentes en un fragmento de código fuente. La interfaz gráfica facilitó la visualización del proceso de análisis léxico y permitió observar cómo cada lexema es clasificado según su tipo.</a:t>
            </a:r>
          </a:p>
          <a:p>
            <a:pPr marL="0" indent="0">
              <a:buNone/>
            </a:pPr>
            <a:endParaRPr lang="es-MX" dirty="0"/>
          </a:p>
        </p:txBody>
      </p:sp>
    </p:spTree>
    <p:extLst>
      <p:ext uri="{BB962C8B-B14F-4D97-AF65-F5344CB8AC3E}">
        <p14:creationId xmlns:p14="http://schemas.microsoft.com/office/powerpoint/2010/main" val="1437515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30AC5D9-9FD1-99B5-CB0C-FC5B34DE4F9B}"/>
              </a:ext>
            </a:extLst>
          </p:cNvPr>
          <p:cNvSpPr>
            <a:spLocks noGrp="1"/>
          </p:cNvSpPr>
          <p:nvPr>
            <p:ph idx="1"/>
          </p:nvPr>
        </p:nvSpPr>
        <p:spPr>
          <a:xfrm>
            <a:off x="733425" y="777875"/>
            <a:ext cx="10515600" cy="4351338"/>
          </a:xfrm>
        </p:spPr>
        <p:txBody>
          <a:bodyPr>
            <a:normAutofit fontScale="92500"/>
          </a:bodyPr>
          <a:lstStyle/>
          <a:p>
            <a:pPr marL="0" indent="0">
              <a:buNone/>
            </a:pPr>
            <a:r>
              <a:rPr lang="es-MX" sz="4400" b="1" dirty="0">
                <a:solidFill>
                  <a:schemeClr val="accent1"/>
                </a:solidFill>
                <a:latin typeface="+mj-lt"/>
              </a:rPr>
              <a:t>Conclusión</a:t>
            </a:r>
          </a:p>
          <a:p>
            <a:pPr marL="0" indent="0">
              <a:buNone/>
            </a:pPr>
            <a:endParaRPr lang="es-MX" dirty="0"/>
          </a:p>
          <a:p>
            <a:pPr marL="0" indent="0">
              <a:buNone/>
            </a:pPr>
            <a:r>
              <a:rPr lang="es-MX" dirty="0"/>
              <a:t>La práctica permitió comprender el funcionamiento del análisis léxico dentro del proceso de compilación de un lenguaje de programación. Mediante la implementación de una aplicación en </a:t>
            </a:r>
            <a:r>
              <a:rPr lang="es-MX" dirty="0" err="1"/>
              <a:t>JavaFX</a:t>
            </a:r>
            <a:r>
              <a:rPr lang="es-MX" dirty="0"/>
              <a:t> se logró desarrollar un analizador léxico básico capaz de identificar tokens y detectar errores léxicos.</a:t>
            </a:r>
          </a:p>
          <a:p>
            <a:pPr marL="0" indent="0">
              <a:buNone/>
            </a:pPr>
            <a:r>
              <a:rPr lang="es-MX" dirty="0"/>
              <a:t>Además, el uso de una interfaz gráfica permitió representar de forma clara el proceso de análisis del código fuente, facilitando la comprensión de los conceptos estudiados en la asignatura de Lenguajes y Autómatas.</a:t>
            </a:r>
          </a:p>
          <a:p>
            <a:pPr marL="0" indent="0" algn="just">
              <a:buNone/>
            </a:pPr>
            <a:endParaRPr lang="es-MX" dirty="0"/>
          </a:p>
          <a:p>
            <a:endParaRPr lang="es-MX" dirty="0"/>
          </a:p>
        </p:txBody>
      </p:sp>
    </p:spTree>
    <p:extLst>
      <p:ext uri="{BB962C8B-B14F-4D97-AF65-F5344CB8AC3E}">
        <p14:creationId xmlns:p14="http://schemas.microsoft.com/office/powerpoint/2010/main" val="41559223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A54FE77-291F-6D16-F325-E56C3DDE4617}"/>
              </a:ext>
            </a:extLst>
          </p:cNvPr>
          <p:cNvSpPr>
            <a:spLocks noGrp="1"/>
          </p:cNvSpPr>
          <p:nvPr>
            <p:ph idx="1"/>
          </p:nvPr>
        </p:nvSpPr>
        <p:spPr>
          <a:xfrm>
            <a:off x="838200" y="892174"/>
            <a:ext cx="10515600" cy="5108575"/>
          </a:xfrm>
        </p:spPr>
        <p:txBody>
          <a:bodyPr>
            <a:normAutofit/>
          </a:bodyPr>
          <a:lstStyle/>
          <a:p>
            <a:pPr marL="0" indent="0">
              <a:buNone/>
            </a:pPr>
            <a:r>
              <a:rPr lang="en-US" sz="4400" b="1" dirty="0">
                <a:solidFill>
                  <a:schemeClr val="accent1"/>
                </a:solidFill>
                <a:latin typeface="+mj-lt"/>
              </a:rPr>
              <a:t>Fuente De Informacion</a:t>
            </a:r>
            <a:endParaRPr lang="es-MX" sz="4400" b="1" dirty="0">
              <a:solidFill>
                <a:schemeClr val="accent1"/>
              </a:solidFill>
              <a:latin typeface="+mj-lt"/>
            </a:endParaRPr>
          </a:p>
          <a:p>
            <a:pPr algn="just">
              <a:buFont typeface="Wingdings" panose="05000000000000000000" pitchFamily="2" charset="2"/>
              <a:buChar char="Ø"/>
            </a:pPr>
            <a:r>
              <a:rPr lang="es-MX" dirty="0"/>
              <a:t>LYA1 – Lenguajes y Autómatas I. Repositorio en GitHub.</a:t>
            </a:r>
            <a:br>
              <a:rPr lang="es-MX" dirty="0"/>
            </a:br>
            <a:r>
              <a:rPr lang="es-MX" dirty="0">
                <a:hlinkClick r:id="rId2">
                  <a:extLst>
                    <a:ext uri="{A12FA001-AC4F-418D-AE19-62706E023703}">
                      <ahyp:hlinkClr xmlns:ahyp="http://schemas.microsoft.com/office/drawing/2018/hyperlinkcolor" val="tx"/>
                    </a:ext>
                  </a:extLst>
                </a:hlinkClick>
              </a:rPr>
              <a:t>https://github.com/rafaelrav8770/LYA1.git</a:t>
            </a:r>
            <a:endParaRPr lang="es-MX" dirty="0"/>
          </a:p>
          <a:p>
            <a:pPr algn="just">
              <a:buFont typeface="Wingdings" panose="05000000000000000000" pitchFamily="2" charset="2"/>
              <a:buChar char="Ø"/>
            </a:pPr>
            <a:r>
              <a:rPr lang="en-US" dirty="0" err="1"/>
              <a:t>GeeksforGeeks</a:t>
            </a:r>
            <a:r>
              <a:rPr lang="en-US" dirty="0"/>
              <a:t>. Lexical Analysis in Compiler Design. </a:t>
            </a:r>
            <a:r>
              <a:rPr lang="en-US" dirty="0">
                <a:hlinkClick r:id="rId3">
                  <a:extLst>
                    <a:ext uri="{A12FA001-AC4F-418D-AE19-62706E023703}">
                      <ahyp:hlinkClr xmlns:ahyp="http://schemas.microsoft.com/office/drawing/2018/hyperlinkcolor" val="tx"/>
                    </a:ext>
                  </a:extLst>
                </a:hlinkClick>
              </a:rPr>
              <a:t>https://www.geeksforgeeks.org/compiler-design/introduction-of-lexical-analysis/</a:t>
            </a:r>
            <a:endParaRPr lang="en-US" dirty="0"/>
          </a:p>
          <a:p>
            <a:pPr algn="just">
              <a:buFont typeface="Wingdings" panose="05000000000000000000" pitchFamily="2" charset="2"/>
              <a:buChar char="Ø"/>
            </a:pPr>
            <a:r>
              <a:rPr lang="es-MX" dirty="0"/>
              <a:t>Programación. Analizador léxico en Java paso a paso Video. YouTube. </a:t>
            </a:r>
            <a:r>
              <a:rPr lang="es-MX" dirty="0">
                <a:hlinkClick r:id="rId4">
                  <a:extLst>
                    <a:ext uri="{A12FA001-AC4F-418D-AE19-62706E023703}">
                      <ahyp:hlinkClr xmlns:ahyp="http://schemas.microsoft.com/office/drawing/2018/hyperlinkcolor" val="tx"/>
                    </a:ext>
                  </a:extLst>
                </a:hlinkClick>
              </a:rPr>
              <a:t>https://youtu.be/hhBQ4KgO1gg</a:t>
            </a:r>
            <a:endParaRPr lang="es-MX" dirty="0"/>
          </a:p>
          <a:p>
            <a:pPr algn="just">
              <a:buFont typeface="Wingdings" panose="05000000000000000000" pitchFamily="2" charset="2"/>
              <a:buChar char="Ø"/>
            </a:pPr>
            <a:r>
              <a:rPr lang="es-MX" dirty="0"/>
              <a:t>Moreno, J. 07 2 Un analizador léxico Video. YouTube. </a:t>
            </a:r>
            <a:r>
              <a:rPr lang="es-MX" dirty="0">
                <a:hlinkClick r:id="rId5"/>
              </a:rPr>
              <a:t>https://youtu.be/fnpgcR6nFE0</a:t>
            </a:r>
            <a:endParaRPr lang="es-MX" dirty="0"/>
          </a:p>
        </p:txBody>
      </p:sp>
    </p:spTree>
    <p:extLst>
      <p:ext uri="{BB962C8B-B14F-4D97-AF65-F5344CB8AC3E}">
        <p14:creationId xmlns:p14="http://schemas.microsoft.com/office/powerpoint/2010/main" val="200353600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1653</TotalTime>
  <Words>1235</Words>
  <Application>Microsoft Office PowerPoint</Application>
  <PresentationFormat>Panorámica</PresentationFormat>
  <Paragraphs>100</Paragraphs>
  <Slides>19</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Arial</vt:lpstr>
      <vt:lpstr>Calibri</vt:lpstr>
      <vt:lpstr>Calibri Light</vt:lpstr>
      <vt:lpstr>Courier New</vt:lpstr>
      <vt:lpstr>Wingdings</vt:lpstr>
      <vt:lpstr>Tema de Office</vt:lpstr>
      <vt:lpstr>Presentación de PowerPoint</vt:lpstr>
      <vt:lpstr>Presentación de PowerPoint</vt:lpstr>
      <vt:lpstr>Presentación de PowerPoint</vt:lpstr>
      <vt:lpstr>Justificacion </vt:lpstr>
      <vt:lpstr>Presentación de PowerPoint</vt:lpstr>
      <vt:lpstr>Token</vt:lpstr>
      <vt:lpstr>Lexema</vt:lpstr>
      <vt:lpstr>Error Léxico</vt:lpstr>
      <vt:lpstr>JavaFX</vt:lpstr>
      <vt:lpstr>Descripción del sistema</vt:lpstr>
      <vt:lpstr>Componentes de la interfaz</vt:lpstr>
      <vt:lpstr>Funcionamiento del programa</vt:lpstr>
      <vt:lpstr>Implementación (Código JavaFX)</vt:lpstr>
      <vt:lpstr>Prueba 1</vt:lpstr>
      <vt:lpstr>Prueba 2</vt:lpstr>
      <vt:lpstr>Prueba 3</vt:lpstr>
      <vt:lpstr>Resultados</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rafael aquino villanueva</dc:creator>
  <cp:lastModifiedBy>rafael aquino villanueva</cp:lastModifiedBy>
  <cp:revision>18</cp:revision>
  <dcterms:created xsi:type="dcterms:W3CDTF">2026-02-14T13:39:49Z</dcterms:created>
  <dcterms:modified xsi:type="dcterms:W3CDTF">2026-03-12T03:35:21Z</dcterms:modified>
</cp:coreProperties>
</file>