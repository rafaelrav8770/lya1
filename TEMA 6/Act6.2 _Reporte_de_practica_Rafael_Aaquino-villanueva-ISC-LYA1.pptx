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3" r:id="rId3"/>
    <p:sldId id="258" r:id="rId4"/>
    <p:sldId id="284" r:id="rId5"/>
    <p:sldId id="306" r:id="rId6"/>
    <p:sldId id="294" r:id="rId7"/>
    <p:sldId id="287" r:id="rId8"/>
    <p:sldId id="307" r:id="rId9"/>
    <p:sldId id="296" r:id="rId10"/>
    <p:sldId id="308" r:id="rId11"/>
    <p:sldId id="309" r:id="rId12"/>
    <p:sldId id="301" r:id="rId13"/>
    <p:sldId id="297" r:id="rId14"/>
    <p:sldId id="302" r:id="rId15"/>
    <p:sldId id="303" r:id="rId16"/>
    <p:sldId id="304" r:id="rId17"/>
    <p:sldId id="305" r:id="rId18"/>
    <p:sldId id="283" r:id="rId19"/>
    <p:sldId id="260" r:id="rId20"/>
    <p:sldId id="264"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3" d="100"/>
          <a:sy n="33" d="100"/>
        </p:scale>
        <p:origin x="643" y="10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26/03/2026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youtu.be/MeTot6geLCg" TargetMode="External"/><Relationship Id="rId3" Type="http://schemas.openxmlformats.org/officeDocument/2006/relationships/hyperlink" Target="https://www.uhu.es/francisco.moreno/gii_mac/docs/Tema_5.pdf" TargetMode="External"/><Relationship Id="rId7" Type="http://schemas.openxmlformats.org/officeDocument/2006/relationships/hyperlink" Target="https://youtu.be/G0p5sFQ7CbM" TargetMode="External"/><Relationship Id="rId2" Type="http://schemas.openxmlformats.org/officeDocument/2006/relationships/hyperlink" Target="https://github.com/rafaelrav8770/LYA1.git" TargetMode="External"/><Relationship Id="rId1" Type="http://schemas.openxmlformats.org/officeDocument/2006/relationships/slideLayout" Target="../slideLayouts/slideLayout2.xml"/><Relationship Id="rId6" Type="http://schemas.openxmlformats.org/officeDocument/2006/relationships/hyperlink" Target="https://youtu.be/Ylcv7M-9E6g" TargetMode="External"/><Relationship Id="rId5" Type="http://schemas.openxmlformats.org/officeDocument/2006/relationships/hyperlink" Target="https://youtu.be/sCa6SUzxLLQ" TargetMode="External"/><Relationship Id="rId4" Type="http://schemas.openxmlformats.org/officeDocument/2006/relationships/hyperlink" Target="https://plato.stanford.edu/entries/turing-machin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627561"/>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6</a:t>
            </a:r>
            <a:r>
              <a:rPr lang="es-MX" sz="2000" b="1" kern="0" dirty="0">
                <a:effectLst/>
                <a:latin typeface="Arial" panose="020B0604020202020204" pitchFamily="34" charset="0"/>
                <a:ea typeface="Arial" panose="020B0604020202020204" pitchFamily="34" charset="0"/>
                <a:cs typeface="Arial" panose="020B0604020202020204" pitchFamily="34" charset="0"/>
              </a:rPr>
              <a:t>.2 –REPORTE </a:t>
            </a:r>
            <a:r>
              <a:rPr lang="es-MX" sz="2000" b="1" kern="0" dirty="0">
                <a:latin typeface="Arial" panose="020B0604020202020204" pitchFamily="34" charset="0"/>
                <a:cs typeface="Arial" panose="020B0604020202020204" pitchFamily="34" charset="0"/>
              </a:rPr>
              <a:t>DE PRACTICA </a:t>
            </a:r>
            <a:r>
              <a:rPr lang="es-MX" dirty="0"/>
              <a:t>	</a:t>
            </a: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a:latin typeface="Arial" panose="020B0604020202020204" pitchFamily="34" charset="0"/>
                <a:ea typeface="Times New Roman" panose="02020603050405020304" pitchFamily="18" charset="0"/>
                <a:cs typeface="Arial" panose="020B0604020202020204" pitchFamily="34" charset="0"/>
              </a:rPr>
              <a:t>28 </a:t>
            </a:r>
            <a:r>
              <a:rPr lang="es-MX" sz="2000" b="1" kern="0" dirty="0">
                <a:latin typeface="Arial" panose="020B0604020202020204" pitchFamily="34" charset="0"/>
                <a:ea typeface="Times New Roman" panose="02020603050405020304" pitchFamily="18" charset="0"/>
                <a:cs typeface="Arial" panose="020B0604020202020204" pitchFamily="34" charset="0"/>
              </a:rPr>
              <a:t>DE MARZO</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742950"/>
            <a:ext cx="10515600" cy="5129213"/>
          </a:xfrm>
          <a:ln>
            <a:solidFill>
              <a:schemeClr val="accent5">
                <a:lumMod val="75000"/>
              </a:schemeClr>
            </a:solidFill>
          </a:ln>
        </p:spPr>
        <p:txBody>
          <a:bodyPr>
            <a:normAutofit lnSpcReduction="10000"/>
          </a:bodyPr>
          <a:lstStyle/>
          <a:p>
            <a:pPr marL="0" indent="0">
              <a:buNone/>
            </a:pPr>
            <a:r>
              <a:rPr lang="es-MX" sz="4400" b="1" kern="0" dirty="0">
                <a:solidFill>
                  <a:schemeClr val="accent1"/>
                </a:solidFill>
                <a:latin typeface="+mj-lt"/>
                <a:cs typeface="Arial" panose="020B0604020202020204" pitchFamily="34" charset="0"/>
              </a:rPr>
              <a:t>Introducción</a:t>
            </a:r>
          </a:p>
          <a:p>
            <a:pPr marL="0" indent="0" algn="just">
              <a:buNone/>
            </a:pPr>
            <a:r>
              <a:rPr lang="es-MX" dirty="0"/>
              <a:t>Máquinas de Turing constituyen un modelo fundamental dentro de la teoría de la computación, ya que permiten representar el funcionamiento de cualquier algoritmo mediante un conjunto de reglas de transición. Este modelo describe cómo una máquina procesa información a través de la lectura y escritura de símbolos en una cinta infinita.</a:t>
            </a:r>
          </a:p>
          <a:p>
            <a:pPr marL="0" indent="0" algn="just">
              <a:buNone/>
            </a:pPr>
            <a:r>
              <a:rPr lang="es-MX" dirty="0"/>
              <a:t>En esta actividad se implementa una simulación de una Máquina de Turing utilizando </a:t>
            </a:r>
            <a:r>
              <a:rPr lang="es-MX" dirty="0" err="1"/>
              <a:t>JavaFX</a:t>
            </a:r>
            <a:r>
              <a:rPr lang="es-MX" dirty="0"/>
              <a:t>, lo que permite visualizar el comportamiento del modelo de manera interactiva. A través de esta simulación, se analiza el reconocimiento de cadenas y el funcionamiento paso a paso de la máquina.</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773906"/>
            <a:ext cx="10515600" cy="5310188"/>
          </a:xfrm>
        </p:spPr>
        <p:txBody>
          <a:bodyPr/>
          <a:lstStyle/>
          <a:p>
            <a:pPr marL="0" indent="0">
              <a:buNone/>
            </a:pPr>
            <a:r>
              <a:rPr lang="es-MX" sz="4400" b="1" dirty="0">
                <a:solidFill>
                  <a:schemeClr val="accent1"/>
                </a:solidFill>
                <a:latin typeface="+mj-lt"/>
              </a:rPr>
              <a:t>Objetivo</a:t>
            </a:r>
          </a:p>
          <a:p>
            <a:pPr marL="0" indent="0">
              <a:buNone/>
            </a:pPr>
            <a:r>
              <a:rPr lang="es-MX" dirty="0"/>
              <a:t> </a:t>
            </a:r>
          </a:p>
          <a:p>
            <a:pPr marL="0" indent="0" algn="just">
              <a:buNone/>
            </a:pPr>
            <a:r>
              <a:rPr lang="es-MX" dirty="0"/>
              <a:t>Diseñar e implementar una simulación de una Máquina de Turing en </a:t>
            </a:r>
            <a:r>
              <a:rPr lang="es-MX" dirty="0" err="1"/>
              <a:t>JavaFX</a:t>
            </a:r>
            <a:r>
              <a:rPr lang="es-MX" dirty="0"/>
              <a:t> que permita reconocer cadenas del tipo aⁿbⁿ, mostrando su funcionamiento mediante una interfaz gráfica.</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687F3-E956-FF4E-0894-6AC9DD0B4EEF}"/>
              </a:ext>
            </a:extLst>
          </p:cNvPr>
          <p:cNvSpPr>
            <a:spLocks noGrp="1"/>
          </p:cNvSpPr>
          <p:nvPr>
            <p:ph type="title"/>
          </p:nvPr>
        </p:nvSpPr>
        <p:spPr/>
        <p:txBody>
          <a:bodyPr/>
          <a:lstStyle/>
          <a:p>
            <a:r>
              <a:rPr lang="es-MX" b="1" dirty="0">
                <a:solidFill>
                  <a:schemeClr val="accent1"/>
                </a:solidFill>
              </a:rPr>
              <a:t>Justificación</a:t>
            </a:r>
            <a:br>
              <a:rPr lang="es-MX" b="1" dirty="0">
                <a:solidFill>
                  <a:schemeClr val="accent1"/>
                </a:solidFill>
              </a:rPr>
            </a:br>
            <a:endParaRPr lang="es-MX" dirty="0"/>
          </a:p>
        </p:txBody>
      </p:sp>
      <p:sp>
        <p:nvSpPr>
          <p:cNvPr id="3" name="Marcador de contenido 2">
            <a:extLst>
              <a:ext uri="{FF2B5EF4-FFF2-40B4-BE49-F238E27FC236}">
                <a16:creationId xmlns:a16="http://schemas.microsoft.com/office/drawing/2014/main" id="{BB267B60-E550-E60E-CEC2-2760C07C7FE2}"/>
              </a:ext>
            </a:extLst>
          </p:cNvPr>
          <p:cNvSpPr>
            <a:spLocks noGrp="1"/>
          </p:cNvSpPr>
          <p:nvPr>
            <p:ph idx="1"/>
          </p:nvPr>
        </p:nvSpPr>
        <p:spPr>
          <a:xfrm>
            <a:off x="838200" y="1171575"/>
            <a:ext cx="10515600" cy="5005388"/>
          </a:xfrm>
        </p:spPr>
        <p:txBody>
          <a:bodyPr>
            <a:normAutofit/>
          </a:bodyPr>
          <a:lstStyle/>
          <a:p>
            <a:pPr marL="0" indent="0" algn="just">
              <a:buNone/>
            </a:pPr>
            <a:r>
              <a:rPr lang="es-MX" dirty="0"/>
              <a:t>El desarrollo de esta actividad permite aplicar los conocimientos teóricos de las Máquinas de Turing en un entorno práctico, fortaleciendo la comprensión del procesamiento de cadenas y las reglas de transición. La implementación en </a:t>
            </a:r>
            <a:r>
              <a:rPr lang="es-MX" dirty="0" err="1"/>
              <a:t>JavaFX</a:t>
            </a:r>
            <a:r>
              <a:rPr lang="es-MX" dirty="0"/>
              <a:t> facilita la visualización del comportamiento de la máquina, permitiendo observar cómo se realizan las operaciones de lectura, escritura y cambio de estados.</a:t>
            </a:r>
          </a:p>
          <a:p>
            <a:pPr marL="0" indent="0" algn="just">
              <a:buNone/>
            </a:pPr>
            <a:r>
              <a:rPr lang="es-MX" dirty="0"/>
              <a:t>Asimismo, esta actividad contribuye al desarrollo del pensamiento lógico y habilidades de programación, fundamentales en la formación de un ingeniero en sistemas.</a:t>
            </a:r>
          </a:p>
        </p:txBody>
      </p:sp>
    </p:spTree>
    <p:extLst>
      <p:ext uri="{BB962C8B-B14F-4D97-AF65-F5344CB8AC3E}">
        <p14:creationId xmlns:p14="http://schemas.microsoft.com/office/powerpoint/2010/main" val="4096733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86D5BB-1D7A-1C4D-B95C-A885E035C3DE}"/>
              </a:ext>
            </a:extLst>
          </p:cNvPr>
          <p:cNvSpPr>
            <a:spLocks noGrp="1"/>
          </p:cNvSpPr>
          <p:nvPr>
            <p:ph type="title"/>
          </p:nvPr>
        </p:nvSpPr>
        <p:spPr/>
        <p:txBody>
          <a:bodyPr/>
          <a:lstStyle/>
          <a:p>
            <a:r>
              <a:rPr lang="es-MX" b="1" dirty="0">
                <a:solidFill>
                  <a:schemeClr val="accent1"/>
                </a:solidFill>
              </a:rPr>
              <a:t>Máquina de Turing </a:t>
            </a:r>
            <a:br>
              <a:rPr lang="es-MX" b="1" dirty="0">
                <a:solidFill>
                  <a:schemeClr val="accent1"/>
                </a:solidFill>
              </a:rPr>
            </a:br>
            <a:endParaRPr lang="es-MX" dirty="0"/>
          </a:p>
        </p:txBody>
      </p:sp>
      <p:sp>
        <p:nvSpPr>
          <p:cNvPr id="3" name="Marcador de contenido 2">
            <a:extLst>
              <a:ext uri="{FF2B5EF4-FFF2-40B4-BE49-F238E27FC236}">
                <a16:creationId xmlns:a16="http://schemas.microsoft.com/office/drawing/2014/main" id="{B5DC8887-95C2-B83F-E946-E56CC79A8DF2}"/>
              </a:ext>
            </a:extLst>
          </p:cNvPr>
          <p:cNvSpPr>
            <a:spLocks noGrp="1"/>
          </p:cNvSpPr>
          <p:nvPr>
            <p:ph idx="1"/>
          </p:nvPr>
        </p:nvSpPr>
        <p:spPr>
          <a:xfrm>
            <a:off x="838200" y="1825625"/>
            <a:ext cx="9396663" cy="2810543"/>
          </a:xfrm>
        </p:spPr>
        <p:txBody>
          <a:bodyPr/>
          <a:lstStyle/>
          <a:p>
            <a:pPr marL="0" indent="0">
              <a:buNone/>
            </a:pPr>
            <a:r>
              <a:rPr lang="es-MX" dirty="0"/>
              <a:t>Una Máquina de Turing está compuesta por:</a:t>
            </a:r>
          </a:p>
          <a:p>
            <a:pPr>
              <a:buFont typeface="Wingdings" panose="05000000000000000000" pitchFamily="2" charset="2"/>
              <a:buChar char="Ø"/>
            </a:pPr>
            <a:r>
              <a:rPr lang="es-MX" dirty="0"/>
              <a:t>Una </a:t>
            </a:r>
            <a:r>
              <a:rPr lang="es-MX" b="1" dirty="0"/>
              <a:t>cinta infinita</a:t>
            </a:r>
            <a:r>
              <a:rPr lang="es-MX" dirty="0"/>
              <a:t> </a:t>
            </a:r>
          </a:p>
          <a:p>
            <a:pPr>
              <a:buFont typeface="Wingdings" panose="05000000000000000000" pitchFamily="2" charset="2"/>
              <a:buChar char="Ø"/>
            </a:pPr>
            <a:r>
              <a:rPr lang="es-MX" dirty="0"/>
              <a:t>Un </a:t>
            </a:r>
            <a:r>
              <a:rPr lang="es-MX" b="1" dirty="0"/>
              <a:t>cabezal de lectura/escritura</a:t>
            </a:r>
            <a:r>
              <a:rPr lang="es-MX" dirty="0"/>
              <a:t> </a:t>
            </a:r>
          </a:p>
          <a:p>
            <a:pPr>
              <a:buFont typeface="Wingdings" panose="05000000000000000000" pitchFamily="2" charset="2"/>
              <a:buChar char="Ø"/>
            </a:pPr>
            <a:r>
              <a:rPr lang="es-MX" dirty="0"/>
              <a:t>Un conjunto de </a:t>
            </a:r>
            <a:r>
              <a:rPr lang="es-MX" b="1" dirty="0"/>
              <a:t>estados</a:t>
            </a:r>
            <a:r>
              <a:rPr lang="es-MX" dirty="0"/>
              <a:t> </a:t>
            </a:r>
          </a:p>
          <a:p>
            <a:pPr>
              <a:buFont typeface="Wingdings" panose="05000000000000000000" pitchFamily="2" charset="2"/>
              <a:buChar char="Ø"/>
            </a:pPr>
            <a:r>
              <a:rPr lang="es-MX" dirty="0"/>
              <a:t>Una </a:t>
            </a:r>
            <a:r>
              <a:rPr lang="es-MX" b="1" dirty="0"/>
              <a:t>función de transición</a:t>
            </a:r>
            <a:endParaRPr lang="es-MX" dirty="0"/>
          </a:p>
          <a:p>
            <a:endParaRPr lang="es-MX" dirty="0"/>
          </a:p>
        </p:txBody>
      </p:sp>
      <p:sp>
        <p:nvSpPr>
          <p:cNvPr id="5" name="CuadroTexto 4">
            <a:extLst>
              <a:ext uri="{FF2B5EF4-FFF2-40B4-BE49-F238E27FC236}">
                <a16:creationId xmlns:a16="http://schemas.microsoft.com/office/drawing/2014/main" id="{CDD60A36-0FD7-2B8F-AC93-77CBD2A4F462}"/>
              </a:ext>
            </a:extLst>
          </p:cNvPr>
          <p:cNvSpPr txBox="1"/>
          <p:nvPr/>
        </p:nvSpPr>
        <p:spPr>
          <a:xfrm>
            <a:off x="7367338" y="3570776"/>
            <a:ext cx="3220452" cy="1200329"/>
          </a:xfrm>
          <a:prstGeom prst="rect">
            <a:avLst/>
          </a:prstGeom>
          <a:noFill/>
        </p:spPr>
        <p:txBody>
          <a:bodyPr wrap="square">
            <a:spAutoFit/>
          </a:bodyPr>
          <a:lstStyle/>
          <a:p>
            <a:r>
              <a:rPr lang="es-MX" dirty="0"/>
              <a:t>δ(q0, a) → (q1, X, R)</a:t>
            </a:r>
          </a:p>
          <a:p>
            <a:r>
              <a:rPr lang="es-MX" dirty="0"/>
              <a:t>δ(q1, a) → (q1, a, R)</a:t>
            </a:r>
          </a:p>
          <a:p>
            <a:r>
              <a:rPr lang="es-MX" dirty="0"/>
              <a:t>δ(q1, b) → (q2, Y, L)</a:t>
            </a:r>
          </a:p>
          <a:p>
            <a:r>
              <a:rPr lang="es-MX" dirty="0"/>
              <a:t>δ(q2, X) → (q0, X, R)</a:t>
            </a:r>
          </a:p>
        </p:txBody>
      </p:sp>
      <p:sp>
        <p:nvSpPr>
          <p:cNvPr id="7" name="CuadroTexto 6">
            <a:extLst>
              <a:ext uri="{FF2B5EF4-FFF2-40B4-BE49-F238E27FC236}">
                <a16:creationId xmlns:a16="http://schemas.microsoft.com/office/drawing/2014/main" id="{C993A37F-6AE6-9D45-F1E2-8549134CAF23}"/>
              </a:ext>
            </a:extLst>
          </p:cNvPr>
          <p:cNvSpPr txBox="1"/>
          <p:nvPr/>
        </p:nvSpPr>
        <p:spPr>
          <a:xfrm>
            <a:off x="6228348" y="5157479"/>
            <a:ext cx="6553200" cy="646331"/>
          </a:xfrm>
          <a:prstGeom prst="rect">
            <a:avLst/>
          </a:prstGeom>
          <a:noFill/>
        </p:spPr>
        <p:txBody>
          <a:bodyPr wrap="square">
            <a:spAutoFit/>
          </a:bodyPr>
          <a:lstStyle/>
          <a:p>
            <a:pPr>
              <a:buNone/>
            </a:pPr>
            <a:r>
              <a:rPr lang="es-MX" dirty="0"/>
              <a:t>Estas transiciones permiten marcar símbolos y verificar la correspondencia entre la cantidad de “a” y “b”.</a:t>
            </a:r>
          </a:p>
        </p:txBody>
      </p:sp>
      <p:sp>
        <p:nvSpPr>
          <p:cNvPr id="9" name="CuadroTexto 8">
            <a:extLst>
              <a:ext uri="{FF2B5EF4-FFF2-40B4-BE49-F238E27FC236}">
                <a16:creationId xmlns:a16="http://schemas.microsoft.com/office/drawing/2014/main" id="{8ABA71C0-E097-8467-9738-27885955B481}"/>
              </a:ext>
            </a:extLst>
          </p:cNvPr>
          <p:cNvSpPr txBox="1"/>
          <p:nvPr/>
        </p:nvSpPr>
        <p:spPr>
          <a:xfrm>
            <a:off x="7391401" y="3147930"/>
            <a:ext cx="6392778" cy="400110"/>
          </a:xfrm>
          <a:prstGeom prst="rect">
            <a:avLst/>
          </a:prstGeom>
          <a:noFill/>
        </p:spPr>
        <p:txBody>
          <a:bodyPr wrap="square">
            <a:spAutoFit/>
          </a:bodyPr>
          <a:lstStyle/>
          <a:p>
            <a:r>
              <a:rPr lang="es-MX" sz="2000" b="1" dirty="0" err="1"/>
              <a:t>EJemplos</a:t>
            </a:r>
            <a:r>
              <a:rPr lang="es-MX" sz="2000" b="1" dirty="0"/>
              <a:t> utilizadas:</a:t>
            </a:r>
          </a:p>
        </p:txBody>
      </p:sp>
    </p:spTree>
    <p:extLst>
      <p:ext uri="{BB962C8B-B14F-4D97-AF65-F5344CB8AC3E}">
        <p14:creationId xmlns:p14="http://schemas.microsoft.com/office/powerpoint/2010/main" val="323180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0D6D2C-3B39-6B7A-56D9-961AB3B9806A}"/>
              </a:ext>
            </a:extLst>
          </p:cNvPr>
          <p:cNvSpPr>
            <a:spLocks noGrp="1"/>
          </p:cNvSpPr>
          <p:nvPr>
            <p:ph type="title"/>
          </p:nvPr>
        </p:nvSpPr>
        <p:spPr/>
        <p:txBody>
          <a:bodyPr/>
          <a:lstStyle/>
          <a:p>
            <a:r>
              <a:rPr lang="es-MX" b="1" dirty="0">
                <a:solidFill>
                  <a:schemeClr val="accent1"/>
                </a:solidFill>
              </a:rPr>
              <a:t>Descripción de la Interfaz</a:t>
            </a:r>
            <a:endParaRPr lang="es-MX" dirty="0">
              <a:solidFill>
                <a:schemeClr val="accent1"/>
              </a:solidFill>
            </a:endParaRPr>
          </a:p>
        </p:txBody>
      </p:sp>
      <p:sp>
        <p:nvSpPr>
          <p:cNvPr id="3" name="Marcador de contenido 2">
            <a:extLst>
              <a:ext uri="{FF2B5EF4-FFF2-40B4-BE49-F238E27FC236}">
                <a16:creationId xmlns:a16="http://schemas.microsoft.com/office/drawing/2014/main" id="{CB5DA0C6-9224-7713-B7EE-707FEC0B8D2E}"/>
              </a:ext>
            </a:extLst>
          </p:cNvPr>
          <p:cNvSpPr>
            <a:spLocks noGrp="1"/>
          </p:cNvSpPr>
          <p:nvPr>
            <p:ph idx="1"/>
          </p:nvPr>
        </p:nvSpPr>
        <p:spPr>
          <a:xfrm>
            <a:off x="838200" y="1825625"/>
            <a:ext cx="5410200" cy="4351338"/>
          </a:xfrm>
        </p:spPr>
        <p:txBody>
          <a:bodyPr>
            <a:normAutofit lnSpcReduction="10000"/>
          </a:bodyPr>
          <a:lstStyle/>
          <a:p>
            <a:pPr marL="0" indent="0">
              <a:buNone/>
            </a:pPr>
            <a:r>
              <a:rPr lang="es-MX" dirty="0"/>
              <a:t>La interfaz gráfica fue desarrollada utilizando </a:t>
            </a:r>
            <a:r>
              <a:rPr lang="es-MX" dirty="0" err="1"/>
              <a:t>JavaFX</a:t>
            </a:r>
            <a:r>
              <a:rPr lang="es-MX" dirty="0"/>
              <a:t> y está compuesta por los siguientes elementos:</a:t>
            </a:r>
            <a:br>
              <a:rPr lang="es-MX" dirty="0"/>
            </a:br>
            <a:endParaRPr lang="es-MX" b="1" dirty="0"/>
          </a:p>
          <a:p>
            <a:pPr marL="0" indent="0">
              <a:buNone/>
            </a:pPr>
            <a:r>
              <a:rPr lang="es-MX" b="1" dirty="0" err="1"/>
              <a:t>TextField</a:t>
            </a:r>
            <a:r>
              <a:rPr lang="es-MX" b="1" dirty="0"/>
              <a:t>: </a:t>
            </a:r>
            <a:r>
              <a:rPr lang="es-MX" dirty="0"/>
              <a:t>permite ingresar la cadena </a:t>
            </a:r>
          </a:p>
          <a:p>
            <a:pPr marL="0" indent="0">
              <a:buNone/>
            </a:pPr>
            <a:r>
              <a:rPr lang="es-MX" b="1" dirty="0" err="1"/>
              <a:t>Button</a:t>
            </a:r>
            <a:r>
              <a:rPr lang="es-MX" b="1" dirty="0"/>
              <a:t>: </a:t>
            </a:r>
            <a:r>
              <a:rPr lang="es-MX" dirty="0"/>
              <a:t>ejecuta la simulación </a:t>
            </a:r>
          </a:p>
          <a:p>
            <a:pPr marL="0" indent="0">
              <a:buNone/>
            </a:pPr>
            <a:r>
              <a:rPr lang="es-MX" b="1" dirty="0" err="1"/>
              <a:t>TextArea</a:t>
            </a:r>
            <a:r>
              <a:rPr lang="es-MX" b="1" dirty="0"/>
              <a:t>: </a:t>
            </a:r>
            <a:r>
              <a:rPr lang="es-MX" dirty="0"/>
              <a:t>muestra el proceso paso a paso </a:t>
            </a:r>
          </a:p>
          <a:p>
            <a:pPr marL="0" indent="0">
              <a:buNone/>
            </a:pPr>
            <a:r>
              <a:rPr lang="es-MX" b="1" dirty="0" err="1"/>
              <a:t>Labels</a:t>
            </a:r>
            <a:r>
              <a:rPr lang="es-MX" b="1" dirty="0"/>
              <a:t>: </a:t>
            </a:r>
            <a:r>
              <a:rPr lang="es-MX" dirty="0"/>
              <a:t>indican el estado y resultado</a:t>
            </a:r>
          </a:p>
        </p:txBody>
      </p:sp>
      <p:pic>
        <p:nvPicPr>
          <p:cNvPr id="4" name="Imagen 3">
            <a:extLst>
              <a:ext uri="{FF2B5EF4-FFF2-40B4-BE49-F238E27FC236}">
                <a16:creationId xmlns:a16="http://schemas.microsoft.com/office/drawing/2014/main" id="{B6C80C8B-22A7-5D1F-306A-C61F3F725FCF}"/>
              </a:ext>
            </a:extLst>
          </p:cNvPr>
          <p:cNvPicPr>
            <a:picLocks noChangeAspect="1"/>
          </p:cNvPicPr>
          <p:nvPr/>
        </p:nvPicPr>
        <p:blipFill>
          <a:blip r:embed="rId2"/>
          <a:stretch>
            <a:fillRect/>
          </a:stretch>
        </p:blipFill>
        <p:spPr>
          <a:xfrm>
            <a:off x="6324601" y="1997393"/>
            <a:ext cx="5635413" cy="3169920"/>
          </a:xfrm>
          <a:prstGeom prst="rect">
            <a:avLst/>
          </a:prstGeom>
        </p:spPr>
      </p:pic>
    </p:spTree>
    <p:extLst>
      <p:ext uri="{BB962C8B-B14F-4D97-AF65-F5344CB8AC3E}">
        <p14:creationId xmlns:p14="http://schemas.microsoft.com/office/powerpoint/2010/main" val="140904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469C2B-6E6E-7C22-A8CF-D3F4F08C7288}"/>
              </a:ext>
            </a:extLst>
          </p:cNvPr>
          <p:cNvSpPr>
            <a:spLocks noGrp="1"/>
          </p:cNvSpPr>
          <p:nvPr>
            <p:ph type="title"/>
          </p:nvPr>
        </p:nvSpPr>
        <p:spPr/>
        <p:txBody>
          <a:bodyPr/>
          <a:lstStyle/>
          <a:p>
            <a:r>
              <a:rPr lang="es-MX" b="1" dirty="0" err="1">
                <a:solidFill>
                  <a:schemeClr val="accent1"/>
                </a:solidFill>
              </a:rPr>
              <a:t>JavaFX</a:t>
            </a:r>
            <a:endParaRPr lang="es-MX" b="1" dirty="0">
              <a:solidFill>
                <a:schemeClr val="accent1"/>
              </a:solidFill>
            </a:endParaRPr>
          </a:p>
        </p:txBody>
      </p:sp>
      <p:sp>
        <p:nvSpPr>
          <p:cNvPr id="3" name="Marcador de contenido 2">
            <a:extLst>
              <a:ext uri="{FF2B5EF4-FFF2-40B4-BE49-F238E27FC236}">
                <a16:creationId xmlns:a16="http://schemas.microsoft.com/office/drawing/2014/main" id="{B956856B-83EA-C2E3-67BD-E97560D6CFDB}"/>
              </a:ext>
            </a:extLst>
          </p:cNvPr>
          <p:cNvSpPr>
            <a:spLocks noGrp="1"/>
          </p:cNvSpPr>
          <p:nvPr>
            <p:ph idx="1"/>
          </p:nvPr>
        </p:nvSpPr>
        <p:spPr/>
        <p:txBody>
          <a:bodyPr/>
          <a:lstStyle/>
          <a:p>
            <a:pPr marL="0" indent="0" algn="just">
              <a:buNone/>
            </a:pPr>
            <a:r>
              <a:rPr lang="es-MX" dirty="0" err="1"/>
              <a:t>JavaFX</a:t>
            </a:r>
            <a:r>
              <a:rPr lang="es-MX" dirty="0"/>
              <a:t> es una biblioteca de Java utilizada para crear interfaces gráficas de usuario. En esta práctica se empleó para desarrollar una aplicación que permite simular el funcionamiento de una Máquina de Turing, donde el usuario puede ingresar cadenas y observar su procesamiento paso a paso.</a:t>
            </a:r>
          </a:p>
        </p:txBody>
      </p:sp>
    </p:spTree>
    <p:extLst>
      <p:ext uri="{BB962C8B-B14F-4D97-AF65-F5344CB8AC3E}">
        <p14:creationId xmlns:p14="http://schemas.microsoft.com/office/powerpoint/2010/main" val="1805315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3DA8DD-3843-397B-93EB-2EEA7E770CBB}"/>
              </a:ext>
            </a:extLst>
          </p:cNvPr>
          <p:cNvSpPr>
            <a:spLocks noGrp="1"/>
          </p:cNvSpPr>
          <p:nvPr>
            <p:ph type="title"/>
          </p:nvPr>
        </p:nvSpPr>
        <p:spPr/>
        <p:txBody>
          <a:bodyPr/>
          <a:lstStyle/>
          <a:p>
            <a:r>
              <a:rPr lang="es-MX" dirty="0"/>
              <a:t>FUNCIONAMIENTO DE LA MÁQUINA</a:t>
            </a:r>
          </a:p>
        </p:txBody>
      </p:sp>
      <p:sp>
        <p:nvSpPr>
          <p:cNvPr id="3" name="Marcador de contenido 2">
            <a:extLst>
              <a:ext uri="{FF2B5EF4-FFF2-40B4-BE49-F238E27FC236}">
                <a16:creationId xmlns:a16="http://schemas.microsoft.com/office/drawing/2014/main" id="{C18398C6-8676-7DC0-28D2-19D7E0D5CB97}"/>
              </a:ext>
            </a:extLst>
          </p:cNvPr>
          <p:cNvSpPr>
            <a:spLocks noGrp="1"/>
          </p:cNvSpPr>
          <p:nvPr>
            <p:ph idx="1"/>
          </p:nvPr>
        </p:nvSpPr>
        <p:spPr/>
        <p:txBody>
          <a:bodyPr/>
          <a:lstStyle/>
          <a:p>
            <a:pPr marL="0" indent="0">
              <a:buNone/>
            </a:pPr>
            <a:r>
              <a:rPr lang="es-MX" dirty="0"/>
              <a:t>La Máquina de Turing implementada opera de la siguiente manera:</a:t>
            </a:r>
          </a:p>
          <a:p>
            <a:r>
              <a:rPr lang="es-MX" dirty="0"/>
              <a:t>Busca el primer símbolo “a” y lo marca como </a:t>
            </a:r>
            <a:r>
              <a:rPr lang="es-MX" b="1" dirty="0"/>
              <a:t>X</a:t>
            </a:r>
            <a:r>
              <a:rPr lang="es-MX" dirty="0"/>
              <a:t> </a:t>
            </a:r>
          </a:p>
          <a:p>
            <a:r>
              <a:rPr lang="es-MX" dirty="0"/>
              <a:t>Se desplaza hacia la derecha hasta encontrar una “b” </a:t>
            </a:r>
          </a:p>
          <a:p>
            <a:r>
              <a:rPr lang="es-MX" dirty="0"/>
              <a:t>Marca la “b” como </a:t>
            </a:r>
            <a:r>
              <a:rPr lang="es-MX" b="1" dirty="0"/>
              <a:t>Y</a:t>
            </a:r>
            <a:r>
              <a:rPr lang="es-MX" dirty="0"/>
              <a:t> </a:t>
            </a:r>
          </a:p>
          <a:p>
            <a:r>
              <a:rPr lang="es-MX" dirty="0"/>
              <a:t>Regresa al inicio de la cadena </a:t>
            </a:r>
          </a:p>
          <a:p>
            <a:r>
              <a:rPr lang="es-MX" dirty="0"/>
              <a:t>Repite el proceso hasta terminar </a:t>
            </a:r>
          </a:p>
          <a:p>
            <a:r>
              <a:rPr lang="es-MX" dirty="0"/>
              <a:t>Si todos los símbolos fueron emparejados correctamente -&gt; </a:t>
            </a:r>
            <a:r>
              <a:rPr lang="es-MX" b="1" dirty="0"/>
              <a:t>ACEPTA</a:t>
            </a:r>
            <a:r>
              <a:rPr lang="es-MX" dirty="0"/>
              <a:t> </a:t>
            </a:r>
          </a:p>
          <a:p>
            <a:r>
              <a:rPr lang="es-MX" dirty="0"/>
              <a:t>Si hay inconsistencia -&gt; </a:t>
            </a:r>
            <a:r>
              <a:rPr lang="es-MX" b="1" dirty="0"/>
              <a:t>RECHAZA</a:t>
            </a:r>
            <a:endParaRPr lang="es-MX" dirty="0"/>
          </a:p>
          <a:p>
            <a:endParaRPr lang="es-MX" dirty="0"/>
          </a:p>
        </p:txBody>
      </p:sp>
    </p:spTree>
    <p:extLst>
      <p:ext uri="{BB962C8B-B14F-4D97-AF65-F5344CB8AC3E}">
        <p14:creationId xmlns:p14="http://schemas.microsoft.com/office/powerpoint/2010/main" val="876401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3D29A0-B3B9-9A18-F567-EDE9BED008D6}"/>
              </a:ext>
            </a:extLst>
          </p:cNvPr>
          <p:cNvSpPr>
            <a:spLocks noGrp="1"/>
          </p:cNvSpPr>
          <p:nvPr>
            <p:ph type="title"/>
          </p:nvPr>
        </p:nvSpPr>
        <p:spPr/>
        <p:txBody>
          <a:bodyPr/>
          <a:lstStyle/>
          <a:p>
            <a:r>
              <a:rPr lang="es-MX" b="1" dirty="0">
                <a:solidFill>
                  <a:schemeClr val="accent1"/>
                </a:solidFill>
              </a:rPr>
              <a:t>Implementación (Código </a:t>
            </a:r>
            <a:r>
              <a:rPr lang="es-MX" b="1" dirty="0" err="1">
                <a:solidFill>
                  <a:schemeClr val="accent1"/>
                </a:solidFill>
              </a:rPr>
              <a:t>JavaFX</a:t>
            </a:r>
            <a:r>
              <a:rPr lang="es-MX" b="1" dirty="0">
                <a:solidFill>
                  <a:schemeClr val="accent1"/>
                </a:solidFill>
              </a:rPr>
              <a:t>)</a:t>
            </a:r>
          </a:p>
        </p:txBody>
      </p:sp>
      <p:sp>
        <p:nvSpPr>
          <p:cNvPr id="4" name="Marcador de contenido 3">
            <a:extLst>
              <a:ext uri="{FF2B5EF4-FFF2-40B4-BE49-F238E27FC236}">
                <a16:creationId xmlns:a16="http://schemas.microsoft.com/office/drawing/2014/main" id="{5F2D8DB1-FA40-0979-5C36-9C6F337ECA94}"/>
              </a:ext>
            </a:extLst>
          </p:cNvPr>
          <p:cNvSpPr>
            <a:spLocks noGrp="1"/>
          </p:cNvSpPr>
          <p:nvPr>
            <p:ph idx="1"/>
          </p:nvPr>
        </p:nvSpPr>
        <p:spPr>
          <a:xfrm>
            <a:off x="838200" y="1690687"/>
            <a:ext cx="10515599" cy="4802188"/>
          </a:xfrm>
        </p:spPr>
        <p:txBody>
          <a:bodyPr>
            <a:normAutofit/>
          </a:bodyPr>
          <a:lstStyle/>
          <a:p>
            <a:pPr marL="0" indent="0" algn="just">
              <a:buNone/>
            </a:pPr>
            <a:r>
              <a:rPr lang="es-MX" dirty="0"/>
              <a:t>La implementación se realizó en Java utilizando </a:t>
            </a:r>
            <a:r>
              <a:rPr lang="es-MX" dirty="0" err="1"/>
              <a:t>JavaFX</a:t>
            </a:r>
            <a:r>
              <a:rPr lang="es-MX" dirty="0"/>
              <a:t> para la interfaz gráfica. El sistema simula una Máquina de Turing que reconoce cadenas del tipo aⁿbⁿ mediante la aplicación de reglas de transición. Durante la ejecución, la máquina lee, escribe y cambia de estado hasta determinar si la cadena es aceptada o rechazada.</a:t>
            </a:r>
          </a:p>
        </p:txBody>
      </p:sp>
    </p:spTree>
    <p:extLst>
      <p:ext uri="{BB962C8B-B14F-4D97-AF65-F5344CB8AC3E}">
        <p14:creationId xmlns:p14="http://schemas.microsoft.com/office/powerpoint/2010/main" val="3230841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31ACD5-B627-2A1E-A36A-614164759EF8}"/>
              </a:ext>
            </a:extLst>
          </p:cNvPr>
          <p:cNvSpPr>
            <a:spLocks noGrp="1"/>
          </p:cNvSpPr>
          <p:nvPr>
            <p:ph type="title"/>
          </p:nvPr>
        </p:nvSpPr>
        <p:spPr/>
        <p:txBody>
          <a:bodyPr/>
          <a:lstStyle/>
          <a:p>
            <a:r>
              <a:rPr lang="es-MX" b="1" dirty="0">
                <a:solidFill>
                  <a:schemeClr val="accent1"/>
                </a:solidFill>
              </a:rPr>
              <a:t>CÓDIGO</a:t>
            </a:r>
          </a:p>
        </p:txBody>
      </p:sp>
      <p:sp>
        <p:nvSpPr>
          <p:cNvPr id="3" name="Marcador de contenido 2">
            <a:extLst>
              <a:ext uri="{FF2B5EF4-FFF2-40B4-BE49-F238E27FC236}">
                <a16:creationId xmlns:a16="http://schemas.microsoft.com/office/drawing/2014/main" id="{30EF7FB0-3101-38CA-0A7A-3E7A981B69A7}"/>
              </a:ext>
            </a:extLst>
          </p:cNvPr>
          <p:cNvSpPr>
            <a:spLocks noGrp="1"/>
          </p:cNvSpPr>
          <p:nvPr>
            <p:ph idx="1"/>
          </p:nvPr>
        </p:nvSpPr>
        <p:spPr>
          <a:xfrm>
            <a:off x="838200" y="1460500"/>
            <a:ext cx="10515600" cy="5032375"/>
          </a:xfrm>
        </p:spPr>
        <p:txBody>
          <a:bodyPr numCol="2">
            <a:noAutofit/>
          </a:bodyPr>
          <a:lstStyle/>
          <a:p>
            <a:pPr marL="0" indent="0">
              <a:buNone/>
            </a:pPr>
            <a:r>
              <a:rPr lang="es-MX" sz="1400" b="1" dirty="0" err="1">
                <a:latin typeface="Consolas" panose="020B0609020204030204" pitchFamily="49" charset="0"/>
              </a:rPr>
              <a:t>private</a:t>
            </a:r>
            <a:r>
              <a:rPr lang="es-MX" sz="1400" b="1" dirty="0">
                <a:latin typeface="Consolas" panose="020B0609020204030204" pitchFamily="49" charset="0"/>
              </a:rPr>
              <a:t> </a:t>
            </a:r>
            <a:r>
              <a:rPr lang="es-MX" sz="1400" b="1" dirty="0" err="1">
                <a:latin typeface="Consolas" panose="020B0609020204030204" pitchFamily="49" charset="0"/>
              </a:rPr>
              <a:t>void</a:t>
            </a:r>
            <a:r>
              <a:rPr lang="es-MX" sz="1400" b="1" dirty="0">
                <a:latin typeface="Consolas" panose="020B0609020204030204" pitchFamily="49" charset="0"/>
              </a:rPr>
              <a:t> </a:t>
            </a:r>
            <a:r>
              <a:rPr lang="es-MX" sz="1400" b="1" dirty="0" err="1">
                <a:latin typeface="Consolas" panose="020B0609020204030204" pitchFamily="49" charset="0"/>
              </a:rPr>
              <a:t>runMachine</a:t>
            </a:r>
            <a:r>
              <a:rPr lang="es-MX" sz="1400" b="1" dirty="0">
                <a:latin typeface="Consolas" panose="020B0609020204030204" pitchFamily="49" charset="0"/>
              </a:rPr>
              <a:t>()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String</a:t>
            </a:r>
            <a:r>
              <a:rPr lang="es-MX" sz="1400" b="1" dirty="0">
                <a:latin typeface="Consolas" panose="020B0609020204030204" pitchFamily="49" charset="0"/>
              </a:rPr>
              <a:t> tape = </a:t>
            </a:r>
            <a:r>
              <a:rPr lang="es-MX" sz="1400" b="1" dirty="0" err="1">
                <a:latin typeface="Consolas" panose="020B0609020204030204" pitchFamily="49" charset="0"/>
              </a:rPr>
              <a:t>inputField.getText</a:t>
            </a:r>
            <a:r>
              <a:rPr lang="es-MX" sz="1400" b="1" dirty="0">
                <a:latin typeface="Consolas" panose="020B0609020204030204" pitchFamily="49" charset="0"/>
              </a:rPr>
              <a:t>();</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outputArea.clear</a:t>
            </a:r>
            <a:r>
              <a:rPr lang="es-MX" sz="1400" b="1" dirty="0">
                <a:latin typeface="Consolas" panose="020B0609020204030204" pitchFamily="49" charset="0"/>
              </a:rPr>
              <a:t>();</a:t>
            </a:r>
          </a:p>
          <a:p>
            <a:pPr marL="0" indent="0">
              <a:buNone/>
            </a:pPr>
            <a:endParaRPr lang="es-MX" sz="1400" b="1" dirty="0">
              <a:latin typeface="Consolas" panose="020B0609020204030204" pitchFamily="49" charset="0"/>
            </a:endParaRP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char</a:t>
            </a:r>
            <a:r>
              <a:rPr lang="es-MX" sz="1400" b="1" dirty="0">
                <a:latin typeface="Consolas" panose="020B0609020204030204" pitchFamily="49" charset="0"/>
              </a:rPr>
              <a:t>[] cinta = </a:t>
            </a:r>
            <a:r>
              <a:rPr lang="es-MX" sz="1400" b="1" dirty="0" err="1">
                <a:latin typeface="Consolas" panose="020B0609020204030204" pitchFamily="49" charset="0"/>
              </a:rPr>
              <a:t>tape.toCharArray</a:t>
            </a:r>
            <a:r>
              <a:rPr lang="es-MX" sz="1400" b="1" dirty="0">
                <a:latin typeface="Consolas" panose="020B0609020204030204" pitchFamily="49" charset="0"/>
              </a:rPr>
              <a:t>();</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int</a:t>
            </a:r>
            <a:r>
              <a:rPr lang="es-MX" sz="1400" b="1" dirty="0">
                <a:latin typeface="Consolas" panose="020B0609020204030204" pitchFamily="49" charset="0"/>
              </a:rPr>
              <a:t> head = 0;</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outputArea.appendText</a:t>
            </a:r>
            <a:r>
              <a:rPr lang="es-MX" sz="1400" b="1" dirty="0">
                <a:latin typeface="Consolas" panose="020B0609020204030204" pitchFamily="49" charset="0"/>
              </a:rPr>
              <a:t>("Estado inicial q0\n");</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while</a:t>
            </a:r>
            <a:r>
              <a:rPr lang="es-MX" sz="1400" b="1" dirty="0">
                <a:latin typeface="Consolas" panose="020B0609020204030204" pitchFamily="49" charset="0"/>
              </a:rPr>
              <a:t> (head &lt; </a:t>
            </a:r>
            <a:r>
              <a:rPr lang="es-MX" sz="1400" b="1" dirty="0" err="1">
                <a:latin typeface="Consolas" panose="020B0609020204030204" pitchFamily="49" charset="0"/>
              </a:rPr>
              <a:t>cinta.length</a:t>
            </a:r>
            <a:r>
              <a:rPr lang="es-MX" sz="1400" b="1" dirty="0">
                <a:latin typeface="Consolas" panose="020B0609020204030204" pitchFamily="49" charset="0"/>
              </a:rPr>
              <a:t>)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if</a:t>
            </a:r>
            <a:r>
              <a:rPr lang="es-MX" sz="1400" b="1" dirty="0">
                <a:latin typeface="Consolas" panose="020B0609020204030204" pitchFamily="49" charset="0"/>
              </a:rPr>
              <a:t> (cinta[head] == 'a')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outputArea.appendText</a:t>
            </a:r>
            <a:r>
              <a:rPr lang="es-MX" sz="1400" b="1" dirty="0">
                <a:latin typeface="Consolas" panose="020B0609020204030204" pitchFamily="49" charset="0"/>
              </a:rPr>
              <a:t>("q0: a -&gt; X, R\n");</a:t>
            </a:r>
          </a:p>
          <a:p>
            <a:pPr marL="0" indent="0">
              <a:buNone/>
            </a:pPr>
            <a:r>
              <a:rPr lang="es-MX" sz="1400" b="1" dirty="0">
                <a:latin typeface="Consolas" panose="020B0609020204030204" pitchFamily="49" charset="0"/>
              </a:rPr>
              <a:t>            cinta[head] = 'X';</a:t>
            </a:r>
          </a:p>
          <a:p>
            <a:pPr marL="0" indent="0">
              <a:buNone/>
            </a:pPr>
            <a:r>
              <a:rPr lang="es-MX" sz="1400" b="1" dirty="0">
                <a:latin typeface="Consolas" panose="020B0609020204030204" pitchFamily="49" charset="0"/>
              </a:rPr>
              <a:t>            head++;</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while</a:t>
            </a:r>
            <a:r>
              <a:rPr lang="es-MX" sz="1400" b="1" dirty="0">
                <a:latin typeface="Consolas" panose="020B0609020204030204" pitchFamily="49" charset="0"/>
              </a:rPr>
              <a:t> (head &lt; </a:t>
            </a:r>
            <a:r>
              <a:rPr lang="es-MX" sz="1400" b="1" dirty="0" err="1">
                <a:latin typeface="Consolas" panose="020B0609020204030204" pitchFamily="49" charset="0"/>
              </a:rPr>
              <a:t>cinta.length</a:t>
            </a:r>
            <a:r>
              <a:rPr lang="es-MX" sz="1400" b="1" dirty="0">
                <a:latin typeface="Consolas" panose="020B0609020204030204" pitchFamily="49" charset="0"/>
              </a:rPr>
              <a:t> &amp;&amp; cinta[head] == 'a') {</a:t>
            </a:r>
          </a:p>
          <a:p>
            <a:pPr marL="0" indent="0">
              <a:buNone/>
            </a:pPr>
            <a:r>
              <a:rPr lang="es-MX" sz="1400" b="1" dirty="0">
                <a:latin typeface="Consolas" panose="020B0609020204030204" pitchFamily="49" charset="0"/>
              </a:rPr>
              <a:t>                head++;</a:t>
            </a:r>
          </a:p>
          <a:p>
            <a:pPr marL="0" indent="0">
              <a:buNone/>
            </a:pPr>
            <a:r>
              <a:rPr lang="es-MX" sz="1400" b="1" dirty="0">
                <a:latin typeface="Consolas" panose="020B0609020204030204" pitchFamily="49" charset="0"/>
              </a:rPr>
              <a:t>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if</a:t>
            </a:r>
            <a:r>
              <a:rPr lang="es-MX" sz="1400" b="1" dirty="0">
                <a:latin typeface="Consolas" panose="020B0609020204030204" pitchFamily="49" charset="0"/>
              </a:rPr>
              <a:t> (head &lt; </a:t>
            </a:r>
            <a:r>
              <a:rPr lang="es-MX" sz="1400" b="1" dirty="0" err="1">
                <a:latin typeface="Consolas" panose="020B0609020204030204" pitchFamily="49" charset="0"/>
              </a:rPr>
              <a:t>cinta.length</a:t>
            </a:r>
            <a:r>
              <a:rPr lang="es-MX" sz="1400" b="1" dirty="0">
                <a:latin typeface="Consolas" panose="020B0609020204030204" pitchFamily="49" charset="0"/>
              </a:rPr>
              <a:t> &amp;&amp; cinta[head] == 'b')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outputArea.appendText</a:t>
            </a:r>
            <a:r>
              <a:rPr lang="es-MX" sz="1400" b="1" dirty="0">
                <a:latin typeface="Consolas" panose="020B0609020204030204" pitchFamily="49" charset="0"/>
              </a:rPr>
              <a:t>("q1: b -&gt; Y, L\n");</a:t>
            </a:r>
          </a:p>
          <a:p>
            <a:pPr marL="0" indent="0">
              <a:buNone/>
            </a:pPr>
            <a:r>
              <a:rPr lang="es-MX" sz="1400" b="1" dirty="0">
                <a:latin typeface="Consolas" panose="020B0609020204030204" pitchFamily="49" charset="0"/>
              </a:rPr>
              <a:t>                cinta[head] = 'Y';</a:t>
            </a:r>
          </a:p>
          <a:p>
            <a:pPr marL="0" indent="0">
              <a:buNone/>
            </a:pPr>
            <a:r>
              <a:rPr lang="es-MX" sz="1400" b="1" dirty="0">
                <a:latin typeface="Consolas" panose="020B0609020204030204" pitchFamily="49" charset="0"/>
              </a:rPr>
              <a:t>                head = 0;</a:t>
            </a:r>
          </a:p>
          <a:p>
            <a:pPr marL="0" indent="0">
              <a:buNone/>
            </a:pPr>
            <a:r>
              <a:rPr lang="es-MX" sz="1400" b="1" dirty="0">
                <a:latin typeface="Consolas" panose="020B0609020204030204" pitchFamily="49" charset="0"/>
              </a:rPr>
              <a:t>            } </a:t>
            </a:r>
            <a:r>
              <a:rPr lang="es-MX" sz="1400" b="1" dirty="0" err="1">
                <a:latin typeface="Consolas" panose="020B0609020204030204" pitchFamily="49" charset="0"/>
              </a:rPr>
              <a:t>else</a:t>
            </a:r>
            <a:r>
              <a:rPr lang="es-MX" sz="1400" b="1" dirty="0">
                <a:latin typeface="Consolas" panose="020B0609020204030204" pitchFamily="49" charset="0"/>
              </a:rPr>
              <a:t>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outputArea.setText</a:t>
            </a:r>
            <a:r>
              <a:rPr lang="es-MX" sz="1400" b="1" dirty="0">
                <a:latin typeface="Consolas" panose="020B0609020204030204" pitchFamily="49" charset="0"/>
              </a:rPr>
              <a:t>("Cadena RECHAZADA");</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return</a:t>
            </a:r>
            <a:r>
              <a:rPr lang="es-MX" sz="1400" b="1" dirty="0">
                <a:latin typeface="Consolas" panose="020B0609020204030204" pitchFamily="49" charset="0"/>
              </a:rPr>
              <a:t>;</a:t>
            </a:r>
          </a:p>
          <a:p>
            <a:pPr marL="0" indent="0">
              <a:buNone/>
            </a:pPr>
            <a:r>
              <a:rPr lang="es-MX" sz="1400" b="1" dirty="0">
                <a:latin typeface="Consolas" panose="020B0609020204030204" pitchFamily="49" charset="0"/>
              </a:rPr>
              <a:t>            }</a:t>
            </a:r>
          </a:p>
          <a:p>
            <a:pPr marL="0" indent="0">
              <a:buNone/>
            </a:pPr>
            <a:r>
              <a:rPr lang="es-MX" sz="1400" b="1" dirty="0">
                <a:latin typeface="Consolas" panose="020B0609020204030204" pitchFamily="49" charset="0"/>
              </a:rPr>
              <a:t>        } </a:t>
            </a:r>
            <a:r>
              <a:rPr lang="es-MX" sz="1400" b="1" dirty="0" err="1">
                <a:latin typeface="Consolas" panose="020B0609020204030204" pitchFamily="49" charset="0"/>
              </a:rPr>
              <a:t>else</a:t>
            </a:r>
            <a:r>
              <a:rPr lang="es-MX" sz="1400" b="1" dirty="0">
                <a:latin typeface="Consolas" panose="020B0609020204030204" pitchFamily="49" charset="0"/>
              </a:rPr>
              <a:t> {</a:t>
            </a:r>
          </a:p>
          <a:p>
            <a:pPr marL="0" indent="0">
              <a:buNone/>
            </a:pPr>
            <a:r>
              <a:rPr lang="es-MX" sz="1400" b="1" dirty="0">
                <a:latin typeface="Consolas" panose="020B0609020204030204" pitchFamily="49" charset="0"/>
              </a:rPr>
              <a:t>            head++;</a:t>
            </a:r>
          </a:p>
          <a:p>
            <a:pPr marL="0" indent="0">
              <a:buNone/>
            </a:pPr>
            <a:r>
              <a:rPr lang="es-MX" sz="1400" b="1" dirty="0">
                <a:latin typeface="Consolas" panose="020B0609020204030204" pitchFamily="49" charset="0"/>
              </a:rPr>
              <a:t>        }</a:t>
            </a:r>
          </a:p>
          <a:p>
            <a:pPr marL="0" indent="0">
              <a:buNone/>
            </a:pPr>
            <a:r>
              <a:rPr lang="es-MX" sz="1400" b="1" dirty="0">
                <a:latin typeface="Consolas" panose="020B0609020204030204" pitchFamily="49" charset="0"/>
              </a:rPr>
              <a:t>    }</a:t>
            </a:r>
          </a:p>
          <a:p>
            <a:pPr marL="0" indent="0">
              <a:buNone/>
            </a:pPr>
            <a:r>
              <a:rPr lang="es-MX" sz="1400" b="1" dirty="0">
                <a:latin typeface="Consolas" panose="020B0609020204030204" pitchFamily="49" charset="0"/>
              </a:rPr>
              <a:t>    </a:t>
            </a:r>
            <a:r>
              <a:rPr lang="es-MX" sz="1400" b="1" dirty="0" err="1">
                <a:latin typeface="Consolas" panose="020B0609020204030204" pitchFamily="49" charset="0"/>
              </a:rPr>
              <a:t>outputArea.appendText</a:t>
            </a:r>
            <a:r>
              <a:rPr lang="es-MX" sz="1400" b="1" dirty="0">
                <a:latin typeface="Consolas" panose="020B0609020204030204" pitchFamily="49" charset="0"/>
              </a:rPr>
              <a:t>("Cadena ACEPTADA");</a:t>
            </a:r>
          </a:p>
          <a:p>
            <a:pPr marL="0" indent="0">
              <a:buNone/>
            </a:pPr>
            <a:r>
              <a:rPr lang="es-MX" sz="1400" b="1" dirty="0">
                <a:latin typeface="Consolas" panose="020B0609020204030204" pitchFamily="49" charset="0"/>
              </a:rPr>
              <a:t>}</a:t>
            </a:r>
          </a:p>
        </p:txBody>
      </p:sp>
    </p:spTree>
    <p:extLst>
      <p:ext uri="{BB962C8B-B14F-4D97-AF65-F5344CB8AC3E}">
        <p14:creationId xmlns:p14="http://schemas.microsoft.com/office/powerpoint/2010/main" val="3116864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E0EB6D-0B0A-7D04-6EC6-D9249F7762A0}"/>
              </a:ext>
            </a:extLst>
          </p:cNvPr>
          <p:cNvSpPr>
            <a:spLocks noGrp="1"/>
          </p:cNvSpPr>
          <p:nvPr>
            <p:ph type="title"/>
          </p:nvPr>
        </p:nvSpPr>
        <p:spPr/>
        <p:txBody>
          <a:bodyPr/>
          <a:lstStyle/>
          <a:p>
            <a:r>
              <a:rPr lang="es-MX" dirty="0"/>
              <a:t>SIMULACIÓN DE LA MÁQUINA</a:t>
            </a:r>
          </a:p>
        </p:txBody>
      </p:sp>
      <p:sp>
        <p:nvSpPr>
          <p:cNvPr id="3" name="Marcador de contenido 2">
            <a:extLst>
              <a:ext uri="{FF2B5EF4-FFF2-40B4-BE49-F238E27FC236}">
                <a16:creationId xmlns:a16="http://schemas.microsoft.com/office/drawing/2014/main" id="{D51D14C7-2B3D-29D3-674E-89E0504463DB}"/>
              </a:ext>
            </a:extLst>
          </p:cNvPr>
          <p:cNvSpPr>
            <a:spLocks noGrp="1"/>
          </p:cNvSpPr>
          <p:nvPr>
            <p:ph idx="1"/>
          </p:nvPr>
        </p:nvSpPr>
        <p:spPr/>
        <p:txBody>
          <a:bodyPr/>
          <a:lstStyle/>
          <a:p>
            <a:pPr marL="0" indent="0">
              <a:buNone/>
            </a:pPr>
            <a:r>
              <a:rPr lang="es-MX" dirty="0"/>
              <a:t>La simulación de la Máquina de Turing se basa en la representación de sus componentes mediante estructuras de programación:</a:t>
            </a:r>
          </a:p>
          <a:p>
            <a:r>
              <a:rPr lang="es-MX" b="1" dirty="0"/>
              <a:t>Cinta</a:t>
            </a:r>
            <a:r>
              <a:rPr lang="es-MX" dirty="0"/>
              <a:t> -&gt; Arreglo de caracteres </a:t>
            </a:r>
          </a:p>
          <a:p>
            <a:r>
              <a:rPr lang="es-MX" b="1" dirty="0"/>
              <a:t>Cabezal</a:t>
            </a:r>
            <a:r>
              <a:rPr lang="es-MX" dirty="0"/>
              <a:t> -&gt; Índice de recorrido </a:t>
            </a:r>
          </a:p>
          <a:p>
            <a:r>
              <a:rPr lang="es-MX" b="1" dirty="0"/>
              <a:t>Estados</a:t>
            </a:r>
            <a:r>
              <a:rPr lang="es-MX" dirty="0"/>
              <a:t> -&gt; Representados mediante condiciones </a:t>
            </a:r>
          </a:p>
          <a:p>
            <a:r>
              <a:rPr lang="es-MX" b="1" dirty="0"/>
              <a:t>Marcado</a:t>
            </a:r>
            <a:r>
              <a:rPr lang="es-MX" dirty="0"/>
              <a:t> -&gt; Uso de símbolos X y </a:t>
            </a:r>
            <a:r>
              <a:rPr lang="es-MX" dirty="0" err="1"/>
              <a:t>Y</a:t>
            </a:r>
            <a:r>
              <a:rPr lang="es-MX" dirty="0"/>
              <a:t> </a:t>
            </a:r>
          </a:p>
          <a:p>
            <a:pPr marL="0" indent="0">
              <a:buNone/>
            </a:pPr>
            <a:endParaRPr lang="es-MX" dirty="0"/>
          </a:p>
          <a:p>
            <a:pPr marL="0" indent="0">
              <a:buNone/>
            </a:pPr>
            <a:r>
              <a:rPr lang="es-MX" dirty="0"/>
              <a:t>Esto permite replicar el comportamiento de una Máquina de Turing de manera visual.</a:t>
            </a:r>
          </a:p>
          <a:p>
            <a:endParaRPr lang="es-MX" dirty="0"/>
          </a:p>
        </p:txBody>
      </p:sp>
    </p:spTree>
    <p:extLst>
      <p:ext uri="{BB962C8B-B14F-4D97-AF65-F5344CB8AC3E}">
        <p14:creationId xmlns:p14="http://schemas.microsoft.com/office/powerpoint/2010/main" val="3213963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934581-619C-9A0D-A76F-750BBAA5B5E2}"/>
              </a:ext>
            </a:extLst>
          </p:cNvPr>
          <p:cNvSpPr>
            <a:spLocks noGrp="1"/>
          </p:cNvSpPr>
          <p:nvPr>
            <p:ph type="title"/>
          </p:nvPr>
        </p:nvSpPr>
        <p:spPr/>
        <p:txBody>
          <a:bodyPr/>
          <a:lstStyle/>
          <a:p>
            <a:r>
              <a:rPr lang="es-MX" b="1" dirty="0">
                <a:solidFill>
                  <a:schemeClr val="accent1"/>
                </a:solidFill>
              </a:rPr>
              <a:t>PRUEBAS REALIZADAS</a:t>
            </a:r>
          </a:p>
        </p:txBody>
      </p:sp>
      <p:graphicFrame>
        <p:nvGraphicFramePr>
          <p:cNvPr id="4" name="Marcador de contenido 3">
            <a:extLst>
              <a:ext uri="{FF2B5EF4-FFF2-40B4-BE49-F238E27FC236}">
                <a16:creationId xmlns:a16="http://schemas.microsoft.com/office/drawing/2014/main" id="{D84C131E-2379-0A01-CE1E-B6258B0C6DE9}"/>
              </a:ext>
            </a:extLst>
          </p:cNvPr>
          <p:cNvGraphicFramePr>
            <a:graphicFrameLocks noGrp="1"/>
          </p:cNvGraphicFramePr>
          <p:nvPr>
            <p:ph idx="1"/>
            <p:extLst>
              <p:ext uri="{D42A27DB-BD31-4B8C-83A1-F6EECF244321}">
                <p14:modId xmlns:p14="http://schemas.microsoft.com/office/powerpoint/2010/main" val="1620208306"/>
              </p:ext>
            </p:extLst>
          </p:nvPr>
        </p:nvGraphicFramePr>
        <p:xfrm>
          <a:off x="838200" y="2904014"/>
          <a:ext cx="10515600" cy="2194560"/>
        </p:xfrm>
        <a:graphic>
          <a:graphicData uri="http://schemas.openxmlformats.org/drawingml/2006/table">
            <a:tbl>
              <a:tblPr>
                <a:tableStyleId>{69CF1AB2-1976-4502-BF36-3FF5EA218861}</a:tableStyleId>
              </a:tblPr>
              <a:tblGrid>
                <a:gridCol w="5257800">
                  <a:extLst>
                    <a:ext uri="{9D8B030D-6E8A-4147-A177-3AD203B41FA5}">
                      <a16:colId xmlns:a16="http://schemas.microsoft.com/office/drawing/2014/main" val="1890045128"/>
                    </a:ext>
                  </a:extLst>
                </a:gridCol>
                <a:gridCol w="5257800">
                  <a:extLst>
                    <a:ext uri="{9D8B030D-6E8A-4147-A177-3AD203B41FA5}">
                      <a16:colId xmlns:a16="http://schemas.microsoft.com/office/drawing/2014/main" val="2749556553"/>
                    </a:ext>
                  </a:extLst>
                </a:gridCol>
              </a:tblGrid>
              <a:tr h="0">
                <a:tc>
                  <a:txBody>
                    <a:bodyPr/>
                    <a:lstStyle/>
                    <a:p>
                      <a:pPr>
                        <a:buNone/>
                      </a:pPr>
                      <a:r>
                        <a:rPr lang="es-MX"/>
                        <a:t>Entrada</a:t>
                      </a:r>
                    </a:p>
                  </a:txBody>
                  <a:tcPr anchor="ctr"/>
                </a:tc>
                <a:tc>
                  <a:txBody>
                    <a:bodyPr/>
                    <a:lstStyle/>
                    <a:p>
                      <a:pPr>
                        <a:buNone/>
                      </a:pPr>
                      <a:r>
                        <a:rPr lang="es-MX"/>
                        <a:t>Resultado</a:t>
                      </a:r>
                    </a:p>
                  </a:txBody>
                  <a:tcPr anchor="ctr"/>
                </a:tc>
                <a:extLst>
                  <a:ext uri="{0D108BD9-81ED-4DB2-BD59-A6C34878D82A}">
                    <a16:rowId xmlns:a16="http://schemas.microsoft.com/office/drawing/2014/main" val="1816304261"/>
                  </a:ext>
                </a:extLst>
              </a:tr>
              <a:tr h="0">
                <a:tc>
                  <a:txBody>
                    <a:bodyPr/>
                    <a:lstStyle/>
                    <a:p>
                      <a:pPr>
                        <a:buNone/>
                      </a:pPr>
                      <a:r>
                        <a:rPr lang="es-MX" dirty="0"/>
                        <a:t>ab</a:t>
                      </a:r>
                    </a:p>
                  </a:txBody>
                  <a:tcPr anchor="ctr"/>
                </a:tc>
                <a:tc>
                  <a:txBody>
                    <a:bodyPr/>
                    <a:lstStyle/>
                    <a:p>
                      <a:pPr>
                        <a:buNone/>
                      </a:pPr>
                      <a:r>
                        <a:rPr lang="es-MX"/>
                        <a:t>✔ Aceptada</a:t>
                      </a:r>
                    </a:p>
                  </a:txBody>
                  <a:tcPr anchor="ctr"/>
                </a:tc>
                <a:extLst>
                  <a:ext uri="{0D108BD9-81ED-4DB2-BD59-A6C34878D82A}">
                    <a16:rowId xmlns:a16="http://schemas.microsoft.com/office/drawing/2014/main" val="2997335359"/>
                  </a:ext>
                </a:extLst>
              </a:tr>
              <a:tr h="0">
                <a:tc>
                  <a:txBody>
                    <a:bodyPr/>
                    <a:lstStyle/>
                    <a:p>
                      <a:pPr>
                        <a:buNone/>
                      </a:pPr>
                      <a:r>
                        <a:rPr lang="es-MX" dirty="0" err="1"/>
                        <a:t>aabb</a:t>
                      </a:r>
                      <a:endParaRPr lang="es-MX" dirty="0"/>
                    </a:p>
                  </a:txBody>
                  <a:tcPr anchor="ctr"/>
                </a:tc>
                <a:tc>
                  <a:txBody>
                    <a:bodyPr/>
                    <a:lstStyle/>
                    <a:p>
                      <a:pPr>
                        <a:buNone/>
                      </a:pPr>
                      <a:r>
                        <a:rPr lang="es-MX"/>
                        <a:t>✔ Aceptada</a:t>
                      </a:r>
                    </a:p>
                  </a:txBody>
                  <a:tcPr anchor="ctr"/>
                </a:tc>
                <a:extLst>
                  <a:ext uri="{0D108BD9-81ED-4DB2-BD59-A6C34878D82A}">
                    <a16:rowId xmlns:a16="http://schemas.microsoft.com/office/drawing/2014/main" val="902111484"/>
                  </a:ext>
                </a:extLst>
              </a:tr>
              <a:tr h="0">
                <a:tc>
                  <a:txBody>
                    <a:bodyPr/>
                    <a:lstStyle/>
                    <a:p>
                      <a:pPr>
                        <a:buNone/>
                      </a:pPr>
                      <a:r>
                        <a:rPr lang="es-MX" dirty="0" err="1"/>
                        <a:t>aaabbb</a:t>
                      </a:r>
                      <a:endParaRPr lang="es-MX" dirty="0"/>
                    </a:p>
                  </a:txBody>
                  <a:tcPr anchor="ctr"/>
                </a:tc>
                <a:tc>
                  <a:txBody>
                    <a:bodyPr/>
                    <a:lstStyle/>
                    <a:p>
                      <a:pPr>
                        <a:buNone/>
                      </a:pPr>
                      <a:r>
                        <a:rPr lang="es-MX"/>
                        <a:t>✔ Aceptada</a:t>
                      </a:r>
                    </a:p>
                  </a:txBody>
                  <a:tcPr anchor="ctr"/>
                </a:tc>
                <a:extLst>
                  <a:ext uri="{0D108BD9-81ED-4DB2-BD59-A6C34878D82A}">
                    <a16:rowId xmlns:a16="http://schemas.microsoft.com/office/drawing/2014/main" val="3293111445"/>
                  </a:ext>
                </a:extLst>
              </a:tr>
              <a:tr h="0">
                <a:tc>
                  <a:txBody>
                    <a:bodyPr/>
                    <a:lstStyle/>
                    <a:p>
                      <a:pPr>
                        <a:buNone/>
                      </a:pPr>
                      <a:r>
                        <a:rPr lang="es-MX" dirty="0" err="1"/>
                        <a:t>abb</a:t>
                      </a:r>
                      <a:endParaRPr lang="es-MX" dirty="0"/>
                    </a:p>
                  </a:txBody>
                  <a:tcPr anchor="ctr"/>
                </a:tc>
                <a:tc>
                  <a:txBody>
                    <a:bodyPr/>
                    <a:lstStyle/>
                    <a:p>
                      <a:pPr>
                        <a:buNone/>
                      </a:pPr>
                      <a:r>
                        <a:rPr lang="es-MX"/>
                        <a:t>❌ Rechazada</a:t>
                      </a:r>
                    </a:p>
                  </a:txBody>
                  <a:tcPr anchor="ctr"/>
                </a:tc>
                <a:extLst>
                  <a:ext uri="{0D108BD9-81ED-4DB2-BD59-A6C34878D82A}">
                    <a16:rowId xmlns:a16="http://schemas.microsoft.com/office/drawing/2014/main" val="3684934423"/>
                  </a:ext>
                </a:extLst>
              </a:tr>
              <a:tr h="0">
                <a:tc>
                  <a:txBody>
                    <a:bodyPr/>
                    <a:lstStyle/>
                    <a:p>
                      <a:pPr>
                        <a:buNone/>
                      </a:pPr>
                      <a:r>
                        <a:rPr lang="es-MX" dirty="0" err="1"/>
                        <a:t>aab</a:t>
                      </a:r>
                      <a:endParaRPr lang="es-MX" dirty="0"/>
                    </a:p>
                  </a:txBody>
                  <a:tcPr anchor="ctr"/>
                </a:tc>
                <a:tc>
                  <a:txBody>
                    <a:bodyPr/>
                    <a:lstStyle/>
                    <a:p>
                      <a:pPr>
                        <a:buNone/>
                      </a:pPr>
                      <a:r>
                        <a:rPr lang="es-MX" dirty="0"/>
                        <a:t>❌ Rechazada</a:t>
                      </a:r>
                    </a:p>
                  </a:txBody>
                  <a:tcPr anchor="ctr"/>
                </a:tc>
                <a:extLst>
                  <a:ext uri="{0D108BD9-81ED-4DB2-BD59-A6C34878D82A}">
                    <a16:rowId xmlns:a16="http://schemas.microsoft.com/office/drawing/2014/main" val="3501390409"/>
                  </a:ext>
                </a:extLst>
              </a:tr>
            </a:tbl>
          </a:graphicData>
        </a:graphic>
      </p:graphicFrame>
    </p:spTree>
    <p:extLst>
      <p:ext uri="{BB962C8B-B14F-4D97-AF65-F5344CB8AC3E}">
        <p14:creationId xmlns:p14="http://schemas.microsoft.com/office/powerpoint/2010/main" val="3424084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07D78-FBE1-5590-3476-19CC2F0D4625}"/>
              </a:ext>
            </a:extLst>
          </p:cNvPr>
          <p:cNvSpPr>
            <a:spLocks noGrp="1"/>
          </p:cNvSpPr>
          <p:nvPr>
            <p:ph type="title"/>
          </p:nvPr>
        </p:nvSpPr>
        <p:spPr/>
        <p:txBody>
          <a:bodyPr/>
          <a:lstStyle/>
          <a:p>
            <a:r>
              <a:rPr lang="es-MX" b="1" dirty="0">
                <a:solidFill>
                  <a:schemeClr val="accent1"/>
                </a:solidFill>
              </a:rPr>
              <a:t>Prueba 1</a:t>
            </a:r>
          </a:p>
        </p:txBody>
      </p:sp>
      <p:sp>
        <p:nvSpPr>
          <p:cNvPr id="10" name="CuadroTexto 9">
            <a:extLst>
              <a:ext uri="{FF2B5EF4-FFF2-40B4-BE49-F238E27FC236}">
                <a16:creationId xmlns:a16="http://schemas.microsoft.com/office/drawing/2014/main" id="{DF79F149-F40A-7AA6-F9AA-1CC6037B6EDE}"/>
              </a:ext>
            </a:extLst>
          </p:cNvPr>
          <p:cNvSpPr txBox="1"/>
          <p:nvPr/>
        </p:nvSpPr>
        <p:spPr>
          <a:xfrm>
            <a:off x="7334251" y="1849298"/>
            <a:ext cx="4267200" cy="1938992"/>
          </a:xfrm>
          <a:prstGeom prst="rect">
            <a:avLst/>
          </a:prstGeom>
          <a:noFill/>
        </p:spPr>
        <p:txBody>
          <a:bodyPr wrap="square">
            <a:spAutoFit/>
          </a:bodyPr>
          <a:lstStyle/>
          <a:p>
            <a:r>
              <a:rPr lang="es-MX" sz="2000" dirty="0"/>
              <a:t>Se ingresó la cadena: </a:t>
            </a:r>
            <a:r>
              <a:rPr lang="es-MX" sz="2000" b="1" dirty="0"/>
              <a:t>ab</a:t>
            </a:r>
            <a:endParaRPr lang="es-MX" sz="2000" dirty="0"/>
          </a:p>
          <a:p>
            <a:pPr algn="just"/>
            <a:r>
              <a:rPr lang="es-MX" sz="2000" dirty="0"/>
              <a:t>La Máquina de Turing procesó la cadena, realizando las transiciones necesarias y determinando que la cadena es válida, por lo que fue aceptada.</a:t>
            </a:r>
          </a:p>
        </p:txBody>
      </p:sp>
      <p:pic>
        <p:nvPicPr>
          <p:cNvPr id="6" name="Imagen 5">
            <a:extLst>
              <a:ext uri="{FF2B5EF4-FFF2-40B4-BE49-F238E27FC236}">
                <a16:creationId xmlns:a16="http://schemas.microsoft.com/office/drawing/2014/main" id="{1E248AD1-B45A-2A4C-D127-F197E1869982}"/>
              </a:ext>
            </a:extLst>
          </p:cNvPr>
          <p:cNvPicPr>
            <a:picLocks noChangeAspect="1"/>
          </p:cNvPicPr>
          <p:nvPr/>
        </p:nvPicPr>
        <p:blipFill>
          <a:blip r:embed="rId2"/>
          <a:stretch>
            <a:fillRect/>
          </a:stretch>
        </p:blipFill>
        <p:spPr>
          <a:xfrm>
            <a:off x="590550" y="1714500"/>
            <a:ext cx="6096000" cy="3429000"/>
          </a:xfrm>
          <a:prstGeom prst="rect">
            <a:avLst/>
          </a:prstGeom>
        </p:spPr>
      </p:pic>
    </p:spTree>
    <p:extLst>
      <p:ext uri="{BB962C8B-B14F-4D97-AF65-F5344CB8AC3E}">
        <p14:creationId xmlns:p14="http://schemas.microsoft.com/office/powerpoint/2010/main" val="656735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17D09-3030-E60E-9A65-73C8BECEB7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5E8DE7-ED4E-25D9-D706-9194CE08A930}"/>
              </a:ext>
            </a:extLst>
          </p:cNvPr>
          <p:cNvSpPr>
            <a:spLocks noGrp="1"/>
          </p:cNvSpPr>
          <p:nvPr>
            <p:ph type="title"/>
          </p:nvPr>
        </p:nvSpPr>
        <p:spPr/>
        <p:txBody>
          <a:bodyPr/>
          <a:lstStyle/>
          <a:p>
            <a:r>
              <a:rPr lang="es-MX" b="1" dirty="0">
                <a:solidFill>
                  <a:schemeClr val="accent1"/>
                </a:solidFill>
              </a:rPr>
              <a:t>Prueba 2</a:t>
            </a:r>
          </a:p>
        </p:txBody>
      </p:sp>
      <p:sp>
        <p:nvSpPr>
          <p:cNvPr id="10" name="CuadroTexto 9">
            <a:extLst>
              <a:ext uri="{FF2B5EF4-FFF2-40B4-BE49-F238E27FC236}">
                <a16:creationId xmlns:a16="http://schemas.microsoft.com/office/drawing/2014/main" id="{16DD009C-E099-686E-EFA6-8C565CAC5E79}"/>
              </a:ext>
            </a:extLst>
          </p:cNvPr>
          <p:cNvSpPr txBox="1"/>
          <p:nvPr/>
        </p:nvSpPr>
        <p:spPr>
          <a:xfrm>
            <a:off x="7400925" y="1849299"/>
            <a:ext cx="4200525" cy="2246769"/>
          </a:xfrm>
          <a:prstGeom prst="rect">
            <a:avLst/>
          </a:prstGeom>
          <a:noFill/>
        </p:spPr>
        <p:txBody>
          <a:bodyPr wrap="square">
            <a:spAutoFit/>
          </a:bodyPr>
          <a:lstStyle/>
          <a:p>
            <a:pPr algn="just">
              <a:buNone/>
            </a:pPr>
            <a:r>
              <a:rPr lang="es-MX" sz="2000" dirty="0"/>
              <a:t>Se ingresó la cadena: </a:t>
            </a:r>
            <a:r>
              <a:rPr lang="es-MX" sz="2000" b="1" dirty="0" err="1"/>
              <a:t>aabb</a:t>
            </a:r>
            <a:endParaRPr lang="es-MX" sz="2000" b="1" dirty="0"/>
          </a:p>
          <a:p>
            <a:pPr algn="just"/>
            <a:endParaRPr lang="es-MX" sz="2000" dirty="0"/>
          </a:p>
          <a:p>
            <a:pPr algn="just"/>
            <a:r>
              <a:rPr lang="es-MX" sz="2000" dirty="0"/>
              <a:t>La Máquina de Turing procesó la cadena, realizando las transiciones necesarias y determinando que la cadena es válida, por lo que fue aceptada.</a:t>
            </a:r>
          </a:p>
        </p:txBody>
      </p:sp>
      <p:pic>
        <p:nvPicPr>
          <p:cNvPr id="4" name="Imagen 3">
            <a:extLst>
              <a:ext uri="{FF2B5EF4-FFF2-40B4-BE49-F238E27FC236}">
                <a16:creationId xmlns:a16="http://schemas.microsoft.com/office/drawing/2014/main" id="{15FABFA1-474C-1653-21A3-B17A852847B5}"/>
              </a:ext>
            </a:extLst>
          </p:cNvPr>
          <p:cNvPicPr>
            <a:picLocks noChangeAspect="1"/>
          </p:cNvPicPr>
          <p:nvPr/>
        </p:nvPicPr>
        <p:blipFill>
          <a:blip r:embed="rId2"/>
          <a:stretch>
            <a:fillRect/>
          </a:stretch>
        </p:blipFill>
        <p:spPr>
          <a:xfrm>
            <a:off x="1446835" y="1849299"/>
            <a:ext cx="5270339" cy="2964566"/>
          </a:xfrm>
          <a:prstGeom prst="rect">
            <a:avLst/>
          </a:prstGeom>
        </p:spPr>
      </p:pic>
    </p:spTree>
    <p:extLst>
      <p:ext uri="{BB962C8B-B14F-4D97-AF65-F5344CB8AC3E}">
        <p14:creationId xmlns:p14="http://schemas.microsoft.com/office/powerpoint/2010/main" val="2994962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B47BF-D6D2-71DB-487D-D76C03D1B2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7189766-9490-AEE0-D7AC-B76618D6B79D}"/>
              </a:ext>
            </a:extLst>
          </p:cNvPr>
          <p:cNvSpPr>
            <a:spLocks noGrp="1"/>
          </p:cNvSpPr>
          <p:nvPr>
            <p:ph type="title"/>
          </p:nvPr>
        </p:nvSpPr>
        <p:spPr/>
        <p:txBody>
          <a:bodyPr/>
          <a:lstStyle/>
          <a:p>
            <a:r>
              <a:rPr lang="es-MX" b="1" dirty="0">
                <a:solidFill>
                  <a:schemeClr val="accent1"/>
                </a:solidFill>
              </a:rPr>
              <a:t>Prueba 3</a:t>
            </a:r>
          </a:p>
        </p:txBody>
      </p:sp>
      <p:sp>
        <p:nvSpPr>
          <p:cNvPr id="10" name="CuadroTexto 9">
            <a:extLst>
              <a:ext uri="{FF2B5EF4-FFF2-40B4-BE49-F238E27FC236}">
                <a16:creationId xmlns:a16="http://schemas.microsoft.com/office/drawing/2014/main" id="{C4B060A6-5FEC-7333-25B9-5861957B978C}"/>
              </a:ext>
            </a:extLst>
          </p:cNvPr>
          <p:cNvSpPr txBox="1"/>
          <p:nvPr/>
        </p:nvSpPr>
        <p:spPr>
          <a:xfrm>
            <a:off x="7400925" y="1849299"/>
            <a:ext cx="4200525" cy="2554545"/>
          </a:xfrm>
          <a:prstGeom prst="rect">
            <a:avLst/>
          </a:prstGeom>
          <a:noFill/>
        </p:spPr>
        <p:txBody>
          <a:bodyPr wrap="square">
            <a:spAutoFit/>
          </a:bodyPr>
          <a:lstStyle/>
          <a:p>
            <a:pPr algn="just"/>
            <a:r>
              <a:rPr lang="es-MX" sz="2000" dirty="0"/>
              <a:t>Se ingresó la cadena: </a:t>
            </a:r>
            <a:r>
              <a:rPr lang="es-MX" sz="2000" b="1" dirty="0" err="1"/>
              <a:t>aaabbb</a:t>
            </a:r>
            <a:endParaRPr lang="es-MX" sz="2000" b="1" dirty="0"/>
          </a:p>
          <a:p>
            <a:pPr algn="just"/>
            <a:endParaRPr lang="es-MX" sz="2000" dirty="0"/>
          </a:p>
          <a:p>
            <a:pPr algn="just"/>
            <a:r>
              <a:rPr lang="es-MX" sz="2000" dirty="0"/>
              <a:t>La Máquina de Turing procesó la cadena correctamente, realizando las transiciones necesarias y determinando que la cadena cumple con la estructura aⁿbⁿ, por lo que fue aceptada.</a:t>
            </a:r>
          </a:p>
        </p:txBody>
      </p:sp>
      <p:pic>
        <p:nvPicPr>
          <p:cNvPr id="4" name="Imagen 3">
            <a:extLst>
              <a:ext uri="{FF2B5EF4-FFF2-40B4-BE49-F238E27FC236}">
                <a16:creationId xmlns:a16="http://schemas.microsoft.com/office/drawing/2014/main" id="{A6D6E4DE-796C-3EEC-6DB4-C61C67A0288F}"/>
              </a:ext>
            </a:extLst>
          </p:cNvPr>
          <p:cNvPicPr>
            <a:picLocks noChangeAspect="1"/>
          </p:cNvPicPr>
          <p:nvPr/>
        </p:nvPicPr>
        <p:blipFill>
          <a:blip r:embed="rId2"/>
          <a:stretch>
            <a:fillRect/>
          </a:stretch>
        </p:blipFill>
        <p:spPr>
          <a:xfrm>
            <a:off x="1894389" y="1849299"/>
            <a:ext cx="4290350" cy="2413322"/>
          </a:xfrm>
          <a:prstGeom prst="rect">
            <a:avLst/>
          </a:prstGeom>
        </p:spPr>
      </p:pic>
    </p:spTree>
    <p:extLst>
      <p:ext uri="{BB962C8B-B14F-4D97-AF65-F5344CB8AC3E}">
        <p14:creationId xmlns:p14="http://schemas.microsoft.com/office/powerpoint/2010/main" val="3178788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13B0A-02F7-0E8B-8DAD-CAD66C5233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6E7522-0B62-2114-3D6F-3EDF7C187E2D}"/>
              </a:ext>
            </a:extLst>
          </p:cNvPr>
          <p:cNvSpPr>
            <a:spLocks noGrp="1"/>
          </p:cNvSpPr>
          <p:nvPr>
            <p:ph type="title"/>
          </p:nvPr>
        </p:nvSpPr>
        <p:spPr/>
        <p:txBody>
          <a:bodyPr/>
          <a:lstStyle/>
          <a:p>
            <a:r>
              <a:rPr lang="es-MX" b="1" dirty="0">
                <a:solidFill>
                  <a:schemeClr val="accent1"/>
                </a:solidFill>
              </a:rPr>
              <a:t>Prueba 4</a:t>
            </a:r>
          </a:p>
        </p:txBody>
      </p:sp>
      <p:sp>
        <p:nvSpPr>
          <p:cNvPr id="10" name="CuadroTexto 9">
            <a:extLst>
              <a:ext uri="{FF2B5EF4-FFF2-40B4-BE49-F238E27FC236}">
                <a16:creationId xmlns:a16="http://schemas.microsoft.com/office/drawing/2014/main" id="{0627C806-0F88-CB73-FD0A-E51EAEB3E23D}"/>
              </a:ext>
            </a:extLst>
          </p:cNvPr>
          <p:cNvSpPr txBox="1"/>
          <p:nvPr/>
        </p:nvSpPr>
        <p:spPr>
          <a:xfrm>
            <a:off x="7153275" y="1996633"/>
            <a:ext cx="4200525" cy="1938992"/>
          </a:xfrm>
          <a:prstGeom prst="rect">
            <a:avLst/>
          </a:prstGeom>
          <a:noFill/>
        </p:spPr>
        <p:txBody>
          <a:bodyPr wrap="square">
            <a:spAutoFit/>
          </a:bodyPr>
          <a:lstStyle/>
          <a:p>
            <a:r>
              <a:rPr lang="es-MX" sz="2000" dirty="0"/>
              <a:t>Se ingresó la cadena: </a:t>
            </a:r>
            <a:r>
              <a:rPr lang="es-MX" sz="2000" b="1" dirty="0" err="1"/>
              <a:t>abb</a:t>
            </a:r>
            <a:endParaRPr lang="es-MX" sz="2000" b="1" dirty="0"/>
          </a:p>
          <a:p>
            <a:endParaRPr lang="es-MX" sz="2000" dirty="0"/>
          </a:p>
          <a:p>
            <a:pPr algn="just"/>
            <a:r>
              <a:rPr lang="es-MX" sz="2000" dirty="0"/>
              <a:t>La Máquina de Turing procesó la cadena, detectando que no cumple con la estructura aⁿbⁿ, por lo que fue rechazada.</a:t>
            </a:r>
          </a:p>
        </p:txBody>
      </p:sp>
      <p:pic>
        <p:nvPicPr>
          <p:cNvPr id="4" name="Imagen 3">
            <a:extLst>
              <a:ext uri="{FF2B5EF4-FFF2-40B4-BE49-F238E27FC236}">
                <a16:creationId xmlns:a16="http://schemas.microsoft.com/office/drawing/2014/main" id="{20CB3F40-616F-59A4-F0C8-40A960DDA40F}"/>
              </a:ext>
            </a:extLst>
          </p:cNvPr>
          <p:cNvPicPr>
            <a:picLocks noChangeAspect="1"/>
          </p:cNvPicPr>
          <p:nvPr/>
        </p:nvPicPr>
        <p:blipFill>
          <a:blip r:embed="rId2"/>
          <a:stretch>
            <a:fillRect/>
          </a:stretch>
        </p:blipFill>
        <p:spPr>
          <a:xfrm>
            <a:off x="1450694" y="1996633"/>
            <a:ext cx="5092860" cy="2864734"/>
          </a:xfrm>
          <a:prstGeom prst="rect">
            <a:avLst/>
          </a:prstGeom>
        </p:spPr>
      </p:pic>
    </p:spTree>
    <p:extLst>
      <p:ext uri="{BB962C8B-B14F-4D97-AF65-F5344CB8AC3E}">
        <p14:creationId xmlns:p14="http://schemas.microsoft.com/office/powerpoint/2010/main" val="381342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54F7-F5D1-C775-0E14-CC2815C26A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998CE1-302B-7270-5C73-F4A91F1A9C8B}"/>
              </a:ext>
            </a:extLst>
          </p:cNvPr>
          <p:cNvSpPr>
            <a:spLocks noGrp="1"/>
          </p:cNvSpPr>
          <p:nvPr>
            <p:ph type="title"/>
          </p:nvPr>
        </p:nvSpPr>
        <p:spPr/>
        <p:txBody>
          <a:bodyPr/>
          <a:lstStyle/>
          <a:p>
            <a:r>
              <a:rPr lang="es-MX" b="1" dirty="0">
                <a:solidFill>
                  <a:schemeClr val="accent1"/>
                </a:solidFill>
              </a:rPr>
              <a:t>Prueba 5</a:t>
            </a:r>
          </a:p>
        </p:txBody>
      </p:sp>
      <p:sp>
        <p:nvSpPr>
          <p:cNvPr id="10" name="CuadroTexto 9">
            <a:extLst>
              <a:ext uri="{FF2B5EF4-FFF2-40B4-BE49-F238E27FC236}">
                <a16:creationId xmlns:a16="http://schemas.microsoft.com/office/drawing/2014/main" id="{0BBCF0E1-883B-A7FD-9C51-3AF1673EF1EA}"/>
              </a:ext>
            </a:extLst>
          </p:cNvPr>
          <p:cNvSpPr txBox="1"/>
          <p:nvPr/>
        </p:nvSpPr>
        <p:spPr>
          <a:xfrm>
            <a:off x="7343051" y="2124597"/>
            <a:ext cx="4200525" cy="1938992"/>
          </a:xfrm>
          <a:prstGeom prst="rect">
            <a:avLst/>
          </a:prstGeom>
          <a:noFill/>
        </p:spPr>
        <p:txBody>
          <a:bodyPr wrap="square">
            <a:spAutoFit/>
          </a:bodyPr>
          <a:lstStyle/>
          <a:p>
            <a:r>
              <a:rPr lang="es-MX" sz="2000" dirty="0"/>
              <a:t>Se ingresó la cadena: </a:t>
            </a:r>
            <a:r>
              <a:rPr lang="es-MX" sz="2000" b="1" dirty="0" err="1"/>
              <a:t>aab</a:t>
            </a:r>
            <a:endParaRPr lang="es-MX" sz="2000" b="1" dirty="0"/>
          </a:p>
          <a:p>
            <a:endParaRPr lang="es-MX" sz="2000" dirty="0"/>
          </a:p>
          <a:p>
            <a:pPr algn="just"/>
            <a:r>
              <a:rPr lang="es-MX" sz="2000" dirty="0"/>
              <a:t>La Máquina de Turing procesó la cadena, detectando que no cumple con la estructura aⁿbⁿ, por lo que fue rechazada.</a:t>
            </a:r>
          </a:p>
        </p:txBody>
      </p:sp>
      <p:pic>
        <p:nvPicPr>
          <p:cNvPr id="4" name="Imagen 3">
            <a:extLst>
              <a:ext uri="{FF2B5EF4-FFF2-40B4-BE49-F238E27FC236}">
                <a16:creationId xmlns:a16="http://schemas.microsoft.com/office/drawing/2014/main" id="{4295C814-F2A5-F4A9-3416-D560E9DD8E9B}"/>
              </a:ext>
            </a:extLst>
          </p:cNvPr>
          <p:cNvPicPr>
            <a:picLocks noChangeAspect="1"/>
          </p:cNvPicPr>
          <p:nvPr/>
        </p:nvPicPr>
        <p:blipFill>
          <a:blip r:embed="rId2"/>
          <a:stretch>
            <a:fillRect/>
          </a:stretch>
        </p:blipFill>
        <p:spPr>
          <a:xfrm>
            <a:off x="1400536" y="2124597"/>
            <a:ext cx="5258765" cy="2958055"/>
          </a:xfrm>
          <a:prstGeom prst="rect">
            <a:avLst/>
          </a:prstGeom>
        </p:spPr>
      </p:pic>
    </p:spTree>
    <p:extLst>
      <p:ext uri="{BB962C8B-B14F-4D97-AF65-F5344CB8AC3E}">
        <p14:creationId xmlns:p14="http://schemas.microsoft.com/office/powerpoint/2010/main" val="2490562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2A5667-C912-4A4B-2B2B-C6DF75F09331}"/>
              </a:ext>
            </a:extLst>
          </p:cNvPr>
          <p:cNvSpPr>
            <a:spLocks noGrp="1"/>
          </p:cNvSpPr>
          <p:nvPr>
            <p:ph type="title"/>
          </p:nvPr>
        </p:nvSpPr>
        <p:spPr/>
        <p:txBody>
          <a:bodyPr/>
          <a:lstStyle/>
          <a:p>
            <a:r>
              <a:rPr lang="es-MX" b="1" dirty="0">
                <a:solidFill>
                  <a:schemeClr val="accent1"/>
                </a:solidFill>
              </a:rPr>
              <a:t>Resultados</a:t>
            </a:r>
          </a:p>
        </p:txBody>
      </p:sp>
      <p:sp>
        <p:nvSpPr>
          <p:cNvPr id="9" name="Marcador de contenido 8">
            <a:extLst>
              <a:ext uri="{FF2B5EF4-FFF2-40B4-BE49-F238E27FC236}">
                <a16:creationId xmlns:a16="http://schemas.microsoft.com/office/drawing/2014/main" id="{D065E4C1-493A-49A6-AB51-79B1CFC420F9}"/>
              </a:ext>
            </a:extLst>
          </p:cNvPr>
          <p:cNvSpPr>
            <a:spLocks noGrp="1"/>
          </p:cNvSpPr>
          <p:nvPr>
            <p:ph idx="1"/>
          </p:nvPr>
        </p:nvSpPr>
        <p:spPr/>
        <p:txBody>
          <a:bodyPr>
            <a:normAutofit/>
          </a:bodyPr>
          <a:lstStyle/>
          <a:p>
            <a:pPr marL="0" indent="0" algn="just">
              <a:buNone/>
            </a:pPr>
            <a:r>
              <a:rPr lang="es-MX" dirty="0"/>
              <a:t>La simulación permitió validar el correcto funcionamiento del sistema desarrollado, comprobando que la máquina reconoce adecuadamente las cadenas que cumplen con la estructura aⁿbⁿ y rechaza aquellas que no la cumplen.</a:t>
            </a:r>
          </a:p>
          <a:p>
            <a:pPr marL="0" indent="0" algn="just">
              <a:buNone/>
            </a:pPr>
            <a:endParaRPr lang="es-MX" dirty="0"/>
          </a:p>
          <a:p>
            <a:pPr marL="0" indent="0" algn="just">
              <a:buNone/>
            </a:pPr>
            <a:r>
              <a:rPr lang="es-MX" dirty="0"/>
              <a:t>Además, se logró observar el comportamiento interno de la máquina mediante la visualización paso a paso, lo cual facilita la comprensión del modelo teórico.</a:t>
            </a:r>
          </a:p>
        </p:txBody>
      </p:sp>
    </p:spTree>
    <p:extLst>
      <p:ext uri="{BB962C8B-B14F-4D97-AF65-F5344CB8AC3E}">
        <p14:creationId xmlns:p14="http://schemas.microsoft.com/office/powerpoint/2010/main" val="1437515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733425" y="777875"/>
            <a:ext cx="10515600" cy="4351338"/>
          </a:xfrm>
        </p:spPr>
        <p:txBody>
          <a:bodyPr>
            <a:normAutofit fontScale="92500" lnSpcReduction="20000"/>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La implementación de la Máquina de Turing en </a:t>
            </a:r>
            <a:r>
              <a:rPr lang="es-MX" dirty="0" err="1"/>
              <a:t>JavaFX</a:t>
            </a:r>
            <a:r>
              <a:rPr lang="es-MX" dirty="0"/>
              <a:t> permitió trasladar un modelo teórico a un entorno práctico, facilitando la comprensión del procesamiento de cadenas mediante reglas de transición.</a:t>
            </a:r>
          </a:p>
          <a:p>
            <a:pPr marL="0" indent="0" algn="just">
              <a:buNone/>
            </a:pPr>
            <a:r>
              <a:rPr lang="es-MX"/>
              <a:t>A </a:t>
            </a:r>
            <a:r>
              <a:rPr lang="es-MX" dirty="0"/>
              <a:t>través de esta práctica se logró reforzar el conocimiento sobre autómatas y modelos de computación, así como desarrollar habilidades en programación e interfaces gráficas.</a:t>
            </a:r>
          </a:p>
          <a:p>
            <a:pPr marL="0" indent="0" algn="just">
              <a:buNone/>
            </a:pPr>
            <a:r>
              <a:rPr lang="es-MX" dirty="0"/>
              <a:t>En conclusión, las Máquinas de Turing representan una herramienta fundamental en la teoría de la computación, ya que permiten modelar el funcionamiento de los algoritmos y comprender los límites de lo que es computable.</a:t>
            </a:r>
          </a:p>
        </p:txBody>
      </p:sp>
    </p:spTree>
    <p:extLst>
      <p:ext uri="{BB962C8B-B14F-4D97-AF65-F5344CB8AC3E}">
        <p14:creationId xmlns:p14="http://schemas.microsoft.com/office/powerpoint/2010/main" val="4155922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a:xfrm>
            <a:off x="838200" y="892174"/>
            <a:ext cx="10515600" cy="5108575"/>
          </a:xfrm>
        </p:spPr>
        <p:txBody>
          <a:bodyPr>
            <a:normAutofit fontScale="92500" lnSpcReduction="10000"/>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algn="just">
              <a:buFont typeface="Wingdings" panose="05000000000000000000" pitchFamily="2" charset="2"/>
              <a:buChar char="Ø"/>
            </a:pPr>
            <a:r>
              <a:rPr lang="es-MX" dirty="0"/>
              <a:t>LYA1 – Lenguajes y Autómatas I. Repositorio en GitHub.</a:t>
            </a:r>
            <a:br>
              <a:rPr lang="es-MX" dirty="0"/>
            </a:br>
            <a:r>
              <a:rPr lang="es-MX" dirty="0">
                <a:hlinkClick r:id="rId2">
                  <a:extLst>
                    <a:ext uri="{A12FA001-AC4F-418D-AE19-62706E023703}">
                      <ahyp:hlinkClr xmlns:ahyp="http://schemas.microsoft.com/office/drawing/2018/hyperlinkcolor" val="tx"/>
                    </a:ext>
                  </a:extLst>
                </a:hlinkClick>
              </a:rPr>
              <a:t>https://github.com/rafaelrav8770/LYA1.git</a:t>
            </a:r>
            <a:endParaRPr lang="es-MX" dirty="0"/>
          </a:p>
          <a:p>
            <a:pPr>
              <a:buFont typeface="Wingdings" panose="05000000000000000000" pitchFamily="2" charset="2"/>
              <a:buChar char="Ø"/>
            </a:pPr>
            <a:r>
              <a:rPr lang="es-MX" dirty="0"/>
              <a:t>Moreno, F.  Máquina de Turing (Tema 5). Universidad de Huelva. citado de </a:t>
            </a:r>
            <a:r>
              <a:rPr lang="es-MX" dirty="0">
                <a:hlinkClick r:id="rId3"/>
              </a:rPr>
              <a:t>https://www.uhu.es/francisco.moreno/gii_mac/docs/Tema_5.pdf</a:t>
            </a:r>
            <a:r>
              <a:rPr lang="es-MX" dirty="0"/>
              <a:t> </a:t>
            </a:r>
          </a:p>
          <a:p>
            <a:pPr>
              <a:buFont typeface="Wingdings" panose="05000000000000000000" pitchFamily="2" charset="2"/>
              <a:buChar char="Ø"/>
            </a:pPr>
            <a:r>
              <a:rPr lang="es-MX" dirty="0"/>
              <a:t>Stanford </a:t>
            </a:r>
            <a:r>
              <a:rPr lang="es-MX" dirty="0" err="1"/>
              <a:t>Encyclopedia</a:t>
            </a:r>
            <a:r>
              <a:rPr lang="es-MX" dirty="0"/>
              <a:t> </a:t>
            </a:r>
            <a:r>
              <a:rPr lang="es-MX" dirty="0" err="1"/>
              <a:t>of</a:t>
            </a:r>
            <a:r>
              <a:rPr lang="es-MX" dirty="0"/>
              <a:t> </a:t>
            </a:r>
            <a:r>
              <a:rPr lang="es-MX" dirty="0" err="1"/>
              <a:t>Philosophy</a:t>
            </a:r>
            <a:r>
              <a:rPr lang="es-MX" dirty="0"/>
              <a:t>. Turing machine. citado de </a:t>
            </a:r>
            <a:r>
              <a:rPr lang="es-MX" dirty="0">
                <a:hlinkClick r:id="rId4"/>
              </a:rPr>
              <a:t>https://plato.stanford.edu/entries/turing-machine/</a:t>
            </a:r>
            <a:r>
              <a:rPr lang="es-MX" dirty="0"/>
              <a:t> </a:t>
            </a:r>
          </a:p>
          <a:p>
            <a:pPr>
              <a:buFont typeface="Wingdings" panose="05000000000000000000" pitchFamily="2" charset="2"/>
              <a:buChar char="Ø"/>
            </a:pPr>
            <a:r>
              <a:rPr lang="es-MX" dirty="0"/>
              <a:t>Máquina de Turing Video. </a:t>
            </a:r>
            <a:r>
              <a:rPr lang="es-MX" dirty="0">
                <a:hlinkClick r:id="rId5"/>
              </a:rPr>
              <a:t>https://youtu.be/sCa6SUzxLLQ</a:t>
            </a:r>
            <a:r>
              <a:rPr lang="es-MX" dirty="0"/>
              <a:t> </a:t>
            </a:r>
          </a:p>
          <a:p>
            <a:pPr>
              <a:buFont typeface="Wingdings" panose="05000000000000000000" pitchFamily="2" charset="2"/>
              <a:buChar char="Ø"/>
            </a:pPr>
            <a:r>
              <a:rPr lang="es-MX" dirty="0"/>
              <a:t>YouTube.  Máquina de Turing Video. </a:t>
            </a:r>
            <a:r>
              <a:rPr lang="es-MX" dirty="0">
                <a:hlinkClick r:id="rId6"/>
              </a:rPr>
              <a:t>https://youtu.be/Ylcv7M-9E6g</a:t>
            </a:r>
            <a:r>
              <a:rPr lang="es-MX" dirty="0"/>
              <a:t> </a:t>
            </a:r>
          </a:p>
          <a:p>
            <a:pPr>
              <a:buFont typeface="Wingdings" panose="05000000000000000000" pitchFamily="2" charset="2"/>
              <a:buChar char="Ø"/>
            </a:pPr>
            <a:r>
              <a:rPr lang="es-MX" dirty="0"/>
              <a:t>YouTube.  Máquina de Turing Video. </a:t>
            </a:r>
            <a:r>
              <a:rPr lang="es-MX" dirty="0">
                <a:hlinkClick r:id="rId7"/>
              </a:rPr>
              <a:t>https://youtu.be/G0p5sFQ7CbM</a:t>
            </a:r>
            <a:r>
              <a:rPr lang="es-MX" dirty="0"/>
              <a:t> </a:t>
            </a:r>
          </a:p>
          <a:p>
            <a:pPr>
              <a:buFont typeface="Wingdings" panose="05000000000000000000" pitchFamily="2" charset="2"/>
              <a:buChar char="Ø"/>
            </a:pPr>
            <a:r>
              <a:rPr lang="es-MX" dirty="0"/>
              <a:t>YouTube.  Máquina de Turing Video. </a:t>
            </a:r>
            <a:r>
              <a:rPr lang="es-MX" dirty="0">
                <a:hlinkClick r:id="rId8"/>
              </a:rPr>
              <a:t>https://youtu.be/MeTot6geLCg</a:t>
            </a:r>
            <a:r>
              <a:rPr lang="es-MX" dirty="0"/>
              <a:t> </a:t>
            </a:r>
          </a:p>
          <a:p>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2101</TotalTime>
  <Words>1357</Words>
  <Application>Microsoft Office PowerPoint</Application>
  <PresentationFormat>Panorámica</PresentationFormat>
  <Paragraphs>147</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Calibri Light</vt:lpstr>
      <vt:lpstr>Consolas</vt:lpstr>
      <vt:lpstr>Wingdings</vt:lpstr>
      <vt:lpstr>Tema de Office</vt:lpstr>
      <vt:lpstr>Presentación de PowerPoint</vt:lpstr>
      <vt:lpstr>Presentación de PowerPoint</vt:lpstr>
      <vt:lpstr>Presentación de PowerPoint</vt:lpstr>
      <vt:lpstr>Justificación </vt:lpstr>
      <vt:lpstr>Máquina de Turing  </vt:lpstr>
      <vt:lpstr>Descripción de la Interfaz</vt:lpstr>
      <vt:lpstr>JavaFX</vt:lpstr>
      <vt:lpstr>FUNCIONAMIENTO DE LA MÁQUINA</vt:lpstr>
      <vt:lpstr>Implementación (Código JavaFX)</vt:lpstr>
      <vt:lpstr>CÓDIGO</vt:lpstr>
      <vt:lpstr>SIMULACIÓN DE LA MÁQUINA</vt:lpstr>
      <vt:lpstr>PRUEBAS REALIZADAS</vt:lpstr>
      <vt:lpstr>Prueba 1</vt:lpstr>
      <vt:lpstr>Prueba 2</vt:lpstr>
      <vt:lpstr>Prueba 3</vt:lpstr>
      <vt:lpstr>Prueba 4</vt:lpstr>
      <vt:lpstr>Prueba 5</vt:lpstr>
      <vt:lpstr>Resultados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47</cp:revision>
  <dcterms:created xsi:type="dcterms:W3CDTF">2026-02-14T13:39:49Z</dcterms:created>
  <dcterms:modified xsi:type="dcterms:W3CDTF">2026-03-27T03:01:20Z</dcterms:modified>
</cp:coreProperties>
</file>