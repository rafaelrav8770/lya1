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8" r:id="rId4"/>
    <p:sldId id="284" r:id="rId5"/>
    <p:sldId id="297" r:id="rId6"/>
    <p:sldId id="302" r:id="rId7"/>
    <p:sldId id="303" r:id="rId8"/>
    <p:sldId id="305" r:id="rId9"/>
    <p:sldId id="306" r:id="rId10"/>
    <p:sldId id="283" r:id="rId11"/>
    <p:sldId id="260" r:id="rId12"/>
    <p:sldId id="30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faelrav8770/LYA1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" b="20603"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62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LENGUAJES Y AUTOMATAS 1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.3 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EJERCICIOS</a:t>
            </a:r>
            <a:r>
              <a:rPr lang="es-MX" dirty="0"/>
              <a:t>	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489075" y="6318878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29 DE MARZO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</a:pPr>
            <a:r>
              <a:rPr lang="es-MX" dirty="0"/>
              <a:t>Las Máquinas de Turing son un modelo fundamental en la teoría de la computación, ya que permiten representar y analizar el funcionamiento de los algoritmos mediante el procesamiento de símbolos. A través de la resolución de ejercicios, es posible comprender de manera práctica cómo estas máquinas reconocen lenguajes formales y cómo aplican sus reglas de transición.</a:t>
            </a:r>
          </a:p>
          <a:p>
            <a:pPr marL="0" indent="0" algn="just">
              <a:buNone/>
            </a:pPr>
            <a:r>
              <a:rPr lang="es-MX" dirty="0"/>
              <a:t>En esta actividad se desarrollan ejercicios que permiten reforzar el aprendizaje de las Máquinas de Turing, analizando su comportamiento, validando cadenas y comprendiendo su funcionamiento paso a paso.</a:t>
            </a:r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F6C57-A8B1-DC96-5869-560383E7A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906"/>
            <a:ext cx="10515600" cy="5310188"/>
          </a:xfrm>
        </p:spPr>
        <p:txBody>
          <a:bodyPr/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Objetivo</a:t>
            </a:r>
          </a:p>
          <a:p>
            <a:pPr marL="0" indent="0">
              <a:buNone/>
            </a:pPr>
            <a:r>
              <a:rPr lang="es-MX" dirty="0"/>
              <a:t>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Aplicar los conocimientos adquiridos sobre Máquinas de Turing mediante la resolución de ejercicios que permitan analizar su funcionamiento y la validación de cadenas.</a:t>
            </a:r>
          </a:p>
        </p:txBody>
      </p:sp>
    </p:spTree>
    <p:extLst>
      <p:ext uri="{BB962C8B-B14F-4D97-AF65-F5344CB8AC3E}">
        <p14:creationId xmlns:p14="http://schemas.microsoft.com/office/powerpoint/2010/main" val="49266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87F3-E956-FF4E-0894-6AC9DD0B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Justificación</a:t>
            </a:r>
            <a:br>
              <a:rPr lang="es-MX" b="1" dirty="0">
                <a:solidFill>
                  <a:schemeClr val="accent1"/>
                </a:solidFill>
              </a:rPr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67B60-E550-E60E-CEC2-2760C07C7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75"/>
            <a:ext cx="10515600" cy="500538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La realización de ejercicios prácticos es fundamental para reforzar la comprensión de las Máquinas de Turing, ya que permite aplicar la teoría en situaciones concretas. A través de estos ejercicios, el estudiante desarrolla habilidades de análisis lógico, comprensión de algoritmos y resolución de problemas.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Además, esta actividad permite consolidar el conocimiento sobre el reconocimiento de lenguajes formales, fortaleciendo las bases necesarias para el estudio de la computación.</a:t>
            </a:r>
          </a:p>
        </p:txBody>
      </p:sp>
    </p:spTree>
    <p:extLst>
      <p:ext uri="{BB962C8B-B14F-4D97-AF65-F5344CB8AC3E}">
        <p14:creationId xmlns:p14="http://schemas.microsoft.com/office/powerpoint/2010/main" val="409673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07D78-FBE1-5590-3476-19CC2F0D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79F149-F40A-7AA6-F9AA-1CC6037B6EDE}"/>
              </a:ext>
            </a:extLst>
          </p:cNvPr>
          <p:cNvSpPr txBox="1"/>
          <p:nvPr/>
        </p:nvSpPr>
        <p:spPr>
          <a:xfrm>
            <a:off x="7086600" y="232218"/>
            <a:ext cx="4267200" cy="604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Cadena evaluada: ab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>
              <a:lnSpc>
                <a:spcPct val="150000"/>
              </a:lnSpc>
            </a:pPr>
            <a:r>
              <a:rPr lang="es-MX" sz="2000" dirty="0"/>
              <a:t>Resultado: ACEPTADA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Explicación: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La Máquina de Turing procesó la cadena identificando un símbolo “a” seguido de un símbolo “b”, cumpliendo con la estructura aⁿbⁿ. 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Durante el proceso se realizaron las transiciones necesarias, validando correctamente la correspondencia entre los símbolos.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E248AD1-B45A-2A4C-D127-F197E186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7145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3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17D09-3030-E60E-9A65-73C8BECE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E8DE7-ED4E-25D9-D706-9194CE08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 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DD009C-E099-686E-EFA6-8C565CAC5E79}"/>
              </a:ext>
            </a:extLst>
          </p:cNvPr>
          <p:cNvSpPr txBox="1"/>
          <p:nvPr/>
        </p:nvSpPr>
        <p:spPr>
          <a:xfrm>
            <a:off x="7007386" y="175032"/>
            <a:ext cx="4590447" cy="604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2000" dirty="0"/>
              <a:t>Cadena evaluada: </a:t>
            </a:r>
            <a:r>
              <a:rPr lang="es-MX" sz="2000" dirty="0" err="1"/>
              <a:t>aabb</a:t>
            </a:r>
            <a:r>
              <a:rPr lang="es-MX" sz="2000" dirty="0"/>
              <a:t>  </a:t>
            </a:r>
          </a:p>
          <a:p>
            <a:pPr algn="just">
              <a:lnSpc>
                <a:spcPct val="150000"/>
              </a:lnSpc>
              <a:buNone/>
            </a:pPr>
            <a:endParaRPr lang="es-MX" sz="2000" dirty="0"/>
          </a:p>
          <a:p>
            <a:pPr algn="just">
              <a:lnSpc>
                <a:spcPct val="150000"/>
              </a:lnSpc>
              <a:buNone/>
            </a:pPr>
            <a:r>
              <a:rPr lang="es-MX" sz="2000" dirty="0"/>
              <a:t>Resultado:  ACEPTADA  </a:t>
            </a:r>
          </a:p>
          <a:p>
            <a:pPr algn="just">
              <a:lnSpc>
                <a:spcPct val="150000"/>
              </a:lnSpc>
              <a:buNone/>
            </a:pPr>
            <a:endParaRPr lang="es-MX" sz="2000" dirty="0"/>
          </a:p>
          <a:p>
            <a:pPr algn="just">
              <a:lnSpc>
                <a:spcPct val="150000"/>
              </a:lnSpc>
              <a:buNone/>
            </a:pPr>
            <a:r>
              <a:rPr lang="es-MX" sz="2000" dirty="0"/>
              <a:t>Explicación: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000" dirty="0"/>
              <a:t>La Máquina de Turing procesó la cadena realizando varias iteraciones de marcado, emparejando cada símbolo “a” con su correspondiente “b”. 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000" dirty="0"/>
              <a:t>Al finalizar el proceso, se comprobó que ambas cantidades son iguales y que el orden es correcto, cumpliendo con la estructura aⁿbⁿ.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FABFA1-474C-1653-21A3-B17A8528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5" y="1849299"/>
            <a:ext cx="5270339" cy="296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6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B47BF-D6D2-71DB-487D-D76C03D1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89766-9490-AEE0-D7AC-B76618D6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B060A6-5FEC-7333-25B9-5861957B978C}"/>
              </a:ext>
            </a:extLst>
          </p:cNvPr>
          <p:cNvSpPr txBox="1"/>
          <p:nvPr/>
        </p:nvSpPr>
        <p:spPr>
          <a:xfrm>
            <a:off x="6597571" y="729205"/>
            <a:ext cx="5058136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Cadena evaluada: </a:t>
            </a:r>
            <a:r>
              <a:rPr lang="es-MX" sz="2000" b="1" dirty="0" err="1"/>
              <a:t>aaabbb</a:t>
            </a:r>
            <a:r>
              <a:rPr lang="es-MX" sz="2000" b="1" dirty="0"/>
              <a:t>  </a:t>
            </a:r>
          </a:p>
          <a:p>
            <a:pPr algn="just">
              <a:lnSpc>
                <a:spcPct val="150000"/>
              </a:lnSpc>
            </a:pPr>
            <a:endParaRPr lang="es-MX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Resultado: ACEPTADA  </a:t>
            </a:r>
          </a:p>
          <a:p>
            <a:pPr algn="just">
              <a:lnSpc>
                <a:spcPct val="150000"/>
              </a:lnSpc>
            </a:pPr>
            <a:endParaRPr lang="es-MX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Explicación: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La Máquina de Turing procesó la cadena realizando varias iteraciones, emparejando cada símbolo “a” con su correspondiente “b”. 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Durante el proceso se aplicaron múltiples transiciones, verificando que la cantidad de símbolos es igual y que el orden es correcto, cumpliendo con la estructura aⁿbⁿ.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D6E4DE-796C-3EEC-6DB4-C61C67A0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389" y="1849299"/>
            <a:ext cx="4290350" cy="24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8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13B0A-02F7-0E8B-8DAD-CAD66C523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E7522-0B62-2114-3D6F-3EDF7C18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27C806-0F88-CB73-FD0A-E51EAEB3E23D}"/>
              </a:ext>
            </a:extLst>
          </p:cNvPr>
          <p:cNvSpPr txBox="1"/>
          <p:nvPr/>
        </p:nvSpPr>
        <p:spPr>
          <a:xfrm>
            <a:off x="7153275" y="867529"/>
            <a:ext cx="4200525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Cadena evaluada: </a:t>
            </a:r>
            <a:r>
              <a:rPr lang="es-MX" sz="2000" b="1" dirty="0" err="1"/>
              <a:t>abb</a:t>
            </a:r>
            <a:r>
              <a:rPr lang="es-MX" sz="2000" b="1" dirty="0"/>
              <a:t> </a:t>
            </a:r>
            <a:r>
              <a:rPr lang="es-MX" sz="2000" dirty="0"/>
              <a:t> 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>
              <a:lnSpc>
                <a:spcPct val="150000"/>
              </a:lnSpc>
            </a:pPr>
            <a:r>
              <a:rPr lang="es-MX" sz="2000" dirty="0"/>
              <a:t>Resultado:  RECHAZADA  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Explicación: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La Máquina de Turing procesó la cadena, detectando que existe un desbalance entre la cantidad de símbolos, ya que hay más “b” que “a”. 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Por lo tanto, no cumple con la estructura aⁿbⁿ.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CB3F40-616F-59A4-F0C8-40A960DDA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94" y="1996633"/>
            <a:ext cx="5092860" cy="286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2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54F7-F5D1-C775-0E14-CC2815C2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98CE1-302B-7270-5C73-F4A91F1A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5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BCF0E1-883B-A7FD-9C51-3AF1673EF1EA}"/>
              </a:ext>
            </a:extLst>
          </p:cNvPr>
          <p:cNvSpPr txBox="1"/>
          <p:nvPr/>
        </p:nvSpPr>
        <p:spPr>
          <a:xfrm>
            <a:off x="7007385" y="811321"/>
            <a:ext cx="4200525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dirty="0"/>
              <a:t>Cadena evaluada: </a:t>
            </a:r>
            <a:r>
              <a:rPr lang="es-MX" sz="2000" b="1" dirty="0" err="1"/>
              <a:t>aab</a:t>
            </a:r>
            <a:r>
              <a:rPr lang="es-MX" sz="2000" dirty="0"/>
              <a:t>  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>
              <a:lnSpc>
                <a:spcPct val="150000"/>
              </a:lnSpc>
            </a:pPr>
            <a:r>
              <a:rPr lang="es-MX" sz="2000" dirty="0"/>
              <a:t>Resultado:  RECHAZADA  </a:t>
            </a:r>
          </a:p>
          <a:p>
            <a:pPr>
              <a:lnSpc>
                <a:spcPct val="150000"/>
              </a:lnSpc>
            </a:pPr>
            <a:endParaRPr lang="es-MX" sz="2000" dirty="0"/>
          </a:p>
          <a:p>
            <a:pPr algn="just">
              <a:lnSpc>
                <a:spcPct val="150000"/>
              </a:lnSpc>
            </a:pPr>
            <a:r>
              <a:rPr lang="es-MX" sz="2000" dirty="0"/>
              <a:t>Explicación: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La Máquina de Turing procesó la cadena y detectó que no existe correspondencia entre la cantidad de símbolos “a” y “b”, ya que falta un símbolo “b” para completar el patrón. </a:t>
            </a:r>
          </a:p>
          <a:p>
            <a:pPr algn="just">
              <a:lnSpc>
                <a:spcPct val="150000"/>
              </a:lnSpc>
            </a:pPr>
            <a:r>
              <a:rPr lang="es-MX" sz="2000" dirty="0"/>
              <a:t>Por lo tanto, la cadena no cumple con la estructura aⁿbⁿ.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95C814-F2A5-F4A9-3416-D560E9DD8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36" y="2124597"/>
            <a:ext cx="5258765" cy="29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62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A5667-C912-4A4B-2B2B-C6DF75F0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Resultados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D065E4C1-493A-49A6-AB51-79B1CFC42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La ejecución de los ejercicios en la aplicación desarrollada en </a:t>
            </a:r>
            <a:r>
              <a:rPr lang="es-MX" dirty="0" err="1"/>
              <a:t>JavaFX</a:t>
            </a:r>
            <a:r>
              <a:rPr lang="es-MX" dirty="0"/>
              <a:t> permitió comprobar que la Máquina de Turing reconoce correctamente las cadenas que cumplen con la estructura aⁿbⁿ y rechaza aquellas que no cumplen con dicha condición. Además, se pudo observar el proceso paso a paso, lo que facilita la comprensión del funcionamiento del modelo.</a:t>
            </a:r>
          </a:p>
        </p:txBody>
      </p:sp>
    </p:spTree>
    <p:extLst>
      <p:ext uri="{BB962C8B-B14F-4D97-AF65-F5344CB8AC3E}">
        <p14:creationId xmlns:p14="http://schemas.microsoft.com/office/powerpoint/2010/main" val="143751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7778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3201EC2-BD88-ECE2-198A-BFA1D2DF13EB}"/>
              </a:ext>
            </a:extLst>
          </p:cNvPr>
          <p:cNvSpPr txBox="1"/>
          <p:nvPr/>
        </p:nvSpPr>
        <p:spPr>
          <a:xfrm>
            <a:off x="733425" y="1338082"/>
            <a:ext cx="1030605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2800" dirty="0"/>
              <a:t>La realización de los ejercicios mediante una simulación en </a:t>
            </a:r>
            <a:r>
              <a:rPr lang="es-MX" sz="2800" dirty="0" err="1"/>
              <a:t>JavaFX</a:t>
            </a:r>
            <a:r>
              <a:rPr lang="es-MX" sz="2800" dirty="0"/>
              <a:t> permitió comprender de manera práctica el funcionamiento de las Máquinas de Turing. A través de la ejecución de diferentes cadenas, se observó cómo la máquina procesa la información y determina si una cadena es válida o no.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800" dirty="0"/>
              <a:t>el uso de herramientas de programación facilita el aprendizaje de conceptos teóricos, permitiendo visualizar de forma clara el comportamiento de los modelos computacionales.</a:t>
            </a:r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4FE77-291F-6D16-F325-E56C3DDE4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2174"/>
            <a:ext cx="10515600" cy="510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/>
              </a:rPr>
              <a:t>Fuente De Informacion</a:t>
            </a:r>
            <a:endParaRPr lang="es-MX" sz="4400" b="1" dirty="0">
              <a:solidFill>
                <a:schemeClr val="accent1"/>
              </a:solidFill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LYA1 – Lenguajes y Autómatas I. Repositorio en GitHub.</a:t>
            </a:r>
            <a:br>
              <a:rPr lang="es-MX" dirty="0"/>
            </a:b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https://github.com/rafaelrav8770/LYA1.git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2151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</TotalTime>
  <Words>704</Words>
  <Application>Microsoft Office PowerPoint</Application>
  <PresentationFormat>Panorámica</PresentationFormat>
  <Paragraphs>76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Justificación </vt:lpstr>
      <vt:lpstr>Ejercicio 1</vt:lpstr>
      <vt:lpstr>Ejercicio  2</vt:lpstr>
      <vt:lpstr>Ejercicio  3</vt:lpstr>
      <vt:lpstr>Ejercicio 4</vt:lpstr>
      <vt:lpstr>Ejercicio 5</vt:lpstr>
      <vt:lpstr>Resultados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44</cp:revision>
  <dcterms:created xsi:type="dcterms:W3CDTF">2026-02-14T13:39:49Z</dcterms:created>
  <dcterms:modified xsi:type="dcterms:W3CDTF">2026-03-27T03:01:44Z</dcterms:modified>
</cp:coreProperties>
</file>