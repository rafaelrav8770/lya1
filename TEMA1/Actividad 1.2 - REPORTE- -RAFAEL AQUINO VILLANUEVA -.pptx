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3" r:id="rId3"/>
    <p:sldId id="258" r:id="rId4"/>
    <p:sldId id="259" r:id="rId5"/>
    <p:sldId id="261" r:id="rId6"/>
    <p:sldId id="262" r:id="rId7"/>
    <p:sldId id="265" r:id="rId8"/>
    <p:sldId id="266" r:id="rId9"/>
    <p:sldId id="260" r:id="rId10"/>
    <p:sldId id="264"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14/02/2026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1.2 -REPORTE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31</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a:t>
            </a:r>
            <a:r>
              <a:rPr lang="es-MX" sz="2000" b="1" kern="0">
                <a:effectLst/>
                <a:latin typeface="Arial" panose="020B0604020202020204" pitchFamily="34" charset="0"/>
                <a:ea typeface="Times New Roman" panose="02020603050405020304" pitchFamily="18" charset="0"/>
                <a:cs typeface="Arial" panose="020B0604020202020204" pitchFamily="34" charset="0"/>
              </a:rPr>
              <a:t>DE ENERO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2000" b="1" kern="0" dirty="0">
                <a:solidFill>
                  <a:schemeClr val="accent1"/>
                </a:solidFill>
                <a:latin typeface="Arial" panose="020B0604020202020204" pitchFamily="34" charset="0"/>
                <a:cs typeface="Arial" panose="020B0604020202020204" pitchFamily="34" charset="0"/>
              </a:rPr>
              <a:t>Introducción</a:t>
            </a:r>
          </a:p>
          <a:p>
            <a:pPr marL="0" indent="0">
              <a:buNone/>
            </a:pPr>
            <a:endParaRPr lang="es-MX" dirty="0"/>
          </a:p>
          <a:p>
            <a:pPr marL="0" indent="0">
              <a:buNone/>
            </a:pPr>
            <a:r>
              <a:rPr lang="es-MX" dirty="0"/>
              <a:t>La </a:t>
            </a:r>
            <a:r>
              <a:rPr lang="es-MX" dirty="0" err="1"/>
              <a:t>teoria</a:t>
            </a:r>
            <a:r>
              <a:rPr lang="es-MX" dirty="0"/>
              <a:t> de lenguajes formales constituye una bace en la ciencia de la </a:t>
            </a:r>
            <a:r>
              <a:rPr lang="es-MX" dirty="0" err="1"/>
              <a:t>computacion</a:t>
            </a:r>
            <a:r>
              <a:rPr lang="es-MX" dirty="0"/>
              <a:t>, ya que permite describir de manera </a:t>
            </a:r>
            <a:r>
              <a:rPr lang="es-MX" dirty="0" err="1"/>
              <a:t>matematica</a:t>
            </a:r>
            <a:r>
              <a:rPr lang="es-MX" dirty="0"/>
              <a:t> los sistemas de procesamiento de </a:t>
            </a:r>
            <a:r>
              <a:rPr lang="es-MX" dirty="0" err="1"/>
              <a:t>informacion</a:t>
            </a:r>
            <a:r>
              <a:rPr lang="es-MX" dirty="0"/>
              <a:t>. Conceptos como alfabeto, cadena y lenguaje son esenciales para comprender el funcionamiento de compiladores, analizadores </a:t>
            </a:r>
            <a:r>
              <a:rPr lang="es-MX" dirty="0" err="1"/>
              <a:t>lexicos</a:t>
            </a:r>
            <a:r>
              <a:rPr lang="es-MX" dirty="0"/>
              <a:t> y modelos de computo como los </a:t>
            </a:r>
            <a:r>
              <a:rPr lang="es-MX" dirty="0" err="1"/>
              <a:t>automatas</a:t>
            </a:r>
            <a:r>
              <a:rPr lang="es-MX" dirty="0"/>
              <a:t> finitos y las maquinas de Turing.</a:t>
            </a:r>
          </a:p>
          <a:p>
            <a:pPr marL="0" indent="0">
              <a:buNone/>
            </a:pPr>
            <a:r>
              <a:rPr lang="es-MX" dirty="0"/>
              <a:t>Los lenguajes formales permite analizar como se combinan conjuntos de cadenas mediante procesos formales como la </a:t>
            </a:r>
            <a:r>
              <a:rPr lang="es-MX" dirty="0" err="1"/>
              <a:t>union</a:t>
            </a:r>
            <a:r>
              <a:rPr lang="es-MX" dirty="0"/>
              <a:t>, </a:t>
            </a:r>
            <a:r>
              <a:rPr lang="es-MX" dirty="0" err="1"/>
              <a:t>concatenacion</a:t>
            </a:r>
            <a:r>
              <a:rPr lang="es-MX" dirty="0"/>
              <a:t> y cerradura de Kleene. </a:t>
            </a:r>
          </a:p>
          <a:p>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b="1" dirty="0">
                <a:solidFill>
                  <a:schemeClr val="accent1"/>
                </a:solidFill>
              </a:rPr>
              <a:t>Objetivo</a:t>
            </a:r>
          </a:p>
          <a:p>
            <a:pPr marL="0" indent="0">
              <a:buNone/>
            </a:pPr>
            <a:r>
              <a:rPr lang="es-MX" dirty="0"/>
              <a:t> </a:t>
            </a:r>
          </a:p>
          <a:p>
            <a:r>
              <a:rPr lang="es-MX" dirty="0"/>
              <a:t>Identificar y aplicar correctamente los conceptos fundamentales de alfabeto, cadena y lenguaje formal, así como realizar operaciones básicas entre lenguajes formales tales como unión, concatenación y cerradura de Kleene.</a:t>
            </a:r>
          </a:p>
          <a:p>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E469B54-451A-A53E-BED8-A43706F6FA16}"/>
              </a:ext>
            </a:extLst>
          </p:cNvPr>
          <p:cNvSpPr>
            <a:spLocks noGrp="1"/>
          </p:cNvSpPr>
          <p:nvPr>
            <p:ph idx="1"/>
          </p:nvPr>
        </p:nvSpPr>
        <p:spPr>
          <a:xfrm>
            <a:off x="838200" y="590550"/>
            <a:ext cx="10515600" cy="5586413"/>
          </a:xfrm>
        </p:spPr>
        <p:txBody>
          <a:bodyPr>
            <a:normAutofit fontScale="77500" lnSpcReduction="20000"/>
          </a:bodyPr>
          <a:lstStyle/>
          <a:p>
            <a:pPr marL="0" indent="0">
              <a:buNone/>
            </a:pPr>
            <a:r>
              <a:rPr lang="es-MX" b="1" dirty="0">
                <a:solidFill>
                  <a:schemeClr val="accent1"/>
                </a:solidFill>
              </a:rPr>
              <a:t>Marco </a:t>
            </a:r>
            <a:r>
              <a:rPr lang="es-MX" b="1" dirty="0" err="1">
                <a:solidFill>
                  <a:schemeClr val="accent1"/>
                </a:solidFill>
              </a:rPr>
              <a:t>Teorico</a:t>
            </a:r>
            <a:endParaRPr lang="es-MX" b="1" dirty="0">
              <a:solidFill>
                <a:schemeClr val="accent1"/>
              </a:solidFill>
            </a:endParaRPr>
          </a:p>
          <a:p>
            <a:pPr marL="0" indent="0">
              <a:buNone/>
            </a:pPr>
            <a:r>
              <a:rPr lang="es-MX" dirty="0"/>
              <a:t> </a:t>
            </a:r>
          </a:p>
          <a:p>
            <a:pPr algn="just"/>
            <a:r>
              <a:rPr lang="es-MX" dirty="0"/>
              <a:t>Un alfabeto (Σ) es un conjunto finito y no vacío de símbolos. Estos símbolos constituyen los elementos básicos para la construcción de cadenas.</a:t>
            </a:r>
          </a:p>
          <a:p>
            <a:pPr algn="just"/>
            <a:r>
              <a:rPr lang="es-MX" dirty="0"/>
              <a:t>Una cadena es una secuencia finita de símbolos pertenecientes a un alfabeto. La longitud de una cadena se define como el número de símbolos que la componen. La cadena vacía se representa mediante el símbolo ε y su longitud es cero.</a:t>
            </a:r>
          </a:p>
          <a:p>
            <a:pPr algn="just"/>
            <a:r>
              <a:rPr lang="es-MX" dirty="0"/>
              <a:t>Un lenguaje formal es un conjunto de cadenas definidas sobre un alfabeto determinado. Matemáticamente, un lenguaje es un subconjunto de Σ*, donde Σ* representa el conjunto de todas las cadenas posibles (incluyendo la cadena vacía) que pueden formarse con los símbolos del alfabeto.</a:t>
            </a:r>
          </a:p>
          <a:p>
            <a:pPr marL="0" indent="0">
              <a:buNone/>
            </a:pPr>
            <a:r>
              <a:rPr lang="es-MX" dirty="0"/>
              <a:t> </a:t>
            </a:r>
          </a:p>
          <a:p>
            <a:pPr algn="just"/>
            <a:r>
              <a:rPr lang="es-MX" dirty="0"/>
              <a:t>Las operaciones principales son:</a:t>
            </a:r>
          </a:p>
          <a:p>
            <a:pPr marL="0" lvl="0" indent="0" algn="just">
              <a:buNone/>
            </a:pPr>
            <a:r>
              <a:rPr lang="es-MX" dirty="0"/>
              <a:t>-Unión (L₁ ∪ L₂): conjunto que contiene todas las cadenas que pertenecen a L₁ o a L₂.</a:t>
            </a:r>
          </a:p>
          <a:p>
            <a:pPr marL="0" lvl="0" indent="0" algn="just">
              <a:buNone/>
            </a:pPr>
            <a:r>
              <a:rPr lang="es-MX" dirty="0"/>
              <a:t>-Concatenación (L₁L₂): conjunto formado por todas las cadenas que resultan de concatenar una cadena de L₁ con una cadena de L₂.</a:t>
            </a:r>
          </a:p>
          <a:p>
            <a:pPr marL="0" lvl="0" indent="0" algn="just">
              <a:buNone/>
            </a:pPr>
            <a:r>
              <a:rPr lang="es-MX" dirty="0"/>
              <a:t>-Cerradura de Kleene (L):* conjunto formado por la concatenación de cero o más cadenas de L.</a:t>
            </a:r>
          </a:p>
          <a:p>
            <a:endParaRPr lang="es-MX" dirty="0"/>
          </a:p>
        </p:txBody>
      </p:sp>
    </p:spTree>
    <p:extLst>
      <p:ext uri="{BB962C8B-B14F-4D97-AF65-F5344CB8AC3E}">
        <p14:creationId xmlns:p14="http://schemas.microsoft.com/office/powerpoint/2010/main" val="2664243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43D122B-328D-FC0B-90CC-E652FA1FA208}"/>
              </a:ext>
            </a:extLst>
          </p:cNvPr>
          <p:cNvSpPr>
            <a:spLocks noGrp="1"/>
          </p:cNvSpPr>
          <p:nvPr>
            <p:ph idx="1"/>
          </p:nvPr>
        </p:nvSpPr>
        <p:spPr>
          <a:xfrm>
            <a:off x="838200" y="466725"/>
            <a:ext cx="10515600" cy="5710238"/>
          </a:xfrm>
        </p:spPr>
        <p:txBody>
          <a:bodyPr>
            <a:normAutofit fontScale="85000" lnSpcReduction="20000"/>
          </a:bodyPr>
          <a:lstStyle/>
          <a:p>
            <a:pPr marL="0" indent="0">
              <a:buNone/>
            </a:pPr>
            <a:r>
              <a:rPr lang="es-MX" b="1" dirty="0">
                <a:solidFill>
                  <a:schemeClr val="accent1"/>
                </a:solidFill>
              </a:rPr>
              <a:t>Desarrollo de la práctica</a:t>
            </a:r>
          </a:p>
          <a:p>
            <a:r>
              <a:rPr lang="es-MX" b="1" dirty="0"/>
              <a:t> Alfabeto</a:t>
            </a:r>
          </a:p>
          <a:p>
            <a:pPr marL="0" indent="0">
              <a:buNone/>
            </a:pPr>
            <a:r>
              <a:rPr lang="es-MX" dirty="0"/>
              <a:t>Un alfabeto es un conjunto de símbolos finito y no vacío. Convencionalmente se utiliza el símbolo Σ para designarlo. Entre los alfabetos más comunes se encuentran:</a:t>
            </a:r>
          </a:p>
          <a:p>
            <a:pPr marL="0" indent="0">
              <a:buNone/>
            </a:pPr>
            <a:r>
              <a:rPr lang="es-MX" dirty="0"/>
              <a:t>Σ = {0,1}, el alfabeto binario.</a:t>
            </a:r>
          </a:p>
          <a:p>
            <a:pPr marL="0" indent="0">
              <a:buNone/>
            </a:pPr>
            <a:r>
              <a:rPr lang="es-MX" dirty="0"/>
              <a:t>Σ = {</a:t>
            </a:r>
            <a:r>
              <a:rPr lang="es-MX" dirty="0" err="1"/>
              <a:t>a,b</a:t>
            </a:r>
            <a:r>
              <a:rPr lang="es-MX" dirty="0"/>
              <a:t>,…,z}, el conjunto de letras minúsculas.</a:t>
            </a:r>
          </a:p>
          <a:p>
            <a:pPr marL="0" indent="0">
              <a:buNone/>
            </a:pPr>
            <a:r>
              <a:rPr lang="es-MX" dirty="0"/>
              <a:t>El conjunto de caracteres ASCII o ASCII imprimibles.</a:t>
            </a:r>
          </a:p>
          <a:p>
            <a:r>
              <a:rPr lang="es-MX" b="1" dirty="0"/>
              <a:t>cadenas</a:t>
            </a:r>
          </a:p>
          <a:p>
            <a:pPr marL="0" indent="0">
              <a:buNone/>
            </a:pPr>
            <a:r>
              <a:rPr lang="es-MX" dirty="0"/>
              <a:t>una cadena es una secuencia finita de símbolos pertenecientes a un alfabeto.</a:t>
            </a:r>
          </a:p>
          <a:p>
            <a:pPr marL="0" indent="0">
              <a:buNone/>
            </a:pPr>
            <a:r>
              <a:rPr lang="es-MX" dirty="0"/>
              <a:t>La cadena vacía se representa como ε y su longitud es 0.</a:t>
            </a:r>
          </a:p>
          <a:p>
            <a:pPr marL="0" indent="0">
              <a:buNone/>
            </a:pPr>
            <a:r>
              <a:rPr lang="es-MX" dirty="0"/>
              <a:t>Si w es una cadena, su longitud se denota como |w|.</a:t>
            </a:r>
          </a:p>
          <a:p>
            <a:r>
              <a:rPr lang="es-MX" b="1" dirty="0"/>
              <a:t>lenguajes</a:t>
            </a:r>
          </a:p>
          <a:p>
            <a:pPr marL="0" indent="0">
              <a:buNone/>
            </a:pPr>
            <a:r>
              <a:rPr lang="es-MX" dirty="0"/>
              <a:t>Un lenguaje es un conjunto de cadenas definidas sobre un alfabeto determinado.</a:t>
            </a:r>
          </a:p>
          <a:p>
            <a:pPr marL="0" indent="0">
              <a:buNone/>
            </a:pPr>
            <a:r>
              <a:rPr lang="es-MX" dirty="0"/>
              <a:t>Formalmente, un lenguaje es un subconjunto de Σ*.</a:t>
            </a:r>
          </a:p>
          <a:p>
            <a:endParaRPr lang="es-MX" dirty="0"/>
          </a:p>
        </p:txBody>
      </p:sp>
    </p:spTree>
    <p:extLst>
      <p:ext uri="{BB962C8B-B14F-4D97-AF65-F5344CB8AC3E}">
        <p14:creationId xmlns:p14="http://schemas.microsoft.com/office/powerpoint/2010/main" val="1446976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3EEC4F-F53C-F3DD-3E1E-CA3FC4099534}"/>
              </a:ext>
            </a:extLst>
          </p:cNvPr>
          <p:cNvSpPr>
            <a:spLocks noGrp="1"/>
          </p:cNvSpPr>
          <p:nvPr>
            <p:ph type="title"/>
          </p:nvPr>
        </p:nvSpPr>
        <p:spPr/>
        <p:txBody>
          <a:bodyPr/>
          <a:lstStyle/>
          <a:p>
            <a:r>
              <a:rPr lang="es-MX" b="1" dirty="0">
                <a:solidFill>
                  <a:schemeClr val="accent1"/>
                </a:solidFill>
              </a:rPr>
              <a:t>Ejercicio</a:t>
            </a:r>
            <a:endParaRPr lang="es-MX" dirty="0">
              <a:solidFill>
                <a:schemeClr val="accent1"/>
              </a:solidFill>
            </a:endParaRPr>
          </a:p>
        </p:txBody>
      </p:sp>
      <p:pic>
        <p:nvPicPr>
          <p:cNvPr id="4" name="Marcador de contenido 3">
            <a:extLst>
              <a:ext uri="{FF2B5EF4-FFF2-40B4-BE49-F238E27FC236}">
                <a16:creationId xmlns:a16="http://schemas.microsoft.com/office/drawing/2014/main" id="{79C570E2-415E-9740-F134-9EF8C7E64BBB}"/>
              </a:ext>
            </a:extLst>
          </p:cNvPr>
          <p:cNvPicPr>
            <a:picLocks noGrp="1" noChangeAspect="1"/>
          </p:cNvPicPr>
          <p:nvPr>
            <p:ph idx="1"/>
          </p:nvPr>
        </p:nvPicPr>
        <p:blipFill>
          <a:blip r:embed="rId2"/>
          <a:stretch>
            <a:fillRect/>
          </a:stretch>
        </p:blipFill>
        <p:spPr>
          <a:xfrm>
            <a:off x="838200" y="1568450"/>
            <a:ext cx="4691666" cy="4351338"/>
          </a:xfrm>
          <a:prstGeom prst="rect">
            <a:avLst/>
          </a:prstGeom>
        </p:spPr>
      </p:pic>
      <p:pic>
        <p:nvPicPr>
          <p:cNvPr id="5" name="Imagen 4">
            <a:extLst>
              <a:ext uri="{FF2B5EF4-FFF2-40B4-BE49-F238E27FC236}">
                <a16:creationId xmlns:a16="http://schemas.microsoft.com/office/drawing/2014/main" id="{ED3DE298-AAE9-D10C-A8CC-9846DDF04CE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8096"/>
          <a:stretch>
            <a:fillRect/>
          </a:stretch>
        </p:blipFill>
        <p:spPr bwMode="auto">
          <a:xfrm>
            <a:off x="5947410" y="1568450"/>
            <a:ext cx="5612130" cy="29870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48511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D0B14-EFAF-1780-F5CE-53781F1603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3FFCFD-6B0F-A282-C1C6-68259B97967F}"/>
              </a:ext>
            </a:extLst>
          </p:cNvPr>
          <p:cNvSpPr>
            <a:spLocks noGrp="1"/>
          </p:cNvSpPr>
          <p:nvPr>
            <p:ph type="title"/>
          </p:nvPr>
        </p:nvSpPr>
        <p:spPr/>
        <p:txBody>
          <a:bodyPr/>
          <a:lstStyle/>
          <a:p>
            <a:r>
              <a:rPr lang="es-MX" b="1" dirty="0">
                <a:solidFill>
                  <a:schemeClr val="accent1"/>
                </a:solidFill>
              </a:rPr>
              <a:t>Ejercicio</a:t>
            </a:r>
            <a:endParaRPr lang="es-MX" dirty="0">
              <a:solidFill>
                <a:schemeClr val="accent1"/>
              </a:solidFill>
            </a:endParaRPr>
          </a:p>
        </p:txBody>
      </p:sp>
      <p:pic>
        <p:nvPicPr>
          <p:cNvPr id="8" name="Marcador de contenido 7">
            <a:extLst>
              <a:ext uri="{FF2B5EF4-FFF2-40B4-BE49-F238E27FC236}">
                <a16:creationId xmlns:a16="http://schemas.microsoft.com/office/drawing/2014/main" id="{89230564-D921-2289-04AB-8A73993F4590}"/>
              </a:ext>
            </a:extLst>
          </p:cNvPr>
          <p:cNvPicPr>
            <a:picLocks noGrp="1" noChangeAspect="1"/>
          </p:cNvPicPr>
          <p:nvPr>
            <p:ph idx="1"/>
          </p:nvPr>
        </p:nvPicPr>
        <p:blipFill>
          <a:blip r:embed="rId2"/>
          <a:stretch>
            <a:fillRect/>
          </a:stretch>
        </p:blipFill>
        <p:spPr>
          <a:xfrm>
            <a:off x="483497" y="1842362"/>
            <a:ext cx="8596105" cy="2103302"/>
          </a:xfrm>
          <a:prstGeom prst="rect">
            <a:avLst/>
          </a:prstGeom>
        </p:spPr>
      </p:pic>
      <p:pic>
        <p:nvPicPr>
          <p:cNvPr id="11" name="Imagen 10">
            <a:extLst>
              <a:ext uri="{FF2B5EF4-FFF2-40B4-BE49-F238E27FC236}">
                <a16:creationId xmlns:a16="http://schemas.microsoft.com/office/drawing/2014/main" id="{0FD22277-3B5F-AD29-8C22-7717413B308B}"/>
              </a:ext>
            </a:extLst>
          </p:cNvPr>
          <p:cNvPicPr>
            <a:picLocks noChangeAspect="1"/>
          </p:cNvPicPr>
          <p:nvPr/>
        </p:nvPicPr>
        <p:blipFill>
          <a:blip r:embed="rId3"/>
          <a:srcRect t="15278" b="45277"/>
          <a:stretch>
            <a:fillRect/>
          </a:stretch>
        </p:blipFill>
        <p:spPr>
          <a:xfrm>
            <a:off x="5641540" y="3945664"/>
            <a:ext cx="5252319" cy="2705100"/>
          </a:xfrm>
          <a:prstGeom prst="rect">
            <a:avLst/>
          </a:prstGeom>
        </p:spPr>
      </p:pic>
    </p:spTree>
    <p:extLst>
      <p:ext uri="{BB962C8B-B14F-4D97-AF65-F5344CB8AC3E}">
        <p14:creationId xmlns:p14="http://schemas.microsoft.com/office/powerpoint/2010/main" val="1300282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5E4CB-BD34-9929-0186-BB20197100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425E20-0A8A-C037-9618-D5981EAB4E3F}"/>
              </a:ext>
            </a:extLst>
          </p:cNvPr>
          <p:cNvSpPr>
            <a:spLocks noGrp="1"/>
          </p:cNvSpPr>
          <p:nvPr>
            <p:ph type="title"/>
          </p:nvPr>
        </p:nvSpPr>
        <p:spPr/>
        <p:txBody>
          <a:bodyPr/>
          <a:lstStyle/>
          <a:p>
            <a:r>
              <a:rPr lang="es-MX" b="1" dirty="0">
                <a:solidFill>
                  <a:schemeClr val="accent1"/>
                </a:solidFill>
              </a:rPr>
              <a:t>Ejercicio</a:t>
            </a:r>
            <a:endParaRPr lang="es-MX" dirty="0">
              <a:solidFill>
                <a:schemeClr val="accent1"/>
              </a:solidFill>
            </a:endParaRPr>
          </a:p>
        </p:txBody>
      </p:sp>
      <p:pic>
        <p:nvPicPr>
          <p:cNvPr id="7" name="Marcador de contenido 6">
            <a:extLst>
              <a:ext uri="{FF2B5EF4-FFF2-40B4-BE49-F238E27FC236}">
                <a16:creationId xmlns:a16="http://schemas.microsoft.com/office/drawing/2014/main" id="{51CB018B-4348-DFC7-35DD-4C64109F980A}"/>
              </a:ext>
            </a:extLst>
          </p:cNvPr>
          <p:cNvPicPr>
            <a:picLocks noGrp="1" noChangeAspect="1"/>
          </p:cNvPicPr>
          <p:nvPr>
            <p:ph idx="1"/>
          </p:nvPr>
        </p:nvPicPr>
        <p:blipFill>
          <a:blip r:embed="rId2"/>
          <a:stretch>
            <a:fillRect/>
          </a:stretch>
        </p:blipFill>
        <p:spPr>
          <a:xfrm>
            <a:off x="597796" y="1402274"/>
            <a:ext cx="8634208" cy="3238781"/>
          </a:xfrm>
          <a:prstGeom prst="rect">
            <a:avLst/>
          </a:prstGeom>
        </p:spPr>
      </p:pic>
      <p:pic>
        <p:nvPicPr>
          <p:cNvPr id="5" name="Imagen 4">
            <a:extLst>
              <a:ext uri="{FF2B5EF4-FFF2-40B4-BE49-F238E27FC236}">
                <a16:creationId xmlns:a16="http://schemas.microsoft.com/office/drawing/2014/main" id="{4A4FB105-87D4-E7DA-99CB-33B75FCFAFA4}"/>
              </a:ext>
            </a:extLst>
          </p:cNvPr>
          <p:cNvPicPr>
            <a:picLocks noChangeAspect="1"/>
          </p:cNvPicPr>
          <p:nvPr/>
        </p:nvPicPr>
        <p:blipFill>
          <a:blip r:embed="rId3"/>
          <a:srcRect l="1" t="11028" r="40558" b="43406"/>
          <a:stretch>
            <a:fillRect/>
          </a:stretch>
        </p:blipFill>
        <p:spPr>
          <a:xfrm>
            <a:off x="9131992" y="1758552"/>
            <a:ext cx="2879033" cy="2814639"/>
          </a:xfrm>
          <a:prstGeom prst="rect">
            <a:avLst/>
          </a:prstGeom>
        </p:spPr>
      </p:pic>
    </p:spTree>
    <p:extLst>
      <p:ext uri="{BB962C8B-B14F-4D97-AF65-F5344CB8AC3E}">
        <p14:creationId xmlns:p14="http://schemas.microsoft.com/office/powerpoint/2010/main" val="1118298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p:txBody>
          <a:bodyPr/>
          <a:lstStyle/>
          <a:p>
            <a:pPr marL="0" indent="0">
              <a:buNone/>
            </a:pPr>
            <a:r>
              <a:rPr lang="es-MX" b="1" dirty="0">
                <a:solidFill>
                  <a:schemeClr val="accent1"/>
                </a:solidFill>
              </a:rPr>
              <a:t>Conclusión</a:t>
            </a:r>
          </a:p>
          <a:p>
            <a:pPr marL="0" indent="0">
              <a:buNone/>
            </a:pPr>
            <a:endParaRPr lang="es-MX" dirty="0"/>
          </a:p>
          <a:p>
            <a:pPr marL="0" indent="0" algn="just">
              <a:buNone/>
            </a:pPr>
            <a:r>
              <a:rPr lang="es-MX" dirty="0"/>
              <a:t>los conceptos de la teoría de lenguajes formales mediante la aplicación directa de sus definiciones matemáticas. Se confirma que las operaciones sobre lenguajes no solo amplían el conjunto de cadenas posibles, sino que también constituyen la base para el desarrollo de herramientas formales como expresiones regulares y autómatas.</a:t>
            </a:r>
          </a:p>
          <a:p>
            <a:pPr marL="0" indent="0">
              <a:buNone/>
            </a:pPr>
            <a:endParaRPr lang="es-MX" dirty="0"/>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p:txBody>
          <a:bodyPr/>
          <a:lstStyle/>
          <a:p>
            <a:pPr marL="0" indent="0">
              <a:buNone/>
            </a:pPr>
            <a:r>
              <a:rPr lang="en-US" b="1" dirty="0"/>
              <a:t>Fuente De Informacion</a:t>
            </a:r>
            <a:endParaRPr lang="es-MX" b="1" dirty="0"/>
          </a:p>
          <a:p>
            <a:pPr marL="0" indent="0">
              <a:buNone/>
            </a:pPr>
            <a:endParaRPr lang="es-MX" dirty="0"/>
          </a:p>
          <a:p>
            <a:pPr lvl="0"/>
            <a:r>
              <a:rPr lang="es-MX" dirty="0" err="1"/>
              <a:t>Hopcroft</a:t>
            </a:r>
            <a:r>
              <a:rPr lang="es-MX" dirty="0"/>
              <a:t>, J. E., </a:t>
            </a:r>
            <a:r>
              <a:rPr lang="es-MX" dirty="0" err="1"/>
              <a:t>Motwani</a:t>
            </a:r>
            <a:r>
              <a:rPr lang="es-MX" dirty="0"/>
              <a:t>, R., &amp; Ullman, J. D.. </a:t>
            </a:r>
            <a:r>
              <a:rPr lang="es-MX" i="1" dirty="0"/>
              <a:t>Introducción a la teoría de autómatas, lenguajes y computación</a:t>
            </a:r>
            <a:r>
              <a:rPr lang="es-MX" dirty="0"/>
              <a:t> (</a:t>
            </a:r>
            <a:r>
              <a:rPr lang="es-MX" dirty="0" err="1"/>
              <a:t>pdf</a:t>
            </a:r>
            <a:r>
              <a:rPr lang="es-MX" dirty="0"/>
              <a:t>). </a:t>
            </a:r>
          </a:p>
          <a:p>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600</Words>
  <Application>Microsoft Office PowerPoint</Application>
  <PresentationFormat>Panorámica</PresentationFormat>
  <Paragraphs>58</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Ejercicio</vt:lpstr>
      <vt:lpstr>Ejercicio</vt:lpstr>
      <vt:lpstr>Ejercicio</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5</cp:revision>
  <dcterms:created xsi:type="dcterms:W3CDTF">2026-02-14T13:39:49Z</dcterms:created>
  <dcterms:modified xsi:type="dcterms:W3CDTF">2026-02-14T21:46:59Z</dcterms:modified>
</cp:coreProperties>
</file>